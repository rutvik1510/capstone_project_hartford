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onsolas" panose="020B0609020204030204" pitchFamily="49" charset="0"/>
      <p:regular r:id="rId14"/>
      <p:bold r:id="rId15"/>
      <p:italic r:id="rId16"/>
      <p:boldItalic r:id="rId17"/>
    </p:embeddedFont>
    <p:embeddedFont>
      <p:font typeface="Lora" pitchFamily="2" charset="77"/>
      <p:regular r:id="rId18"/>
      <p:bold r:id="rId19"/>
      <p:italic r:id="rId20"/>
      <p:boldItalic r:id="rId21"/>
    </p:embeddedFont>
    <p:embeddedFont>
      <p:font typeface="Lora Bold" pitchFamily="2" charset="77"/>
      <p:regular r:id="rId22"/>
      <p:bold r:id="rId23"/>
    </p:embeddedFont>
    <p:embeddedFont>
      <p:font typeface="Source Sans 3" panose="020B0303030403020204" pitchFamily="34" charset="0"/>
      <p:regular r:id="rId24"/>
    </p:embeddedFont>
    <p:embeddedFont>
      <p:font typeface="Source Sans 3 Bold" panose="020B0303030403020204" pitchFamily="34" charset="0"/>
      <p:regular r:id="rId25"/>
      <p:bold r:id="rId26"/>
    </p:embeddedFont>
    <p:embeddedFont>
      <p:font typeface="Source Sans 3 Italics" panose="020B0303030403090204" pitchFamily="34" charset="0"/>
      <p:regular r:id="rId27"/>
      <p: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26" autoAdjust="0"/>
  </p:normalViewPr>
  <p:slideViewPr>
    <p:cSldViewPr>
      <p:cViewPr varScale="1">
        <p:scale>
          <a:sx n="79" d="100"/>
          <a:sy n="79" d="100"/>
        </p:scale>
        <p:origin x="264" y="2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A24"/>
            </a:solidFill>
          </p:spPr>
        </p:sp>
      </p:grpSp>
      <p:grpSp>
        <p:nvGrpSpPr>
          <p:cNvPr id="4" name="Group 4"/>
          <p:cNvGrpSpPr/>
          <p:nvPr/>
        </p:nvGrpSpPr>
        <p:grpSpPr>
          <a:xfrm>
            <a:off x="10928684" y="2647988"/>
            <a:ext cx="5599028" cy="3149453"/>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3"/>
              <a:stretch>
                <a:fillRect t="-38888" b="-38888"/>
              </a:stretch>
            </a:blipFill>
          </p:spPr>
        </p:sp>
      </p:grpSp>
      <p:sp>
        <p:nvSpPr>
          <p:cNvPr id="6" name="TextBox 6"/>
          <p:cNvSpPr txBox="1"/>
          <p:nvPr/>
        </p:nvSpPr>
        <p:spPr>
          <a:xfrm>
            <a:off x="2743200" y="513370"/>
            <a:ext cx="10505694" cy="1421608"/>
          </a:xfrm>
          <a:prstGeom prst="rect">
            <a:avLst/>
          </a:prstGeom>
        </p:spPr>
        <p:txBody>
          <a:bodyPr wrap="square" lIns="0" tIns="0" rIns="0" bIns="0" rtlCol="0" anchor="t">
            <a:spAutoFit/>
          </a:bodyPr>
          <a:lstStyle/>
          <a:p>
            <a:pPr algn="r">
              <a:lnSpc>
                <a:spcPts val="11608"/>
              </a:lnSpc>
            </a:pPr>
            <a:r>
              <a:rPr lang="en-US" sz="9287" b="1" dirty="0" err="1">
                <a:solidFill>
                  <a:srgbClr val="F98AC7"/>
                </a:solidFill>
                <a:latin typeface="Lora Bold"/>
                <a:ea typeface="Lora Bold"/>
                <a:cs typeface="Lora Bold"/>
                <a:sym typeface="Lora Bold"/>
              </a:rPr>
              <a:t>EventGuard</a:t>
            </a:r>
            <a:endParaRPr lang="en-US" sz="9287" b="1" dirty="0">
              <a:solidFill>
                <a:srgbClr val="F98AC7"/>
              </a:solidFill>
              <a:latin typeface="Lora Bold"/>
              <a:ea typeface="Lora Bold"/>
              <a:cs typeface="Lora Bold"/>
              <a:sym typeface="Lora Bold"/>
            </a:endParaRPr>
          </a:p>
        </p:txBody>
      </p:sp>
      <p:sp>
        <p:nvSpPr>
          <p:cNvPr id="7" name="TextBox 7"/>
          <p:cNvSpPr txBox="1"/>
          <p:nvPr/>
        </p:nvSpPr>
        <p:spPr>
          <a:xfrm>
            <a:off x="1047159" y="3411083"/>
            <a:ext cx="6474242" cy="429044"/>
          </a:xfrm>
          <a:prstGeom prst="rect">
            <a:avLst/>
          </a:prstGeom>
        </p:spPr>
        <p:txBody>
          <a:bodyPr lIns="0" tIns="0" rIns="0" bIns="0" rtlCol="0" anchor="t">
            <a:spAutoFit/>
          </a:bodyPr>
          <a:lstStyle/>
          <a:p>
            <a:pPr algn="l">
              <a:lnSpc>
                <a:spcPts val="3427"/>
              </a:lnSpc>
            </a:pPr>
            <a:r>
              <a:rPr lang="en-US" sz="2742">
                <a:solidFill>
                  <a:srgbClr val="F98AC7"/>
                </a:solidFill>
                <a:latin typeface="Lora"/>
                <a:ea typeface="Lora"/>
                <a:cs typeface="Lora"/>
                <a:sym typeface="Lora"/>
              </a:rPr>
              <a:t>Event Insurance Management System</a:t>
            </a:r>
          </a:p>
        </p:txBody>
      </p:sp>
      <p:sp>
        <p:nvSpPr>
          <p:cNvPr id="8" name="TextBox 8"/>
          <p:cNvSpPr txBox="1"/>
          <p:nvPr/>
        </p:nvSpPr>
        <p:spPr>
          <a:xfrm>
            <a:off x="1028700" y="4569466"/>
            <a:ext cx="16193691" cy="574034"/>
          </a:xfrm>
          <a:prstGeom prst="rect">
            <a:avLst/>
          </a:prstGeom>
        </p:spPr>
        <p:txBody>
          <a:bodyPr lIns="0" tIns="0" rIns="0" bIns="0" rtlCol="0" anchor="t">
            <a:spAutoFit/>
          </a:bodyPr>
          <a:lstStyle/>
          <a:p>
            <a:pPr algn="l">
              <a:lnSpc>
                <a:spcPts val="3750"/>
              </a:lnSpc>
            </a:pPr>
            <a:r>
              <a:rPr lang="en-US" sz="2312" b="1">
                <a:solidFill>
                  <a:srgbClr val="D6E5EF"/>
                </a:solidFill>
                <a:latin typeface="Source Sans 3 Bold"/>
                <a:ea typeface="Source Sans 3 Bold"/>
                <a:cs typeface="Source Sans 3 Bold"/>
                <a:sym typeface="Source Sans 3 Bold"/>
              </a:rPr>
              <a:t>Capstone Project</a:t>
            </a:r>
            <a:r>
              <a:rPr lang="en-US" sz="2312">
                <a:solidFill>
                  <a:srgbClr val="D6E5EF"/>
                </a:solidFill>
                <a:latin typeface="Source Sans 3"/>
                <a:ea typeface="Source Sans 3"/>
                <a:cs typeface="Source Sans 3"/>
                <a:sym typeface="Source Sans 3"/>
              </a:rPr>
              <a:t> | Presented by Katta Sai Rutvik</a:t>
            </a:r>
          </a:p>
        </p:txBody>
      </p:sp>
      <p:sp>
        <p:nvSpPr>
          <p:cNvPr id="9" name="TextBox 9"/>
          <p:cNvSpPr txBox="1"/>
          <p:nvPr/>
        </p:nvSpPr>
        <p:spPr>
          <a:xfrm>
            <a:off x="1047159" y="6160589"/>
            <a:ext cx="16193691" cy="574034"/>
          </a:xfrm>
          <a:prstGeom prst="rect">
            <a:avLst/>
          </a:prstGeom>
        </p:spPr>
        <p:txBody>
          <a:bodyPr lIns="0" tIns="0" rIns="0" bIns="0" rtlCol="0" anchor="t">
            <a:spAutoFit/>
          </a:bodyPr>
          <a:lstStyle/>
          <a:p>
            <a:pPr algn="l">
              <a:lnSpc>
                <a:spcPts val="3750"/>
              </a:lnSpc>
            </a:pPr>
            <a:r>
              <a:rPr lang="en-US" sz="2312" i="1">
                <a:solidFill>
                  <a:srgbClr val="D6E5EF"/>
                </a:solidFill>
                <a:latin typeface="Source Sans 3 Italics"/>
                <a:ea typeface="Source Sans 3 Italics"/>
                <a:cs typeface="Source Sans 3 Italics"/>
                <a:sym typeface="Source Sans 3 Italics"/>
              </a:rPr>
              <a:t>A digital platform for intelligent event risk assessment, policy management, and automated insurance processing.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A2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52833"/>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516711" y="2178691"/>
            <a:ext cx="6445448" cy="538162"/>
          </a:xfrm>
          <a:prstGeom prst="rect">
            <a:avLst/>
          </a:prstGeom>
        </p:spPr>
        <p:txBody>
          <a:bodyPr lIns="0" tIns="0" rIns="0" bIns="0" rtlCol="0" anchor="t">
            <a:spAutoFit/>
          </a:bodyPr>
          <a:lstStyle/>
          <a:p>
            <a:pPr algn="l">
              <a:lnSpc>
                <a:spcPts val="4312"/>
              </a:lnSpc>
            </a:pPr>
            <a:r>
              <a:rPr lang="en-US" sz="3437">
                <a:solidFill>
                  <a:srgbClr val="F98AC7"/>
                </a:solidFill>
                <a:latin typeface="Lora"/>
                <a:ea typeface="Lora"/>
                <a:cs typeface="Lora"/>
                <a:sym typeface="Lora"/>
              </a:rPr>
              <a:t>Understanding Event Insurance</a:t>
            </a:r>
          </a:p>
        </p:txBody>
      </p:sp>
      <p:sp>
        <p:nvSpPr>
          <p:cNvPr id="9" name="TextBox 9"/>
          <p:cNvSpPr txBox="1"/>
          <p:nvPr/>
        </p:nvSpPr>
        <p:spPr>
          <a:xfrm>
            <a:off x="7516711" y="2909888"/>
            <a:ext cx="10112578" cy="476250"/>
          </a:xfrm>
          <a:prstGeom prst="rect">
            <a:avLst/>
          </a:prstGeom>
        </p:spPr>
        <p:txBody>
          <a:bodyPr lIns="0" tIns="0" rIns="0" bIns="0" rtlCol="0" anchor="t">
            <a:spAutoFit/>
          </a:bodyPr>
          <a:lstStyle/>
          <a:p>
            <a:pPr algn="l">
              <a:lnSpc>
                <a:spcPts val="1875"/>
              </a:lnSpc>
            </a:pPr>
            <a:r>
              <a:rPr lang="en-US" sz="1437">
                <a:solidFill>
                  <a:srgbClr val="D6E5EF"/>
                </a:solidFill>
                <a:latin typeface="Source Sans 3"/>
                <a:ea typeface="Source Sans 3"/>
                <a:cs typeface="Source Sans 3"/>
                <a:sym typeface="Source Sans 3"/>
              </a:rPr>
              <a:t>Event insurance is a specialized form of coverage designed to protect event organizers from financial losses caused by unexpected disruptions, accidents, or operational failures during events.</a:t>
            </a:r>
          </a:p>
        </p:txBody>
      </p:sp>
      <p:grpSp>
        <p:nvGrpSpPr>
          <p:cNvPr id="10" name="Group 10"/>
          <p:cNvGrpSpPr/>
          <p:nvPr/>
        </p:nvGrpSpPr>
        <p:grpSpPr>
          <a:xfrm>
            <a:off x="7516711" y="3552530"/>
            <a:ext cx="4997053" cy="1897409"/>
            <a:chOff x="0" y="0"/>
            <a:chExt cx="6662738" cy="2529878"/>
          </a:xfrm>
        </p:grpSpPr>
        <p:sp>
          <p:nvSpPr>
            <p:cNvPr id="11" name="Freeform 11"/>
            <p:cNvSpPr/>
            <p:nvPr/>
          </p:nvSpPr>
          <p:spPr>
            <a:xfrm>
              <a:off x="0" y="0"/>
              <a:ext cx="6662674" cy="2529840"/>
            </a:xfrm>
            <a:custGeom>
              <a:avLst/>
              <a:gdLst/>
              <a:ahLst/>
              <a:cxnLst/>
              <a:rect l="l" t="t" r="r" b="b"/>
              <a:pathLst>
                <a:path w="6662674" h="2529840">
                  <a:moveTo>
                    <a:pt x="0" y="37592"/>
                  </a:moveTo>
                  <a:cubicBezTo>
                    <a:pt x="0" y="16891"/>
                    <a:pt x="16891" y="0"/>
                    <a:pt x="37592" y="0"/>
                  </a:cubicBezTo>
                  <a:lnTo>
                    <a:pt x="6625082" y="0"/>
                  </a:lnTo>
                  <a:cubicBezTo>
                    <a:pt x="6645910" y="0"/>
                    <a:pt x="6662674" y="16891"/>
                    <a:pt x="6662674" y="37592"/>
                  </a:cubicBezTo>
                  <a:lnTo>
                    <a:pt x="6662674" y="2492248"/>
                  </a:lnTo>
                  <a:cubicBezTo>
                    <a:pt x="6662674" y="2513076"/>
                    <a:pt x="6645783" y="2529840"/>
                    <a:pt x="6625082" y="2529840"/>
                  </a:cubicBezTo>
                  <a:lnTo>
                    <a:pt x="37592" y="2529840"/>
                  </a:lnTo>
                  <a:cubicBezTo>
                    <a:pt x="16764" y="2529840"/>
                    <a:pt x="0" y="2512949"/>
                    <a:pt x="0" y="2492248"/>
                  </a:cubicBezTo>
                  <a:close/>
                </a:path>
              </a:pathLst>
            </a:custGeom>
            <a:solidFill>
              <a:srgbClr val="444752"/>
            </a:solidFill>
          </p:spPr>
        </p:sp>
      </p:grpSp>
      <p:grpSp>
        <p:nvGrpSpPr>
          <p:cNvPr id="12" name="Group 12"/>
          <p:cNvGrpSpPr/>
          <p:nvPr/>
        </p:nvGrpSpPr>
        <p:grpSpPr>
          <a:xfrm>
            <a:off x="7704830" y="3740648"/>
            <a:ext cx="564509" cy="564509"/>
            <a:chOff x="0" y="0"/>
            <a:chExt cx="752678" cy="752678"/>
          </a:xfrm>
        </p:grpSpPr>
        <p:sp>
          <p:nvSpPr>
            <p:cNvPr id="13" name="Freeform 13" descr="preencoded.png"/>
            <p:cNvSpPr/>
            <p:nvPr/>
          </p:nvSpPr>
          <p:spPr>
            <a:xfrm>
              <a:off x="0" y="0"/>
              <a:ext cx="752729" cy="752729"/>
            </a:xfrm>
            <a:custGeom>
              <a:avLst/>
              <a:gdLst/>
              <a:ahLst/>
              <a:cxnLst/>
              <a:rect l="l" t="t" r="r" b="b"/>
              <a:pathLst>
                <a:path w="752729" h="752729">
                  <a:moveTo>
                    <a:pt x="0" y="0"/>
                  </a:moveTo>
                  <a:lnTo>
                    <a:pt x="752729" y="0"/>
                  </a:lnTo>
                  <a:lnTo>
                    <a:pt x="752729" y="752729"/>
                  </a:lnTo>
                  <a:lnTo>
                    <a:pt x="0" y="752729"/>
                  </a:lnTo>
                  <a:lnTo>
                    <a:pt x="0" y="0"/>
                  </a:lnTo>
                  <a:close/>
                </a:path>
              </a:pathLst>
            </a:custGeom>
            <a:blipFill>
              <a:blip r:embed="rId4"/>
              <a:stretch>
                <a:fillRect r="6" b="6"/>
              </a:stretch>
            </a:blipFill>
          </p:spPr>
        </p:sp>
      </p:grpSp>
      <p:sp>
        <p:nvSpPr>
          <p:cNvPr id="14" name="Freeform 14" descr="preencoded.png"/>
          <p:cNvSpPr/>
          <p:nvPr/>
        </p:nvSpPr>
        <p:spPr>
          <a:xfrm>
            <a:off x="7860059" y="3895725"/>
            <a:ext cx="254051" cy="254051"/>
          </a:xfrm>
          <a:custGeom>
            <a:avLst/>
            <a:gdLst/>
            <a:ahLst/>
            <a:cxnLst/>
            <a:rect l="l" t="t" r="r" b="b"/>
            <a:pathLst>
              <a:path w="254051" h="254051">
                <a:moveTo>
                  <a:pt x="0" y="0"/>
                </a:moveTo>
                <a:lnTo>
                  <a:pt x="254050" y="0"/>
                </a:lnTo>
                <a:lnTo>
                  <a:pt x="254050" y="254051"/>
                </a:lnTo>
                <a:lnTo>
                  <a:pt x="0" y="254051"/>
                </a:lnTo>
                <a:lnTo>
                  <a:pt x="0" y="0"/>
                </a:lnTo>
                <a:close/>
              </a:path>
            </a:pathLst>
          </a:custGeom>
          <a:blipFill>
            <a:blip>
              <a:extLst>
                <a:ext uri="{96DAC541-7B7A-43D3-8B79-37D633B846F1}">
                  <asvg:svgBlip xmlns:asvg="http://schemas.microsoft.com/office/drawing/2016/SVG/main" r:embed="rId5"/>
                </a:ext>
              </a:extLst>
            </a:blip>
            <a:stretch>
              <a:fillRect t="-9260" b="-9256"/>
            </a:stretch>
          </a:blipFill>
        </p:spPr>
      </p:sp>
      <p:sp>
        <p:nvSpPr>
          <p:cNvPr id="15" name="TextBox 15"/>
          <p:cNvSpPr txBox="1"/>
          <p:nvPr/>
        </p:nvSpPr>
        <p:spPr>
          <a:xfrm>
            <a:off x="7704830" y="4404417"/>
            <a:ext cx="2007691" cy="273050"/>
          </a:xfrm>
          <a:prstGeom prst="rect">
            <a:avLst/>
          </a:prstGeom>
        </p:spPr>
        <p:txBody>
          <a:bodyPr lIns="0" tIns="0" rIns="0" bIns="0" rtlCol="0" anchor="t">
            <a:spAutoFit/>
          </a:bodyPr>
          <a:lstStyle/>
          <a:p>
            <a:pPr algn="l">
              <a:lnSpc>
                <a:spcPts val="2125"/>
              </a:lnSpc>
            </a:pPr>
            <a:r>
              <a:rPr lang="en-US" sz="1687">
                <a:solidFill>
                  <a:srgbClr val="D6E5EF"/>
                </a:solidFill>
                <a:latin typeface="Lora"/>
                <a:ea typeface="Lora"/>
                <a:cs typeface="Lora"/>
                <a:sym typeface="Lora"/>
              </a:rPr>
              <a:t>Financial Protection</a:t>
            </a:r>
          </a:p>
        </p:txBody>
      </p:sp>
      <p:sp>
        <p:nvSpPr>
          <p:cNvPr id="16" name="TextBox 16"/>
          <p:cNvSpPr txBox="1"/>
          <p:nvPr/>
        </p:nvSpPr>
        <p:spPr>
          <a:xfrm>
            <a:off x="7704830" y="4752232"/>
            <a:ext cx="4620816" cy="476250"/>
          </a:xfrm>
          <a:prstGeom prst="rect">
            <a:avLst/>
          </a:prstGeom>
        </p:spPr>
        <p:txBody>
          <a:bodyPr lIns="0" tIns="0" rIns="0" bIns="0" rtlCol="0" anchor="t">
            <a:spAutoFit/>
          </a:bodyPr>
          <a:lstStyle/>
          <a:p>
            <a:pPr algn="l">
              <a:lnSpc>
                <a:spcPts val="1875"/>
              </a:lnSpc>
            </a:pPr>
            <a:r>
              <a:rPr lang="en-US" sz="1437">
                <a:solidFill>
                  <a:srgbClr val="D6E5EF"/>
                </a:solidFill>
                <a:latin typeface="Source Sans 3"/>
                <a:ea typeface="Source Sans 3"/>
                <a:cs typeface="Source Sans 3"/>
                <a:sym typeface="Source Sans 3"/>
              </a:rPr>
              <a:t>Safeguards investments related to venue booking, logistics, vendors, and event infrastructure</a:t>
            </a:r>
          </a:p>
        </p:txBody>
      </p:sp>
      <p:grpSp>
        <p:nvGrpSpPr>
          <p:cNvPr id="17" name="Group 17"/>
          <p:cNvGrpSpPr/>
          <p:nvPr/>
        </p:nvGrpSpPr>
        <p:grpSpPr>
          <a:xfrm>
            <a:off x="12632084" y="3552530"/>
            <a:ext cx="4997206" cy="1897409"/>
            <a:chOff x="0" y="0"/>
            <a:chExt cx="6662941" cy="2529878"/>
          </a:xfrm>
        </p:grpSpPr>
        <p:sp>
          <p:nvSpPr>
            <p:cNvPr id="18" name="Freeform 18"/>
            <p:cNvSpPr/>
            <p:nvPr/>
          </p:nvSpPr>
          <p:spPr>
            <a:xfrm>
              <a:off x="0" y="0"/>
              <a:ext cx="6662928" cy="2529840"/>
            </a:xfrm>
            <a:custGeom>
              <a:avLst/>
              <a:gdLst/>
              <a:ahLst/>
              <a:cxnLst/>
              <a:rect l="l" t="t" r="r" b="b"/>
              <a:pathLst>
                <a:path w="6662928" h="2529840">
                  <a:moveTo>
                    <a:pt x="0" y="37592"/>
                  </a:moveTo>
                  <a:cubicBezTo>
                    <a:pt x="0" y="16891"/>
                    <a:pt x="16891" y="0"/>
                    <a:pt x="37592" y="0"/>
                  </a:cubicBezTo>
                  <a:lnTo>
                    <a:pt x="6625336" y="0"/>
                  </a:lnTo>
                  <a:cubicBezTo>
                    <a:pt x="6646164" y="0"/>
                    <a:pt x="6662928" y="16891"/>
                    <a:pt x="6662928" y="37592"/>
                  </a:cubicBezTo>
                  <a:lnTo>
                    <a:pt x="6662928" y="2492248"/>
                  </a:lnTo>
                  <a:cubicBezTo>
                    <a:pt x="6662928" y="2513076"/>
                    <a:pt x="6646037" y="2529840"/>
                    <a:pt x="6625336" y="2529840"/>
                  </a:cubicBezTo>
                  <a:lnTo>
                    <a:pt x="37592" y="2529840"/>
                  </a:lnTo>
                  <a:cubicBezTo>
                    <a:pt x="16764" y="2529840"/>
                    <a:pt x="0" y="2512949"/>
                    <a:pt x="0" y="2492248"/>
                  </a:cubicBezTo>
                  <a:close/>
                </a:path>
              </a:pathLst>
            </a:custGeom>
            <a:solidFill>
              <a:srgbClr val="444752"/>
            </a:solidFill>
          </p:spPr>
        </p:sp>
      </p:grpSp>
      <p:grpSp>
        <p:nvGrpSpPr>
          <p:cNvPr id="19" name="Group 19"/>
          <p:cNvGrpSpPr/>
          <p:nvPr/>
        </p:nvGrpSpPr>
        <p:grpSpPr>
          <a:xfrm>
            <a:off x="12820202" y="3740648"/>
            <a:ext cx="564509" cy="564509"/>
            <a:chOff x="0" y="0"/>
            <a:chExt cx="752678" cy="752678"/>
          </a:xfrm>
        </p:grpSpPr>
        <p:sp>
          <p:nvSpPr>
            <p:cNvPr id="20" name="Freeform 20" descr="preencoded.png"/>
            <p:cNvSpPr/>
            <p:nvPr/>
          </p:nvSpPr>
          <p:spPr>
            <a:xfrm>
              <a:off x="0" y="0"/>
              <a:ext cx="752729" cy="752729"/>
            </a:xfrm>
            <a:custGeom>
              <a:avLst/>
              <a:gdLst/>
              <a:ahLst/>
              <a:cxnLst/>
              <a:rect l="l" t="t" r="r" b="b"/>
              <a:pathLst>
                <a:path w="752729" h="752729">
                  <a:moveTo>
                    <a:pt x="0" y="0"/>
                  </a:moveTo>
                  <a:lnTo>
                    <a:pt x="752729" y="0"/>
                  </a:lnTo>
                  <a:lnTo>
                    <a:pt x="752729" y="752729"/>
                  </a:lnTo>
                  <a:lnTo>
                    <a:pt x="0" y="752729"/>
                  </a:lnTo>
                  <a:lnTo>
                    <a:pt x="0" y="0"/>
                  </a:lnTo>
                  <a:close/>
                </a:path>
              </a:pathLst>
            </a:custGeom>
            <a:blipFill>
              <a:blip r:embed="rId6"/>
              <a:stretch>
                <a:fillRect r="6" b="6"/>
              </a:stretch>
            </a:blipFill>
          </p:spPr>
        </p:sp>
      </p:grpSp>
      <p:sp>
        <p:nvSpPr>
          <p:cNvPr id="21" name="Freeform 21" descr="preencoded.png"/>
          <p:cNvSpPr/>
          <p:nvPr/>
        </p:nvSpPr>
        <p:spPr>
          <a:xfrm>
            <a:off x="12975431" y="3895725"/>
            <a:ext cx="254051" cy="254051"/>
          </a:xfrm>
          <a:custGeom>
            <a:avLst/>
            <a:gdLst/>
            <a:ahLst/>
            <a:cxnLst/>
            <a:rect l="l" t="t" r="r" b="b"/>
            <a:pathLst>
              <a:path w="254051" h="254051">
                <a:moveTo>
                  <a:pt x="0" y="0"/>
                </a:moveTo>
                <a:lnTo>
                  <a:pt x="254051" y="0"/>
                </a:lnTo>
                <a:lnTo>
                  <a:pt x="254051" y="254051"/>
                </a:lnTo>
                <a:lnTo>
                  <a:pt x="0" y="254051"/>
                </a:lnTo>
                <a:lnTo>
                  <a:pt x="0" y="0"/>
                </a:lnTo>
                <a:close/>
              </a:path>
            </a:pathLst>
          </a:custGeom>
          <a:blipFill>
            <a:blip>
              <a:extLst>
                <a:ext uri="{96DAC541-7B7A-43D3-8B79-37D633B846F1}">
                  <asvg:svgBlip xmlns:asvg="http://schemas.microsoft.com/office/drawing/2016/SVG/main" r:embed="rId7"/>
                </a:ext>
              </a:extLst>
            </a:blip>
            <a:stretch>
              <a:fillRect t="-3704" b="-3704"/>
            </a:stretch>
          </a:blipFill>
        </p:spPr>
      </p:sp>
      <p:sp>
        <p:nvSpPr>
          <p:cNvPr id="22" name="TextBox 22"/>
          <p:cNvSpPr txBox="1"/>
          <p:nvPr/>
        </p:nvSpPr>
        <p:spPr>
          <a:xfrm>
            <a:off x="12820202" y="4404417"/>
            <a:ext cx="1493341" cy="273050"/>
          </a:xfrm>
          <a:prstGeom prst="rect">
            <a:avLst/>
          </a:prstGeom>
        </p:spPr>
        <p:txBody>
          <a:bodyPr lIns="0" tIns="0" rIns="0" bIns="0" rtlCol="0" anchor="t">
            <a:spAutoFit/>
          </a:bodyPr>
          <a:lstStyle/>
          <a:p>
            <a:pPr algn="l">
              <a:lnSpc>
                <a:spcPts val="2125"/>
              </a:lnSpc>
            </a:pPr>
            <a:r>
              <a:rPr lang="en-US" sz="1687">
                <a:solidFill>
                  <a:srgbClr val="D6E5EF"/>
                </a:solidFill>
                <a:latin typeface="Lora"/>
                <a:ea typeface="Lora"/>
                <a:cs typeface="Lora"/>
                <a:sym typeface="Lora"/>
              </a:rPr>
              <a:t>Risk Mitigation</a:t>
            </a:r>
          </a:p>
        </p:txBody>
      </p:sp>
      <p:sp>
        <p:nvSpPr>
          <p:cNvPr id="23" name="TextBox 23"/>
          <p:cNvSpPr txBox="1"/>
          <p:nvPr/>
        </p:nvSpPr>
        <p:spPr>
          <a:xfrm>
            <a:off x="12820202" y="4752232"/>
            <a:ext cx="4620968" cy="476250"/>
          </a:xfrm>
          <a:prstGeom prst="rect">
            <a:avLst/>
          </a:prstGeom>
        </p:spPr>
        <p:txBody>
          <a:bodyPr lIns="0" tIns="0" rIns="0" bIns="0" rtlCol="0" anchor="t">
            <a:spAutoFit/>
          </a:bodyPr>
          <a:lstStyle/>
          <a:p>
            <a:pPr algn="l">
              <a:lnSpc>
                <a:spcPts val="1875"/>
              </a:lnSpc>
            </a:pPr>
            <a:r>
              <a:rPr lang="en-US" sz="1437">
                <a:solidFill>
                  <a:srgbClr val="D6E5EF"/>
                </a:solidFill>
                <a:latin typeface="Source Sans 3"/>
                <a:ea typeface="Source Sans 3"/>
                <a:cs typeface="Source Sans 3"/>
                <a:sym typeface="Source Sans 3"/>
              </a:rPr>
              <a:t>Covers fire damage, theft of equipment, severe weather conditions, and sudden event cancellations</a:t>
            </a:r>
          </a:p>
        </p:txBody>
      </p:sp>
      <p:grpSp>
        <p:nvGrpSpPr>
          <p:cNvPr id="24" name="Group 24"/>
          <p:cNvGrpSpPr/>
          <p:nvPr/>
        </p:nvGrpSpPr>
        <p:grpSpPr>
          <a:xfrm>
            <a:off x="7516711" y="5568258"/>
            <a:ext cx="10112578" cy="1652140"/>
            <a:chOff x="0" y="0"/>
            <a:chExt cx="13483438" cy="2202853"/>
          </a:xfrm>
        </p:grpSpPr>
        <p:sp>
          <p:nvSpPr>
            <p:cNvPr id="25" name="Freeform 25"/>
            <p:cNvSpPr/>
            <p:nvPr/>
          </p:nvSpPr>
          <p:spPr>
            <a:xfrm>
              <a:off x="0" y="0"/>
              <a:ext cx="13483335" cy="2202815"/>
            </a:xfrm>
            <a:custGeom>
              <a:avLst/>
              <a:gdLst/>
              <a:ahLst/>
              <a:cxnLst/>
              <a:rect l="l" t="t" r="r" b="b"/>
              <a:pathLst>
                <a:path w="13483335" h="2202815">
                  <a:moveTo>
                    <a:pt x="0" y="37592"/>
                  </a:moveTo>
                  <a:cubicBezTo>
                    <a:pt x="0" y="16891"/>
                    <a:pt x="16891" y="0"/>
                    <a:pt x="37592" y="0"/>
                  </a:cubicBezTo>
                  <a:lnTo>
                    <a:pt x="13445744" y="0"/>
                  </a:lnTo>
                  <a:cubicBezTo>
                    <a:pt x="13466572" y="0"/>
                    <a:pt x="13483335" y="16891"/>
                    <a:pt x="13483335" y="37592"/>
                  </a:cubicBezTo>
                  <a:lnTo>
                    <a:pt x="13483335" y="2165223"/>
                  </a:lnTo>
                  <a:cubicBezTo>
                    <a:pt x="13483335" y="2186051"/>
                    <a:pt x="13466445" y="2202815"/>
                    <a:pt x="13445744" y="2202815"/>
                  </a:cubicBezTo>
                  <a:lnTo>
                    <a:pt x="37592" y="2202815"/>
                  </a:lnTo>
                  <a:cubicBezTo>
                    <a:pt x="16764" y="2202815"/>
                    <a:pt x="0" y="2185924"/>
                    <a:pt x="0" y="2165223"/>
                  </a:cubicBezTo>
                  <a:close/>
                </a:path>
              </a:pathLst>
            </a:custGeom>
            <a:solidFill>
              <a:srgbClr val="444752"/>
            </a:solidFill>
          </p:spPr>
        </p:sp>
      </p:grpSp>
      <p:grpSp>
        <p:nvGrpSpPr>
          <p:cNvPr id="26" name="Group 26"/>
          <p:cNvGrpSpPr/>
          <p:nvPr/>
        </p:nvGrpSpPr>
        <p:grpSpPr>
          <a:xfrm>
            <a:off x="7704830" y="5756377"/>
            <a:ext cx="564509" cy="564509"/>
            <a:chOff x="0" y="0"/>
            <a:chExt cx="752678" cy="752678"/>
          </a:xfrm>
        </p:grpSpPr>
        <p:sp>
          <p:nvSpPr>
            <p:cNvPr id="27" name="Freeform 27" descr="preencoded.png"/>
            <p:cNvSpPr/>
            <p:nvPr/>
          </p:nvSpPr>
          <p:spPr>
            <a:xfrm>
              <a:off x="0" y="0"/>
              <a:ext cx="752729" cy="752729"/>
            </a:xfrm>
            <a:custGeom>
              <a:avLst/>
              <a:gdLst/>
              <a:ahLst/>
              <a:cxnLst/>
              <a:rect l="l" t="t" r="r" b="b"/>
              <a:pathLst>
                <a:path w="752729" h="752729">
                  <a:moveTo>
                    <a:pt x="0" y="0"/>
                  </a:moveTo>
                  <a:lnTo>
                    <a:pt x="752729" y="0"/>
                  </a:lnTo>
                  <a:lnTo>
                    <a:pt x="752729" y="752729"/>
                  </a:lnTo>
                  <a:lnTo>
                    <a:pt x="0" y="752729"/>
                  </a:lnTo>
                  <a:lnTo>
                    <a:pt x="0" y="0"/>
                  </a:lnTo>
                  <a:close/>
                </a:path>
              </a:pathLst>
            </a:custGeom>
            <a:blipFill>
              <a:blip r:embed="rId8"/>
              <a:stretch>
                <a:fillRect r="6" b="6"/>
              </a:stretch>
            </a:blipFill>
          </p:spPr>
        </p:sp>
      </p:grpSp>
      <p:sp>
        <p:nvSpPr>
          <p:cNvPr id="28" name="Freeform 28" descr="preencoded.png"/>
          <p:cNvSpPr/>
          <p:nvPr/>
        </p:nvSpPr>
        <p:spPr>
          <a:xfrm>
            <a:off x="7860059" y="5911453"/>
            <a:ext cx="254051" cy="254051"/>
          </a:xfrm>
          <a:custGeom>
            <a:avLst/>
            <a:gdLst/>
            <a:ahLst/>
            <a:cxnLst/>
            <a:rect l="l" t="t" r="r" b="b"/>
            <a:pathLst>
              <a:path w="254051" h="254051">
                <a:moveTo>
                  <a:pt x="0" y="0"/>
                </a:moveTo>
                <a:lnTo>
                  <a:pt x="254050" y="0"/>
                </a:lnTo>
                <a:lnTo>
                  <a:pt x="254050" y="254051"/>
                </a:lnTo>
                <a:lnTo>
                  <a:pt x="0" y="254051"/>
                </a:lnTo>
                <a:lnTo>
                  <a:pt x="0" y="0"/>
                </a:lnTo>
                <a:close/>
              </a:path>
            </a:pathLst>
          </a:custGeom>
          <a:blipFill>
            <a:blip>
              <a:extLst>
                <a:ext uri="{96DAC541-7B7A-43D3-8B79-37D633B846F1}">
                  <asvg:svgBlip xmlns:asvg="http://schemas.microsoft.com/office/drawing/2016/SVG/main" r:embed="rId9"/>
                </a:ext>
              </a:extLst>
            </a:blip>
            <a:stretch>
              <a:fillRect l="-16665" r="-16669"/>
            </a:stretch>
          </a:blipFill>
        </p:spPr>
      </p:sp>
      <p:sp>
        <p:nvSpPr>
          <p:cNvPr id="29" name="TextBox 29"/>
          <p:cNvSpPr txBox="1"/>
          <p:nvPr/>
        </p:nvSpPr>
        <p:spPr>
          <a:xfrm>
            <a:off x="7704830" y="6420145"/>
            <a:ext cx="1788244" cy="273050"/>
          </a:xfrm>
          <a:prstGeom prst="rect">
            <a:avLst/>
          </a:prstGeom>
        </p:spPr>
        <p:txBody>
          <a:bodyPr lIns="0" tIns="0" rIns="0" bIns="0" rtlCol="0" anchor="t">
            <a:spAutoFit/>
          </a:bodyPr>
          <a:lstStyle/>
          <a:p>
            <a:pPr algn="l">
              <a:lnSpc>
                <a:spcPts val="2125"/>
              </a:lnSpc>
            </a:pPr>
            <a:r>
              <a:rPr lang="en-US" sz="1687">
                <a:solidFill>
                  <a:srgbClr val="D6E5EF"/>
                </a:solidFill>
                <a:latin typeface="Lora"/>
                <a:ea typeface="Lora"/>
                <a:cs typeface="Lora"/>
                <a:sym typeface="Lora"/>
              </a:rPr>
              <a:t>Liability Coverage</a:t>
            </a:r>
          </a:p>
        </p:txBody>
      </p:sp>
      <p:sp>
        <p:nvSpPr>
          <p:cNvPr id="30" name="TextBox 30"/>
          <p:cNvSpPr txBox="1"/>
          <p:nvPr/>
        </p:nvSpPr>
        <p:spPr>
          <a:xfrm>
            <a:off x="7704830" y="6767960"/>
            <a:ext cx="9736341" cy="238125"/>
          </a:xfrm>
          <a:prstGeom prst="rect">
            <a:avLst/>
          </a:prstGeom>
        </p:spPr>
        <p:txBody>
          <a:bodyPr lIns="0" tIns="0" rIns="0" bIns="0" rtlCol="0" anchor="t">
            <a:spAutoFit/>
          </a:bodyPr>
          <a:lstStyle/>
          <a:p>
            <a:pPr algn="l">
              <a:lnSpc>
                <a:spcPts val="1875"/>
              </a:lnSpc>
            </a:pPr>
            <a:r>
              <a:rPr lang="en-US" sz="1437">
                <a:solidFill>
                  <a:srgbClr val="D6E5EF"/>
                </a:solidFill>
                <a:latin typeface="Source Sans 3"/>
                <a:ea typeface="Source Sans 3"/>
                <a:cs typeface="Source Sans 3"/>
                <a:sym typeface="Source Sans 3"/>
              </a:rPr>
              <a:t>Protects against crowd-related incidents, safety failures, and damage to third-party property</a:t>
            </a:r>
          </a:p>
        </p:txBody>
      </p:sp>
      <p:sp>
        <p:nvSpPr>
          <p:cNvPr id="31" name="TextBox 31"/>
          <p:cNvSpPr txBox="1"/>
          <p:nvPr/>
        </p:nvSpPr>
        <p:spPr>
          <a:xfrm>
            <a:off x="7516711" y="7334402"/>
            <a:ext cx="10112578" cy="714375"/>
          </a:xfrm>
          <a:prstGeom prst="rect">
            <a:avLst/>
          </a:prstGeom>
        </p:spPr>
        <p:txBody>
          <a:bodyPr lIns="0" tIns="0" rIns="0" bIns="0" rtlCol="0" anchor="t">
            <a:spAutoFit/>
          </a:bodyPr>
          <a:lstStyle/>
          <a:p>
            <a:pPr algn="l">
              <a:lnSpc>
                <a:spcPts val="1875"/>
              </a:lnSpc>
            </a:pPr>
            <a:r>
              <a:rPr lang="en-US" sz="1437">
                <a:solidFill>
                  <a:srgbClr val="D6E5EF"/>
                </a:solidFill>
                <a:latin typeface="Source Sans 3"/>
                <a:ea typeface="Source Sans 3"/>
                <a:cs typeface="Source Sans 3"/>
                <a:sym typeface="Source Sans 3"/>
              </a:rPr>
              <a:t>Different categories of events require insurance coverage, including concerts, corporate gatherings, conferences, weddings, exhibitions, and outdoor festivals. Managing insurance for such diverse events requires structured risk evaluation and policy selection based on event characteristics and potential hazards.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A2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52833"/>
            </a:solidFill>
          </p:spPr>
        </p:sp>
      </p:grpSp>
      <p:grpSp>
        <p:nvGrpSpPr>
          <p:cNvPr id="6" name="Group 6"/>
          <p:cNvGrpSpPr/>
          <p:nvPr/>
        </p:nvGrpSpPr>
        <p:grpSpPr>
          <a:xfrm>
            <a:off x="10634241" y="1483999"/>
            <a:ext cx="7653759" cy="4065803"/>
            <a:chOff x="0" y="0"/>
            <a:chExt cx="13681183" cy="7267671"/>
          </a:xfrm>
        </p:grpSpPr>
        <p:sp>
          <p:nvSpPr>
            <p:cNvPr id="7" name="Freeform 7"/>
            <p:cNvSpPr/>
            <p:nvPr/>
          </p:nvSpPr>
          <p:spPr>
            <a:xfrm>
              <a:off x="0" y="0"/>
              <a:ext cx="13681123" cy="7267659"/>
            </a:xfrm>
            <a:custGeom>
              <a:avLst/>
              <a:gdLst/>
              <a:ahLst/>
              <a:cxnLst/>
              <a:rect l="l" t="t" r="r" b="b"/>
              <a:pathLst>
                <a:path w="13681123" h="7267659">
                  <a:moveTo>
                    <a:pt x="0" y="0"/>
                  </a:moveTo>
                  <a:lnTo>
                    <a:pt x="13681123" y="0"/>
                  </a:lnTo>
                  <a:lnTo>
                    <a:pt x="13681123" y="7267659"/>
                  </a:lnTo>
                  <a:lnTo>
                    <a:pt x="0" y="7267659"/>
                  </a:lnTo>
                  <a:lnTo>
                    <a:pt x="0" y="0"/>
                  </a:lnTo>
                  <a:close/>
                </a:path>
              </a:pathLst>
            </a:custGeom>
            <a:blipFill>
              <a:blip r:embed="rId3"/>
              <a:stretch>
                <a:fillRect t="-591" b="-591"/>
              </a:stretch>
            </a:blipFill>
          </p:spPr>
        </p:sp>
      </p:grpSp>
      <p:sp>
        <p:nvSpPr>
          <p:cNvPr id="8" name="Freeform 8" descr="preencoded.png"/>
          <p:cNvSpPr/>
          <p:nvPr/>
        </p:nvSpPr>
        <p:spPr>
          <a:xfrm>
            <a:off x="2627557" y="7581681"/>
            <a:ext cx="304505" cy="304505"/>
          </a:xfrm>
          <a:custGeom>
            <a:avLst/>
            <a:gdLst/>
            <a:ahLst/>
            <a:cxnLst/>
            <a:rect l="l" t="t" r="r" b="b"/>
            <a:pathLst>
              <a:path w="304505" h="304505">
                <a:moveTo>
                  <a:pt x="0" y="0"/>
                </a:moveTo>
                <a:lnTo>
                  <a:pt x="304505" y="0"/>
                </a:lnTo>
                <a:lnTo>
                  <a:pt x="304505" y="304505"/>
                </a:lnTo>
                <a:lnTo>
                  <a:pt x="0" y="304505"/>
                </a:lnTo>
                <a:lnTo>
                  <a:pt x="0" y="0"/>
                </a:lnTo>
                <a:close/>
              </a:path>
            </a:pathLst>
          </a:custGeom>
          <a:blipFill>
            <a:blip>
              <a:extLst>
                <a:ext uri="{96DAC541-7B7A-43D3-8B79-37D633B846F1}">
                  <asvg:svgBlip xmlns:asvg="http://schemas.microsoft.com/office/drawing/2016/SVG/main" r:embed="rId4"/>
                </a:ext>
              </a:extLst>
            </a:blip>
            <a:stretch>
              <a:fillRect l="-9374" r="-9374"/>
            </a:stretch>
          </a:blipFill>
        </p:spPr>
      </p:sp>
      <p:sp>
        <p:nvSpPr>
          <p:cNvPr id="9" name="Freeform 9" descr="preencoded.png"/>
          <p:cNvSpPr/>
          <p:nvPr/>
        </p:nvSpPr>
        <p:spPr>
          <a:xfrm>
            <a:off x="9306077" y="7581681"/>
            <a:ext cx="304505" cy="304505"/>
          </a:xfrm>
          <a:custGeom>
            <a:avLst/>
            <a:gdLst/>
            <a:ahLst/>
            <a:cxnLst/>
            <a:rect l="l" t="t" r="r" b="b"/>
            <a:pathLst>
              <a:path w="304505" h="304505">
                <a:moveTo>
                  <a:pt x="0" y="0"/>
                </a:moveTo>
                <a:lnTo>
                  <a:pt x="304505" y="0"/>
                </a:lnTo>
                <a:lnTo>
                  <a:pt x="304505" y="304505"/>
                </a:lnTo>
                <a:lnTo>
                  <a:pt x="0" y="304505"/>
                </a:lnTo>
                <a:lnTo>
                  <a:pt x="0" y="0"/>
                </a:lnTo>
                <a:close/>
              </a:path>
            </a:pathLst>
          </a:custGeom>
          <a:blipFill>
            <a:blip>
              <a:extLst>
                <a:ext uri="{96DAC541-7B7A-43D3-8B79-37D633B846F1}">
                  <asvg:svgBlip xmlns:asvg="http://schemas.microsoft.com/office/drawing/2016/SVG/main" r:embed="rId4"/>
                </a:ext>
              </a:extLst>
            </a:blip>
            <a:stretch>
              <a:fillRect l="-9374" r="-9374"/>
            </a:stretch>
          </a:blipFill>
        </p:spPr>
      </p:sp>
      <p:sp>
        <p:nvSpPr>
          <p:cNvPr id="10" name="Freeform 10" descr="preencoded.png"/>
          <p:cNvSpPr/>
          <p:nvPr/>
        </p:nvSpPr>
        <p:spPr>
          <a:xfrm>
            <a:off x="2627557" y="8783317"/>
            <a:ext cx="304505" cy="304505"/>
          </a:xfrm>
          <a:custGeom>
            <a:avLst/>
            <a:gdLst/>
            <a:ahLst/>
            <a:cxnLst/>
            <a:rect l="l" t="t" r="r" b="b"/>
            <a:pathLst>
              <a:path w="304505" h="304505">
                <a:moveTo>
                  <a:pt x="0" y="0"/>
                </a:moveTo>
                <a:lnTo>
                  <a:pt x="304505" y="0"/>
                </a:lnTo>
                <a:lnTo>
                  <a:pt x="304505" y="304505"/>
                </a:lnTo>
                <a:lnTo>
                  <a:pt x="0" y="304505"/>
                </a:lnTo>
                <a:lnTo>
                  <a:pt x="0" y="0"/>
                </a:lnTo>
                <a:close/>
              </a:path>
            </a:pathLst>
          </a:custGeom>
          <a:blipFill>
            <a:blip>
              <a:extLst>
                <a:ext uri="{96DAC541-7B7A-43D3-8B79-37D633B846F1}">
                  <asvg:svgBlip xmlns:asvg="http://schemas.microsoft.com/office/drawing/2016/SVG/main" r:embed="rId4"/>
                </a:ext>
              </a:extLst>
            </a:blip>
            <a:stretch>
              <a:fillRect l="-9374" r="-9374"/>
            </a:stretch>
          </a:blipFill>
        </p:spPr>
      </p:sp>
      <p:sp>
        <p:nvSpPr>
          <p:cNvPr id="11" name="Freeform 11" descr="preencoded.png"/>
          <p:cNvSpPr/>
          <p:nvPr/>
        </p:nvSpPr>
        <p:spPr>
          <a:xfrm>
            <a:off x="9306077" y="8783317"/>
            <a:ext cx="304505" cy="304505"/>
          </a:xfrm>
          <a:custGeom>
            <a:avLst/>
            <a:gdLst/>
            <a:ahLst/>
            <a:cxnLst/>
            <a:rect l="l" t="t" r="r" b="b"/>
            <a:pathLst>
              <a:path w="304505" h="304505">
                <a:moveTo>
                  <a:pt x="0" y="0"/>
                </a:moveTo>
                <a:lnTo>
                  <a:pt x="304505" y="0"/>
                </a:lnTo>
                <a:lnTo>
                  <a:pt x="304505" y="304505"/>
                </a:lnTo>
                <a:lnTo>
                  <a:pt x="0" y="304505"/>
                </a:lnTo>
                <a:lnTo>
                  <a:pt x="0" y="0"/>
                </a:lnTo>
                <a:close/>
              </a:path>
            </a:pathLst>
          </a:custGeom>
          <a:blipFill>
            <a:blip>
              <a:extLst>
                <a:ext uri="{96DAC541-7B7A-43D3-8B79-37D633B846F1}">
                  <asvg:svgBlip xmlns:asvg="http://schemas.microsoft.com/office/drawing/2016/SVG/main" r:embed="rId4"/>
                </a:ext>
              </a:extLst>
            </a:blip>
            <a:stretch>
              <a:fillRect l="-9374" r="-9374"/>
            </a:stretch>
          </a:blipFill>
        </p:spPr>
      </p:sp>
      <p:sp>
        <p:nvSpPr>
          <p:cNvPr id="12" name="TextBox 12"/>
          <p:cNvSpPr txBox="1"/>
          <p:nvPr/>
        </p:nvSpPr>
        <p:spPr>
          <a:xfrm>
            <a:off x="2551509" y="574034"/>
            <a:ext cx="4437757" cy="576263"/>
          </a:xfrm>
          <a:prstGeom prst="rect">
            <a:avLst/>
          </a:prstGeom>
        </p:spPr>
        <p:txBody>
          <a:bodyPr lIns="0" tIns="0" rIns="0" bIns="0" rtlCol="0" anchor="t">
            <a:spAutoFit/>
          </a:bodyPr>
          <a:lstStyle/>
          <a:p>
            <a:pPr algn="l">
              <a:lnSpc>
                <a:spcPts val="4687"/>
              </a:lnSpc>
            </a:pPr>
            <a:r>
              <a:rPr lang="en-US" sz="3749" dirty="0">
                <a:solidFill>
                  <a:srgbClr val="F98AC7"/>
                </a:solidFill>
                <a:latin typeface="Lora"/>
                <a:ea typeface="Lora"/>
                <a:cs typeface="Lora"/>
                <a:sym typeface="Lora"/>
              </a:rPr>
              <a:t>Why </a:t>
            </a:r>
            <a:r>
              <a:rPr lang="en-US" sz="3749" dirty="0" err="1">
                <a:solidFill>
                  <a:srgbClr val="F98AC7"/>
                </a:solidFill>
                <a:latin typeface="Lora"/>
                <a:ea typeface="Lora"/>
                <a:cs typeface="Lora"/>
                <a:sym typeface="Lora"/>
              </a:rPr>
              <a:t>EventGuard</a:t>
            </a:r>
            <a:r>
              <a:rPr lang="en-US" sz="3749" dirty="0">
                <a:solidFill>
                  <a:srgbClr val="F98AC7"/>
                </a:solidFill>
                <a:latin typeface="Lora"/>
                <a:ea typeface="Lora"/>
                <a:cs typeface="Lora"/>
                <a:sym typeface="Lora"/>
              </a:rPr>
              <a:t>?</a:t>
            </a:r>
          </a:p>
        </p:txBody>
      </p:sp>
      <p:sp>
        <p:nvSpPr>
          <p:cNvPr id="13" name="TextBox 13"/>
          <p:cNvSpPr txBox="1"/>
          <p:nvPr/>
        </p:nvSpPr>
        <p:spPr>
          <a:xfrm>
            <a:off x="2237506" y="3795913"/>
            <a:ext cx="8396735" cy="1154811"/>
          </a:xfrm>
          <a:prstGeom prst="rect">
            <a:avLst/>
          </a:prstGeom>
        </p:spPr>
        <p:txBody>
          <a:bodyPr lIns="0" tIns="0" rIns="0" bIns="0" rtlCol="0" anchor="t">
            <a:spAutoFit/>
          </a:bodyPr>
          <a:lstStyle/>
          <a:p>
            <a:pPr algn="l">
              <a:lnSpc>
                <a:spcPts val="2397"/>
              </a:lnSpc>
            </a:pPr>
            <a:r>
              <a:rPr lang="en-US" sz="1762">
                <a:solidFill>
                  <a:srgbClr val="D6E5EF"/>
                </a:solidFill>
                <a:latin typeface="Source Sans 3"/>
                <a:ea typeface="Source Sans 3"/>
                <a:cs typeface="Source Sans 3"/>
                <a:sym typeface="Source Sans 3"/>
              </a:rPr>
              <a:t>The increasing scale and complexity of modern events demand a structured digital system to efficiently manage insurance policies and risk assessments. Traditional approaches fall short in delivering the transparency and efficiency required by today's event organizers.</a:t>
            </a:r>
          </a:p>
        </p:txBody>
      </p:sp>
      <p:sp>
        <p:nvSpPr>
          <p:cNvPr id="14" name="TextBox 14"/>
          <p:cNvSpPr txBox="1"/>
          <p:nvPr/>
        </p:nvSpPr>
        <p:spPr>
          <a:xfrm>
            <a:off x="3211268" y="7565974"/>
            <a:ext cx="3482578" cy="308077"/>
          </a:xfrm>
          <a:prstGeom prst="rect">
            <a:avLst/>
          </a:prstGeom>
        </p:spPr>
        <p:txBody>
          <a:bodyPr lIns="0" tIns="0" rIns="0" bIns="0" rtlCol="0" anchor="t">
            <a:spAutoFit/>
          </a:bodyPr>
          <a:lstStyle/>
          <a:p>
            <a:pPr algn="l">
              <a:lnSpc>
                <a:spcPts val="2312"/>
              </a:lnSpc>
            </a:pPr>
            <a:r>
              <a:rPr lang="en-US" sz="1874">
                <a:solidFill>
                  <a:srgbClr val="D6E5EF"/>
                </a:solidFill>
                <a:latin typeface="Lora"/>
                <a:ea typeface="Lora"/>
                <a:cs typeface="Lora"/>
                <a:sym typeface="Lora"/>
              </a:rPr>
              <a:t>Inconsistent Manual Evaluation</a:t>
            </a:r>
          </a:p>
        </p:txBody>
      </p:sp>
      <p:sp>
        <p:nvSpPr>
          <p:cNvPr id="15" name="TextBox 15"/>
          <p:cNvSpPr txBox="1"/>
          <p:nvPr/>
        </p:nvSpPr>
        <p:spPr>
          <a:xfrm>
            <a:off x="3211268" y="7937602"/>
            <a:ext cx="5846559" cy="564061"/>
          </a:xfrm>
          <a:prstGeom prst="rect">
            <a:avLst/>
          </a:prstGeom>
        </p:spPr>
        <p:txBody>
          <a:bodyPr lIns="0" tIns="0" rIns="0" bIns="0" rtlCol="0" anchor="t">
            <a:spAutoFit/>
          </a:bodyPr>
          <a:lstStyle/>
          <a:p>
            <a:pPr algn="l">
              <a:lnSpc>
                <a:spcPts val="2125"/>
              </a:lnSpc>
            </a:pPr>
            <a:r>
              <a:rPr lang="en-US" sz="1562">
                <a:solidFill>
                  <a:srgbClr val="D6E5EF"/>
                </a:solidFill>
                <a:latin typeface="Source Sans 3"/>
                <a:ea typeface="Source Sans 3"/>
                <a:cs typeface="Source Sans 3"/>
                <a:sym typeface="Source Sans 3"/>
              </a:rPr>
              <a:t>Manual risk assessment leads to inconsistent decision-making and inaccurate premium estimation</a:t>
            </a:r>
          </a:p>
        </p:txBody>
      </p:sp>
      <p:sp>
        <p:nvSpPr>
          <p:cNvPr id="16" name="TextBox 16"/>
          <p:cNvSpPr txBox="1"/>
          <p:nvPr/>
        </p:nvSpPr>
        <p:spPr>
          <a:xfrm>
            <a:off x="9889779" y="7565974"/>
            <a:ext cx="2438552" cy="308077"/>
          </a:xfrm>
          <a:prstGeom prst="rect">
            <a:avLst/>
          </a:prstGeom>
        </p:spPr>
        <p:txBody>
          <a:bodyPr lIns="0" tIns="0" rIns="0" bIns="0" rtlCol="0" anchor="t">
            <a:spAutoFit/>
          </a:bodyPr>
          <a:lstStyle/>
          <a:p>
            <a:pPr algn="l">
              <a:lnSpc>
                <a:spcPts val="2312"/>
              </a:lnSpc>
            </a:pPr>
            <a:r>
              <a:rPr lang="en-US" sz="1874">
                <a:solidFill>
                  <a:srgbClr val="D6E5EF"/>
                </a:solidFill>
                <a:latin typeface="Lora"/>
                <a:ea typeface="Lora"/>
                <a:cs typeface="Lora"/>
                <a:sym typeface="Lora"/>
              </a:rPr>
              <a:t>Limited Transparency</a:t>
            </a:r>
          </a:p>
        </p:txBody>
      </p:sp>
      <p:sp>
        <p:nvSpPr>
          <p:cNvPr id="17" name="TextBox 17"/>
          <p:cNvSpPr txBox="1"/>
          <p:nvPr/>
        </p:nvSpPr>
        <p:spPr>
          <a:xfrm>
            <a:off x="9889779" y="7937602"/>
            <a:ext cx="5846559" cy="564061"/>
          </a:xfrm>
          <a:prstGeom prst="rect">
            <a:avLst/>
          </a:prstGeom>
        </p:spPr>
        <p:txBody>
          <a:bodyPr lIns="0" tIns="0" rIns="0" bIns="0" rtlCol="0" anchor="t">
            <a:spAutoFit/>
          </a:bodyPr>
          <a:lstStyle/>
          <a:p>
            <a:pPr algn="l">
              <a:lnSpc>
                <a:spcPts val="2125"/>
              </a:lnSpc>
            </a:pPr>
            <a:r>
              <a:rPr lang="en-US" sz="1562">
                <a:solidFill>
                  <a:srgbClr val="D6E5EF"/>
                </a:solidFill>
                <a:latin typeface="Source Sans 3"/>
                <a:ea typeface="Source Sans 3"/>
                <a:cs typeface="Source Sans 3"/>
                <a:sym typeface="Source Sans 3"/>
              </a:rPr>
              <a:t>Customers experience limited visibility into how premiums are calculated and risks are evaluated</a:t>
            </a:r>
          </a:p>
        </p:txBody>
      </p:sp>
      <p:sp>
        <p:nvSpPr>
          <p:cNvPr id="18" name="TextBox 18"/>
          <p:cNvSpPr txBox="1"/>
          <p:nvPr/>
        </p:nvSpPr>
        <p:spPr>
          <a:xfrm>
            <a:off x="3211268" y="8767610"/>
            <a:ext cx="2737542" cy="308077"/>
          </a:xfrm>
          <a:prstGeom prst="rect">
            <a:avLst/>
          </a:prstGeom>
        </p:spPr>
        <p:txBody>
          <a:bodyPr lIns="0" tIns="0" rIns="0" bIns="0" rtlCol="0" anchor="t">
            <a:spAutoFit/>
          </a:bodyPr>
          <a:lstStyle/>
          <a:p>
            <a:pPr algn="l">
              <a:lnSpc>
                <a:spcPts val="2312"/>
              </a:lnSpc>
            </a:pPr>
            <a:r>
              <a:rPr lang="en-US" sz="1874">
                <a:solidFill>
                  <a:srgbClr val="D6E5EF"/>
                </a:solidFill>
                <a:latin typeface="Lora"/>
                <a:ea typeface="Lora"/>
                <a:cs typeface="Lora"/>
                <a:sym typeface="Lora"/>
              </a:rPr>
              <a:t>Slow Approval Processes</a:t>
            </a:r>
          </a:p>
        </p:txBody>
      </p:sp>
      <p:sp>
        <p:nvSpPr>
          <p:cNvPr id="19" name="TextBox 19"/>
          <p:cNvSpPr txBox="1"/>
          <p:nvPr/>
        </p:nvSpPr>
        <p:spPr>
          <a:xfrm>
            <a:off x="3211268" y="9139238"/>
            <a:ext cx="5846559" cy="564061"/>
          </a:xfrm>
          <a:prstGeom prst="rect">
            <a:avLst/>
          </a:prstGeom>
        </p:spPr>
        <p:txBody>
          <a:bodyPr lIns="0" tIns="0" rIns="0" bIns="0" rtlCol="0" anchor="t">
            <a:spAutoFit/>
          </a:bodyPr>
          <a:lstStyle/>
          <a:p>
            <a:pPr algn="l">
              <a:lnSpc>
                <a:spcPts val="2125"/>
              </a:lnSpc>
            </a:pPr>
            <a:r>
              <a:rPr lang="en-US" sz="1562">
                <a:solidFill>
                  <a:srgbClr val="D6E5EF"/>
                </a:solidFill>
                <a:latin typeface="Source Sans 3"/>
                <a:ea typeface="Source Sans 3"/>
                <a:cs typeface="Source Sans 3"/>
                <a:sym typeface="Source Sans 3"/>
              </a:rPr>
              <a:t>Without automation, policy subscription and approval processes become slow and difficult to track</a:t>
            </a:r>
          </a:p>
        </p:txBody>
      </p:sp>
      <p:sp>
        <p:nvSpPr>
          <p:cNvPr id="20" name="TextBox 20"/>
          <p:cNvSpPr txBox="1"/>
          <p:nvPr/>
        </p:nvSpPr>
        <p:spPr>
          <a:xfrm>
            <a:off x="9889779" y="8767610"/>
            <a:ext cx="2738885" cy="308077"/>
          </a:xfrm>
          <a:prstGeom prst="rect">
            <a:avLst/>
          </a:prstGeom>
        </p:spPr>
        <p:txBody>
          <a:bodyPr lIns="0" tIns="0" rIns="0" bIns="0" rtlCol="0" anchor="t">
            <a:spAutoFit/>
          </a:bodyPr>
          <a:lstStyle/>
          <a:p>
            <a:pPr algn="l">
              <a:lnSpc>
                <a:spcPts val="2312"/>
              </a:lnSpc>
            </a:pPr>
            <a:r>
              <a:rPr lang="en-US" sz="1874">
                <a:solidFill>
                  <a:srgbClr val="D6E5EF"/>
                </a:solidFill>
                <a:latin typeface="Lora"/>
                <a:ea typeface="Lora"/>
                <a:cs typeface="Lora"/>
                <a:sym typeface="Lora"/>
              </a:rPr>
              <a:t>Coordination Challenges</a:t>
            </a:r>
          </a:p>
        </p:txBody>
      </p:sp>
      <p:sp>
        <p:nvSpPr>
          <p:cNvPr id="21" name="TextBox 21"/>
          <p:cNvSpPr txBox="1"/>
          <p:nvPr/>
        </p:nvSpPr>
        <p:spPr>
          <a:xfrm>
            <a:off x="9889779" y="9139238"/>
            <a:ext cx="5846559" cy="564061"/>
          </a:xfrm>
          <a:prstGeom prst="rect">
            <a:avLst/>
          </a:prstGeom>
        </p:spPr>
        <p:txBody>
          <a:bodyPr lIns="0" tIns="0" rIns="0" bIns="0" rtlCol="0" anchor="t">
            <a:spAutoFit/>
          </a:bodyPr>
          <a:lstStyle/>
          <a:p>
            <a:pPr algn="l">
              <a:lnSpc>
                <a:spcPts val="2125"/>
              </a:lnSpc>
            </a:pPr>
            <a:r>
              <a:rPr lang="en-US" sz="1562">
                <a:solidFill>
                  <a:srgbClr val="D6E5EF"/>
                </a:solidFill>
                <a:latin typeface="Source Sans 3"/>
                <a:ea typeface="Source Sans 3"/>
                <a:cs typeface="Source Sans 3"/>
                <a:sym typeface="Source Sans 3"/>
              </a:rPr>
              <a:t>Operations require coordination between multiple stakeholders without clear workflow structure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A2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52833"/>
            </a:solidFill>
          </p:spPr>
        </p:sp>
      </p:grpSp>
      <p:sp>
        <p:nvSpPr>
          <p:cNvPr id="6" name="TextBox 6"/>
          <p:cNvSpPr txBox="1"/>
          <p:nvPr/>
        </p:nvSpPr>
        <p:spPr>
          <a:xfrm>
            <a:off x="904132" y="1320251"/>
            <a:ext cx="9839325" cy="778821"/>
          </a:xfrm>
          <a:prstGeom prst="rect">
            <a:avLst/>
          </a:prstGeom>
        </p:spPr>
        <p:txBody>
          <a:bodyPr lIns="0" tIns="0" rIns="0" bIns="0" rtlCol="0" anchor="t">
            <a:spAutoFit/>
          </a:bodyPr>
          <a:lstStyle/>
          <a:p>
            <a:pPr algn="l">
              <a:lnSpc>
                <a:spcPts val="5937"/>
              </a:lnSpc>
            </a:pPr>
            <a:r>
              <a:rPr lang="en-US" sz="4750">
                <a:solidFill>
                  <a:srgbClr val="F98AC7"/>
                </a:solidFill>
                <a:latin typeface="Lora"/>
                <a:ea typeface="Lora"/>
                <a:cs typeface="Lora"/>
                <a:sym typeface="Lora"/>
              </a:rPr>
              <a:t>Problems with Traditional Systems</a:t>
            </a:r>
          </a:p>
        </p:txBody>
      </p:sp>
      <p:grpSp>
        <p:nvGrpSpPr>
          <p:cNvPr id="7" name="Group 7"/>
          <p:cNvGrpSpPr/>
          <p:nvPr/>
        </p:nvGrpSpPr>
        <p:grpSpPr>
          <a:xfrm>
            <a:off x="889845" y="2530678"/>
            <a:ext cx="8156972" cy="2270817"/>
            <a:chOff x="0" y="0"/>
            <a:chExt cx="10875962" cy="3027756"/>
          </a:xfrm>
        </p:grpSpPr>
        <p:sp>
          <p:nvSpPr>
            <p:cNvPr id="8" name="Freeform 8"/>
            <p:cNvSpPr/>
            <p:nvPr/>
          </p:nvSpPr>
          <p:spPr>
            <a:xfrm>
              <a:off x="19050" y="19050"/>
              <a:ext cx="10837800" cy="2989707"/>
            </a:xfrm>
            <a:custGeom>
              <a:avLst/>
              <a:gdLst/>
              <a:ahLst/>
              <a:cxnLst/>
              <a:rect l="l" t="t" r="r" b="b"/>
              <a:pathLst>
                <a:path w="10837800" h="2989707">
                  <a:moveTo>
                    <a:pt x="0" y="182880"/>
                  </a:moveTo>
                  <a:cubicBezTo>
                    <a:pt x="0" y="81915"/>
                    <a:pt x="82677" y="0"/>
                    <a:pt x="184531" y="0"/>
                  </a:cubicBezTo>
                  <a:lnTo>
                    <a:pt x="10653268" y="0"/>
                  </a:lnTo>
                  <a:cubicBezTo>
                    <a:pt x="10755250" y="0"/>
                    <a:pt x="10837800" y="81915"/>
                    <a:pt x="10837800" y="182880"/>
                  </a:cubicBezTo>
                  <a:lnTo>
                    <a:pt x="10837800" y="2806827"/>
                  </a:lnTo>
                  <a:cubicBezTo>
                    <a:pt x="10837800" y="2907792"/>
                    <a:pt x="10755123" y="2989707"/>
                    <a:pt x="10653268" y="2989707"/>
                  </a:cubicBezTo>
                  <a:lnTo>
                    <a:pt x="184531" y="2989707"/>
                  </a:lnTo>
                  <a:cubicBezTo>
                    <a:pt x="82550" y="2989707"/>
                    <a:pt x="0" y="2907792"/>
                    <a:pt x="0" y="2806827"/>
                  </a:cubicBezTo>
                  <a:close/>
                </a:path>
              </a:pathLst>
            </a:custGeom>
            <a:solidFill>
              <a:srgbClr val="252833"/>
            </a:solidFill>
          </p:spPr>
        </p:sp>
        <p:sp>
          <p:nvSpPr>
            <p:cNvPr id="9" name="Freeform 9"/>
            <p:cNvSpPr/>
            <p:nvPr/>
          </p:nvSpPr>
          <p:spPr>
            <a:xfrm>
              <a:off x="0" y="0"/>
              <a:ext cx="10875900" cy="3027807"/>
            </a:xfrm>
            <a:custGeom>
              <a:avLst/>
              <a:gdLst/>
              <a:ahLst/>
              <a:cxnLst/>
              <a:rect l="l" t="t" r="r" b="b"/>
              <a:pathLst>
                <a:path w="10875900" h="3027807">
                  <a:moveTo>
                    <a:pt x="0" y="201930"/>
                  </a:moveTo>
                  <a:cubicBezTo>
                    <a:pt x="0" y="90297"/>
                    <a:pt x="91313" y="0"/>
                    <a:pt x="203581" y="0"/>
                  </a:cubicBezTo>
                  <a:lnTo>
                    <a:pt x="10672318" y="0"/>
                  </a:lnTo>
                  <a:lnTo>
                    <a:pt x="10672318" y="19050"/>
                  </a:lnTo>
                  <a:lnTo>
                    <a:pt x="10672318" y="0"/>
                  </a:lnTo>
                  <a:cubicBezTo>
                    <a:pt x="10784587" y="0"/>
                    <a:pt x="10875900" y="90297"/>
                    <a:pt x="10875900" y="201930"/>
                  </a:cubicBezTo>
                  <a:lnTo>
                    <a:pt x="10856850" y="201930"/>
                  </a:lnTo>
                  <a:lnTo>
                    <a:pt x="10875900" y="201930"/>
                  </a:lnTo>
                  <a:lnTo>
                    <a:pt x="10875900" y="2825877"/>
                  </a:lnTo>
                  <a:lnTo>
                    <a:pt x="10856850" y="2825877"/>
                  </a:lnTo>
                  <a:lnTo>
                    <a:pt x="10875900" y="2825877"/>
                  </a:lnTo>
                  <a:cubicBezTo>
                    <a:pt x="10875900" y="2937510"/>
                    <a:pt x="10784587" y="3027807"/>
                    <a:pt x="10672318" y="3027807"/>
                  </a:cubicBezTo>
                  <a:lnTo>
                    <a:pt x="10672318" y="3008757"/>
                  </a:lnTo>
                  <a:lnTo>
                    <a:pt x="10672318" y="3027807"/>
                  </a:lnTo>
                  <a:lnTo>
                    <a:pt x="203581" y="3027807"/>
                  </a:lnTo>
                  <a:lnTo>
                    <a:pt x="203581" y="3008757"/>
                  </a:lnTo>
                  <a:lnTo>
                    <a:pt x="203581" y="3027807"/>
                  </a:lnTo>
                  <a:cubicBezTo>
                    <a:pt x="91313" y="3027807"/>
                    <a:pt x="0" y="2937510"/>
                    <a:pt x="0" y="2825877"/>
                  </a:cubicBezTo>
                  <a:lnTo>
                    <a:pt x="0" y="201930"/>
                  </a:lnTo>
                  <a:lnTo>
                    <a:pt x="19050" y="201930"/>
                  </a:lnTo>
                  <a:lnTo>
                    <a:pt x="0" y="201930"/>
                  </a:lnTo>
                  <a:moveTo>
                    <a:pt x="38100" y="201930"/>
                  </a:moveTo>
                  <a:lnTo>
                    <a:pt x="38100" y="2825877"/>
                  </a:lnTo>
                  <a:lnTo>
                    <a:pt x="19050" y="2825877"/>
                  </a:lnTo>
                  <a:lnTo>
                    <a:pt x="38100" y="2825877"/>
                  </a:lnTo>
                  <a:cubicBezTo>
                    <a:pt x="38100" y="2916174"/>
                    <a:pt x="112014" y="2989707"/>
                    <a:pt x="203581" y="2989707"/>
                  </a:cubicBezTo>
                  <a:lnTo>
                    <a:pt x="10672318" y="2989707"/>
                  </a:lnTo>
                  <a:cubicBezTo>
                    <a:pt x="10763886" y="2989707"/>
                    <a:pt x="10837800" y="2916174"/>
                    <a:pt x="10837800" y="2825877"/>
                  </a:cubicBezTo>
                  <a:lnTo>
                    <a:pt x="10837800" y="201930"/>
                  </a:lnTo>
                  <a:cubicBezTo>
                    <a:pt x="10837800" y="111633"/>
                    <a:pt x="10763886" y="38100"/>
                    <a:pt x="10672318" y="38100"/>
                  </a:cubicBezTo>
                  <a:lnTo>
                    <a:pt x="203581" y="38100"/>
                  </a:lnTo>
                  <a:lnTo>
                    <a:pt x="203581" y="19050"/>
                  </a:lnTo>
                  <a:lnTo>
                    <a:pt x="203581" y="38100"/>
                  </a:lnTo>
                  <a:cubicBezTo>
                    <a:pt x="112014" y="38100"/>
                    <a:pt x="38100" y="111633"/>
                    <a:pt x="38100" y="201930"/>
                  </a:cubicBezTo>
                  <a:close/>
                </a:path>
              </a:pathLst>
            </a:custGeom>
            <a:solidFill>
              <a:srgbClr val="325F7B"/>
            </a:solidFill>
          </p:spPr>
        </p:sp>
      </p:grpSp>
      <p:grpSp>
        <p:nvGrpSpPr>
          <p:cNvPr id="10" name="Group 10"/>
          <p:cNvGrpSpPr/>
          <p:nvPr/>
        </p:nvGrpSpPr>
        <p:grpSpPr>
          <a:xfrm>
            <a:off x="875557" y="2544966"/>
            <a:ext cx="114300" cy="2242242"/>
            <a:chOff x="0" y="0"/>
            <a:chExt cx="152400" cy="2989656"/>
          </a:xfrm>
        </p:grpSpPr>
        <p:sp>
          <p:nvSpPr>
            <p:cNvPr id="11" name="Freeform 11"/>
            <p:cNvSpPr/>
            <p:nvPr/>
          </p:nvSpPr>
          <p:spPr>
            <a:xfrm>
              <a:off x="0" y="0"/>
              <a:ext cx="152400" cy="2989707"/>
            </a:xfrm>
            <a:custGeom>
              <a:avLst/>
              <a:gdLst/>
              <a:ahLst/>
              <a:cxnLst/>
              <a:rect l="l" t="t" r="r" b="b"/>
              <a:pathLst>
                <a:path w="152400" h="2989707">
                  <a:moveTo>
                    <a:pt x="0" y="51689"/>
                  </a:moveTo>
                  <a:cubicBezTo>
                    <a:pt x="0" y="23114"/>
                    <a:pt x="23114" y="0"/>
                    <a:pt x="51689" y="0"/>
                  </a:cubicBezTo>
                  <a:lnTo>
                    <a:pt x="100711" y="0"/>
                  </a:lnTo>
                  <a:cubicBezTo>
                    <a:pt x="129286" y="0"/>
                    <a:pt x="152400" y="23114"/>
                    <a:pt x="152400" y="51689"/>
                  </a:cubicBezTo>
                  <a:lnTo>
                    <a:pt x="152400" y="2938018"/>
                  </a:lnTo>
                  <a:cubicBezTo>
                    <a:pt x="152400" y="2966593"/>
                    <a:pt x="129286" y="2989707"/>
                    <a:pt x="100711" y="2989707"/>
                  </a:cubicBezTo>
                  <a:lnTo>
                    <a:pt x="51689" y="2989707"/>
                  </a:lnTo>
                  <a:cubicBezTo>
                    <a:pt x="23114" y="2989707"/>
                    <a:pt x="0" y="2966593"/>
                    <a:pt x="0" y="2938018"/>
                  </a:cubicBezTo>
                  <a:close/>
                </a:path>
              </a:pathLst>
            </a:custGeom>
            <a:solidFill>
              <a:srgbClr val="325F7B"/>
            </a:solidFill>
          </p:spPr>
        </p:sp>
      </p:grpSp>
      <p:sp>
        <p:nvSpPr>
          <p:cNvPr id="12" name="TextBox 12"/>
          <p:cNvSpPr txBox="1"/>
          <p:nvPr/>
        </p:nvSpPr>
        <p:spPr>
          <a:xfrm>
            <a:off x="1276645" y="2822229"/>
            <a:ext cx="3322587" cy="389334"/>
          </a:xfrm>
          <a:prstGeom prst="rect">
            <a:avLst/>
          </a:prstGeom>
        </p:spPr>
        <p:txBody>
          <a:bodyPr lIns="0" tIns="0" rIns="0" bIns="0" rtlCol="0" anchor="t">
            <a:spAutoFit/>
          </a:bodyPr>
          <a:lstStyle/>
          <a:p>
            <a:pPr algn="l">
              <a:lnSpc>
                <a:spcPts val="2937"/>
              </a:lnSpc>
            </a:pPr>
            <a:r>
              <a:rPr lang="en-US" sz="2375">
                <a:solidFill>
                  <a:srgbClr val="D6E5EF"/>
                </a:solidFill>
                <a:latin typeface="Lora"/>
                <a:ea typeface="Lora"/>
                <a:cs typeface="Lora"/>
                <a:sym typeface="Lora"/>
              </a:rPr>
              <a:t>Manual Documentation</a:t>
            </a:r>
          </a:p>
        </p:txBody>
      </p:sp>
      <p:sp>
        <p:nvSpPr>
          <p:cNvPr id="13" name="TextBox 13"/>
          <p:cNvSpPr txBox="1"/>
          <p:nvPr/>
        </p:nvSpPr>
        <p:spPr>
          <a:xfrm>
            <a:off x="1276645" y="3278686"/>
            <a:ext cx="7469086" cy="1221734"/>
          </a:xfrm>
          <a:prstGeom prst="rect">
            <a:avLst/>
          </a:prstGeom>
        </p:spPr>
        <p:txBody>
          <a:bodyPr lIns="0" tIns="0" rIns="0" bIns="0" rtlCol="0" anchor="t">
            <a:spAutoFit/>
          </a:bodyPr>
          <a:lstStyle/>
          <a:p>
            <a:pPr algn="l">
              <a:lnSpc>
                <a:spcPts val="3000"/>
              </a:lnSpc>
            </a:pPr>
            <a:r>
              <a:rPr lang="en-US" sz="2000">
                <a:solidFill>
                  <a:srgbClr val="D6E5EF"/>
                </a:solidFill>
                <a:latin typeface="Source Sans 3"/>
                <a:ea typeface="Source Sans 3"/>
                <a:cs typeface="Source Sans 3"/>
                <a:sym typeface="Source Sans 3"/>
              </a:rPr>
              <a:t>Policy subscriptions and risk assessments handled through paperwork and physical documentation, increasing administrative burden</a:t>
            </a:r>
          </a:p>
        </p:txBody>
      </p:sp>
      <p:grpSp>
        <p:nvGrpSpPr>
          <p:cNvPr id="14" name="Group 14"/>
          <p:cNvGrpSpPr/>
          <p:nvPr/>
        </p:nvGrpSpPr>
        <p:grpSpPr>
          <a:xfrm>
            <a:off x="9241184" y="2530678"/>
            <a:ext cx="8156972" cy="2270817"/>
            <a:chOff x="0" y="0"/>
            <a:chExt cx="10875962" cy="3027756"/>
          </a:xfrm>
        </p:grpSpPr>
        <p:sp>
          <p:nvSpPr>
            <p:cNvPr id="15" name="Freeform 15"/>
            <p:cNvSpPr/>
            <p:nvPr/>
          </p:nvSpPr>
          <p:spPr>
            <a:xfrm>
              <a:off x="19050" y="19050"/>
              <a:ext cx="10837800" cy="2989707"/>
            </a:xfrm>
            <a:custGeom>
              <a:avLst/>
              <a:gdLst/>
              <a:ahLst/>
              <a:cxnLst/>
              <a:rect l="l" t="t" r="r" b="b"/>
              <a:pathLst>
                <a:path w="10837800" h="2989707">
                  <a:moveTo>
                    <a:pt x="0" y="182880"/>
                  </a:moveTo>
                  <a:cubicBezTo>
                    <a:pt x="0" y="81915"/>
                    <a:pt x="82677" y="0"/>
                    <a:pt x="184531" y="0"/>
                  </a:cubicBezTo>
                  <a:lnTo>
                    <a:pt x="10653268" y="0"/>
                  </a:lnTo>
                  <a:cubicBezTo>
                    <a:pt x="10755250" y="0"/>
                    <a:pt x="10837800" y="81915"/>
                    <a:pt x="10837800" y="182880"/>
                  </a:cubicBezTo>
                  <a:lnTo>
                    <a:pt x="10837800" y="2806827"/>
                  </a:lnTo>
                  <a:cubicBezTo>
                    <a:pt x="10837800" y="2907792"/>
                    <a:pt x="10755123" y="2989707"/>
                    <a:pt x="10653268" y="2989707"/>
                  </a:cubicBezTo>
                  <a:lnTo>
                    <a:pt x="184531" y="2989707"/>
                  </a:lnTo>
                  <a:cubicBezTo>
                    <a:pt x="82550" y="2989707"/>
                    <a:pt x="0" y="2907792"/>
                    <a:pt x="0" y="2806827"/>
                  </a:cubicBezTo>
                  <a:close/>
                </a:path>
              </a:pathLst>
            </a:custGeom>
            <a:solidFill>
              <a:srgbClr val="252833"/>
            </a:solidFill>
          </p:spPr>
        </p:sp>
        <p:sp>
          <p:nvSpPr>
            <p:cNvPr id="16" name="Freeform 16"/>
            <p:cNvSpPr/>
            <p:nvPr/>
          </p:nvSpPr>
          <p:spPr>
            <a:xfrm>
              <a:off x="0" y="0"/>
              <a:ext cx="10875900" cy="3027807"/>
            </a:xfrm>
            <a:custGeom>
              <a:avLst/>
              <a:gdLst/>
              <a:ahLst/>
              <a:cxnLst/>
              <a:rect l="l" t="t" r="r" b="b"/>
              <a:pathLst>
                <a:path w="10875900" h="3027807">
                  <a:moveTo>
                    <a:pt x="0" y="201930"/>
                  </a:moveTo>
                  <a:cubicBezTo>
                    <a:pt x="0" y="90297"/>
                    <a:pt x="91313" y="0"/>
                    <a:pt x="203581" y="0"/>
                  </a:cubicBezTo>
                  <a:lnTo>
                    <a:pt x="10672318" y="0"/>
                  </a:lnTo>
                  <a:lnTo>
                    <a:pt x="10672318" y="19050"/>
                  </a:lnTo>
                  <a:lnTo>
                    <a:pt x="10672318" y="0"/>
                  </a:lnTo>
                  <a:cubicBezTo>
                    <a:pt x="10784587" y="0"/>
                    <a:pt x="10875900" y="90297"/>
                    <a:pt x="10875900" y="201930"/>
                  </a:cubicBezTo>
                  <a:lnTo>
                    <a:pt x="10856850" y="201930"/>
                  </a:lnTo>
                  <a:lnTo>
                    <a:pt x="10875900" y="201930"/>
                  </a:lnTo>
                  <a:lnTo>
                    <a:pt x="10875900" y="2825877"/>
                  </a:lnTo>
                  <a:lnTo>
                    <a:pt x="10856850" y="2825877"/>
                  </a:lnTo>
                  <a:lnTo>
                    <a:pt x="10875900" y="2825877"/>
                  </a:lnTo>
                  <a:cubicBezTo>
                    <a:pt x="10875900" y="2937510"/>
                    <a:pt x="10784587" y="3027807"/>
                    <a:pt x="10672318" y="3027807"/>
                  </a:cubicBezTo>
                  <a:lnTo>
                    <a:pt x="10672318" y="3008757"/>
                  </a:lnTo>
                  <a:lnTo>
                    <a:pt x="10672318" y="3027807"/>
                  </a:lnTo>
                  <a:lnTo>
                    <a:pt x="203581" y="3027807"/>
                  </a:lnTo>
                  <a:lnTo>
                    <a:pt x="203581" y="3008757"/>
                  </a:lnTo>
                  <a:lnTo>
                    <a:pt x="203581" y="3027807"/>
                  </a:lnTo>
                  <a:cubicBezTo>
                    <a:pt x="91313" y="3027807"/>
                    <a:pt x="0" y="2937510"/>
                    <a:pt x="0" y="2825877"/>
                  </a:cubicBezTo>
                  <a:lnTo>
                    <a:pt x="0" y="201930"/>
                  </a:lnTo>
                  <a:lnTo>
                    <a:pt x="19050" y="201930"/>
                  </a:lnTo>
                  <a:lnTo>
                    <a:pt x="0" y="201930"/>
                  </a:lnTo>
                  <a:moveTo>
                    <a:pt x="38100" y="201930"/>
                  </a:moveTo>
                  <a:lnTo>
                    <a:pt x="38100" y="2825877"/>
                  </a:lnTo>
                  <a:lnTo>
                    <a:pt x="19050" y="2825877"/>
                  </a:lnTo>
                  <a:lnTo>
                    <a:pt x="38100" y="2825877"/>
                  </a:lnTo>
                  <a:cubicBezTo>
                    <a:pt x="38100" y="2916174"/>
                    <a:pt x="112014" y="2989707"/>
                    <a:pt x="203581" y="2989707"/>
                  </a:cubicBezTo>
                  <a:lnTo>
                    <a:pt x="10672318" y="2989707"/>
                  </a:lnTo>
                  <a:cubicBezTo>
                    <a:pt x="10763886" y="2989707"/>
                    <a:pt x="10837800" y="2916174"/>
                    <a:pt x="10837800" y="2825877"/>
                  </a:cubicBezTo>
                  <a:lnTo>
                    <a:pt x="10837800" y="201930"/>
                  </a:lnTo>
                  <a:cubicBezTo>
                    <a:pt x="10837800" y="111633"/>
                    <a:pt x="10763886" y="38100"/>
                    <a:pt x="10672318" y="38100"/>
                  </a:cubicBezTo>
                  <a:lnTo>
                    <a:pt x="203581" y="38100"/>
                  </a:lnTo>
                  <a:lnTo>
                    <a:pt x="203581" y="19050"/>
                  </a:lnTo>
                  <a:lnTo>
                    <a:pt x="203581" y="38100"/>
                  </a:lnTo>
                  <a:cubicBezTo>
                    <a:pt x="112014" y="38100"/>
                    <a:pt x="38100" y="111633"/>
                    <a:pt x="38100" y="201930"/>
                  </a:cubicBezTo>
                  <a:close/>
                </a:path>
              </a:pathLst>
            </a:custGeom>
            <a:solidFill>
              <a:srgbClr val="325F7B"/>
            </a:solidFill>
          </p:spPr>
        </p:sp>
      </p:grpSp>
      <p:grpSp>
        <p:nvGrpSpPr>
          <p:cNvPr id="17" name="Group 17"/>
          <p:cNvGrpSpPr/>
          <p:nvPr/>
        </p:nvGrpSpPr>
        <p:grpSpPr>
          <a:xfrm>
            <a:off x="9226896" y="2544966"/>
            <a:ext cx="114300" cy="2242242"/>
            <a:chOff x="0" y="0"/>
            <a:chExt cx="152400" cy="2989656"/>
          </a:xfrm>
        </p:grpSpPr>
        <p:sp>
          <p:nvSpPr>
            <p:cNvPr id="18" name="Freeform 18"/>
            <p:cNvSpPr/>
            <p:nvPr/>
          </p:nvSpPr>
          <p:spPr>
            <a:xfrm>
              <a:off x="0" y="0"/>
              <a:ext cx="152400" cy="2989707"/>
            </a:xfrm>
            <a:custGeom>
              <a:avLst/>
              <a:gdLst/>
              <a:ahLst/>
              <a:cxnLst/>
              <a:rect l="l" t="t" r="r" b="b"/>
              <a:pathLst>
                <a:path w="152400" h="2989707">
                  <a:moveTo>
                    <a:pt x="0" y="51689"/>
                  </a:moveTo>
                  <a:cubicBezTo>
                    <a:pt x="0" y="23114"/>
                    <a:pt x="23114" y="0"/>
                    <a:pt x="51689" y="0"/>
                  </a:cubicBezTo>
                  <a:lnTo>
                    <a:pt x="100711" y="0"/>
                  </a:lnTo>
                  <a:cubicBezTo>
                    <a:pt x="129286" y="0"/>
                    <a:pt x="152400" y="23114"/>
                    <a:pt x="152400" y="51689"/>
                  </a:cubicBezTo>
                  <a:lnTo>
                    <a:pt x="152400" y="2938018"/>
                  </a:lnTo>
                  <a:cubicBezTo>
                    <a:pt x="152400" y="2966593"/>
                    <a:pt x="129286" y="2989707"/>
                    <a:pt x="100711" y="2989707"/>
                  </a:cubicBezTo>
                  <a:lnTo>
                    <a:pt x="51689" y="2989707"/>
                  </a:lnTo>
                  <a:cubicBezTo>
                    <a:pt x="23114" y="2989707"/>
                    <a:pt x="0" y="2966593"/>
                    <a:pt x="0" y="2938018"/>
                  </a:cubicBezTo>
                  <a:close/>
                </a:path>
              </a:pathLst>
            </a:custGeom>
            <a:solidFill>
              <a:srgbClr val="325F7B"/>
            </a:solidFill>
          </p:spPr>
        </p:sp>
      </p:grpSp>
      <p:sp>
        <p:nvSpPr>
          <p:cNvPr id="19" name="TextBox 19"/>
          <p:cNvSpPr txBox="1"/>
          <p:nvPr/>
        </p:nvSpPr>
        <p:spPr>
          <a:xfrm>
            <a:off x="9627984" y="2822229"/>
            <a:ext cx="3039066" cy="389334"/>
          </a:xfrm>
          <a:prstGeom prst="rect">
            <a:avLst/>
          </a:prstGeom>
        </p:spPr>
        <p:txBody>
          <a:bodyPr lIns="0" tIns="0" rIns="0" bIns="0" rtlCol="0" anchor="t">
            <a:spAutoFit/>
          </a:bodyPr>
          <a:lstStyle/>
          <a:p>
            <a:pPr algn="l">
              <a:lnSpc>
                <a:spcPts val="2937"/>
              </a:lnSpc>
            </a:pPr>
            <a:r>
              <a:rPr lang="en-US" sz="2375">
                <a:solidFill>
                  <a:srgbClr val="D6E5EF"/>
                </a:solidFill>
                <a:latin typeface="Lora"/>
                <a:ea typeface="Lora"/>
                <a:cs typeface="Lora"/>
                <a:sym typeface="Lora"/>
              </a:rPr>
              <a:t>Data Entry Errors</a:t>
            </a:r>
          </a:p>
        </p:txBody>
      </p:sp>
      <p:sp>
        <p:nvSpPr>
          <p:cNvPr id="20" name="TextBox 20"/>
          <p:cNvSpPr txBox="1"/>
          <p:nvPr/>
        </p:nvSpPr>
        <p:spPr>
          <a:xfrm>
            <a:off x="9627984" y="3278686"/>
            <a:ext cx="7469086" cy="836714"/>
          </a:xfrm>
          <a:prstGeom prst="rect">
            <a:avLst/>
          </a:prstGeom>
        </p:spPr>
        <p:txBody>
          <a:bodyPr lIns="0" tIns="0" rIns="0" bIns="0" rtlCol="0" anchor="t">
            <a:spAutoFit/>
          </a:bodyPr>
          <a:lstStyle/>
          <a:p>
            <a:pPr algn="l">
              <a:lnSpc>
                <a:spcPts val="3000"/>
              </a:lnSpc>
            </a:pPr>
            <a:r>
              <a:rPr lang="en-US" sz="2000">
                <a:solidFill>
                  <a:srgbClr val="D6E5EF"/>
                </a:solidFill>
                <a:latin typeface="Source Sans 3"/>
                <a:ea typeface="Source Sans 3"/>
                <a:cs typeface="Source Sans 3"/>
                <a:sym typeface="Source Sans 3"/>
              </a:rPr>
              <a:t>Heavy dependence on manual processes introduces data entry errors and inconsistent evaluations across different events</a:t>
            </a:r>
          </a:p>
        </p:txBody>
      </p:sp>
      <p:grpSp>
        <p:nvGrpSpPr>
          <p:cNvPr id="21" name="Group 21"/>
          <p:cNvGrpSpPr/>
          <p:nvPr/>
        </p:nvGrpSpPr>
        <p:grpSpPr>
          <a:xfrm>
            <a:off x="889845" y="4995862"/>
            <a:ext cx="8156972" cy="1885798"/>
            <a:chOff x="0" y="0"/>
            <a:chExt cx="10875962" cy="2514397"/>
          </a:xfrm>
        </p:grpSpPr>
        <p:sp>
          <p:nvSpPr>
            <p:cNvPr id="22" name="Freeform 22"/>
            <p:cNvSpPr/>
            <p:nvPr/>
          </p:nvSpPr>
          <p:spPr>
            <a:xfrm>
              <a:off x="19050" y="19050"/>
              <a:ext cx="10837926" cy="2476246"/>
            </a:xfrm>
            <a:custGeom>
              <a:avLst/>
              <a:gdLst/>
              <a:ahLst/>
              <a:cxnLst/>
              <a:rect l="l" t="t" r="r" b="b"/>
              <a:pathLst>
                <a:path w="10837926" h="2476246">
                  <a:moveTo>
                    <a:pt x="0" y="182880"/>
                  </a:moveTo>
                  <a:cubicBezTo>
                    <a:pt x="0" y="81915"/>
                    <a:pt x="82804" y="0"/>
                    <a:pt x="185039" y="0"/>
                  </a:cubicBezTo>
                  <a:lnTo>
                    <a:pt x="10652887" y="0"/>
                  </a:lnTo>
                  <a:cubicBezTo>
                    <a:pt x="10755122" y="0"/>
                    <a:pt x="10837926" y="81915"/>
                    <a:pt x="10837926" y="182880"/>
                  </a:cubicBezTo>
                  <a:lnTo>
                    <a:pt x="10837926" y="2293366"/>
                  </a:lnTo>
                  <a:cubicBezTo>
                    <a:pt x="10837926" y="2394331"/>
                    <a:pt x="10755122" y="2476246"/>
                    <a:pt x="10652887" y="2476246"/>
                  </a:cubicBezTo>
                  <a:lnTo>
                    <a:pt x="185039" y="2476246"/>
                  </a:lnTo>
                  <a:cubicBezTo>
                    <a:pt x="82804" y="2476246"/>
                    <a:pt x="0" y="2394331"/>
                    <a:pt x="0" y="2293366"/>
                  </a:cubicBezTo>
                  <a:close/>
                </a:path>
              </a:pathLst>
            </a:custGeom>
            <a:solidFill>
              <a:srgbClr val="252833"/>
            </a:solidFill>
          </p:spPr>
        </p:sp>
        <p:sp>
          <p:nvSpPr>
            <p:cNvPr id="23" name="Freeform 23"/>
            <p:cNvSpPr/>
            <p:nvPr/>
          </p:nvSpPr>
          <p:spPr>
            <a:xfrm>
              <a:off x="0" y="0"/>
              <a:ext cx="10876026" cy="2514346"/>
            </a:xfrm>
            <a:custGeom>
              <a:avLst/>
              <a:gdLst/>
              <a:ahLst/>
              <a:cxnLst/>
              <a:rect l="l" t="t" r="r" b="b"/>
              <a:pathLst>
                <a:path w="10876026" h="2514346">
                  <a:moveTo>
                    <a:pt x="0" y="201930"/>
                  </a:moveTo>
                  <a:cubicBezTo>
                    <a:pt x="0" y="90170"/>
                    <a:pt x="91567" y="0"/>
                    <a:pt x="204089" y="0"/>
                  </a:cubicBezTo>
                  <a:lnTo>
                    <a:pt x="10671937" y="0"/>
                  </a:lnTo>
                  <a:lnTo>
                    <a:pt x="10671937" y="19050"/>
                  </a:lnTo>
                  <a:lnTo>
                    <a:pt x="10671937" y="0"/>
                  </a:lnTo>
                  <a:cubicBezTo>
                    <a:pt x="10784459" y="0"/>
                    <a:pt x="10876026" y="90170"/>
                    <a:pt x="10876026" y="201930"/>
                  </a:cubicBezTo>
                  <a:lnTo>
                    <a:pt x="10856976" y="201930"/>
                  </a:lnTo>
                  <a:lnTo>
                    <a:pt x="10876026" y="201930"/>
                  </a:lnTo>
                  <a:lnTo>
                    <a:pt x="10876026" y="2312416"/>
                  </a:lnTo>
                  <a:lnTo>
                    <a:pt x="10856976" y="2312416"/>
                  </a:lnTo>
                  <a:lnTo>
                    <a:pt x="10876026" y="2312416"/>
                  </a:lnTo>
                  <a:cubicBezTo>
                    <a:pt x="10876026" y="2424176"/>
                    <a:pt x="10784459" y="2514346"/>
                    <a:pt x="10671937" y="2514346"/>
                  </a:cubicBezTo>
                  <a:lnTo>
                    <a:pt x="10671937" y="2495296"/>
                  </a:lnTo>
                  <a:lnTo>
                    <a:pt x="10671937" y="2514346"/>
                  </a:lnTo>
                  <a:lnTo>
                    <a:pt x="204089" y="2514346"/>
                  </a:lnTo>
                  <a:lnTo>
                    <a:pt x="204089" y="2495296"/>
                  </a:lnTo>
                  <a:lnTo>
                    <a:pt x="204089" y="2514346"/>
                  </a:lnTo>
                  <a:cubicBezTo>
                    <a:pt x="91567" y="2514346"/>
                    <a:pt x="0" y="2424176"/>
                    <a:pt x="0" y="2312416"/>
                  </a:cubicBezTo>
                  <a:lnTo>
                    <a:pt x="0" y="201930"/>
                  </a:lnTo>
                  <a:lnTo>
                    <a:pt x="19050" y="201930"/>
                  </a:lnTo>
                  <a:lnTo>
                    <a:pt x="0" y="201930"/>
                  </a:lnTo>
                  <a:moveTo>
                    <a:pt x="38100" y="201930"/>
                  </a:moveTo>
                  <a:lnTo>
                    <a:pt x="38100" y="2312416"/>
                  </a:lnTo>
                  <a:lnTo>
                    <a:pt x="19050" y="2312416"/>
                  </a:lnTo>
                  <a:lnTo>
                    <a:pt x="38100" y="2312416"/>
                  </a:lnTo>
                  <a:cubicBezTo>
                    <a:pt x="38100" y="2402713"/>
                    <a:pt x="112141" y="2476246"/>
                    <a:pt x="204089" y="2476246"/>
                  </a:cubicBezTo>
                  <a:lnTo>
                    <a:pt x="10671937" y="2476246"/>
                  </a:lnTo>
                  <a:cubicBezTo>
                    <a:pt x="10763885" y="2476246"/>
                    <a:pt x="10837926" y="2402713"/>
                    <a:pt x="10837926" y="2312416"/>
                  </a:cubicBezTo>
                  <a:lnTo>
                    <a:pt x="10837926" y="201930"/>
                  </a:lnTo>
                  <a:cubicBezTo>
                    <a:pt x="10837926" y="111633"/>
                    <a:pt x="10763885" y="38100"/>
                    <a:pt x="10671937" y="38100"/>
                  </a:cubicBezTo>
                  <a:lnTo>
                    <a:pt x="204089" y="38100"/>
                  </a:lnTo>
                  <a:lnTo>
                    <a:pt x="204089" y="19050"/>
                  </a:lnTo>
                  <a:lnTo>
                    <a:pt x="204089" y="38100"/>
                  </a:lnTo>
                  <a:cubicBezTo>
                    <a:pt x="112141" y="38100"/>
                    <a:pt x="38100" y="111633"/>
                    <a:pt x="38100" y="201930"/>
                  </a:cubicBezTo>
                  <a:close/>
                </a:path>
              </a:pathLst>
            </a:custGeom>
            <a:solidFill>
              <a:srgbClr val="325F7B"/>
            </a:solidFill>
          </p:spPr>
        </p:sp>
      </p:grpSp>
      <p:grpSp>
        <p:nvGrpSpPr>
          <p:cNvPr id="24" name="Group 24"/>
          <p:cNvGrpSpPr/>
          <p:nvPr/>
        </p:nvGrpSpPr>
        <p:grpSpPr>
          <a:xfrm>
            <a:off x="875557" y="5010150"/>
            <a:ext cx="114300" cy="1857223"/>
            <a:chOff x="0" y="0"/>
            <a:chExt cx="152400" cy="2476297"/>
          </a:xfrm>
        </p:grpSpPr>
        <p:sp>
          <p:nvSpPr>
            <p:cNvPr id="25" name="Freeform 25"/>
            <p:cNvSpPr/>
            <p:nvPr/>
          </p:nvSpPr>
          <p:spPr>
            <a:xfrm>
              <a:off x="0" y="0"/>
              <a:ext cx="152400" cy="2476373"/>
            </a:xfrm>
            <a:custGeom>
              <a:avLst/>
              <a:gdLst/>
              <a:ahLst/>
              <a:cxnLst/>
              <a:rect l="l" t="t" r="r" b="b"/>
              <a:pathLst>
                <a:path w="152400" h="2476373">
                  <a:moveTo>
                    <a:pt x="0" y="51689"/>
                  </a:moveTo>
                  <a:cubicBezTo>
                    <a:pt x="0" y="23114"/>
                    <a:pt x="23114" y="0"/>
                    <a:pt x="51689" y="0"/>
                  </a:cubicBezTo>
                  <a:lnTo>
                    <a:pt x="100711" y="0"/>
                  </a:lnTo>
                  <a:cubicBezTo>
                    <a:pt x="129286" y="0"/>
                    <a:pt x="152400" y="23114"/>
                    <a:pt x="152400" y="51689"/>
                  </a:cubicBezTo>
                  <a:lnTo>
                    <a:pt x="152400" y="2424684"/>
                  </a:lnTo>
                  <a:cubicBezTo>
                    <a:pt x="152400" y="2453259"/>
                    <a:pt x="129286" y="2476373"/>
                    <a:pt x="100711" y="2476373"/>
                  </a:cubicBezTo>
                  <a:lnTo>
                    <a:pt x="51689" y="2476373"/>
                  </a:lnTo>
                  <a:cubicBezTo>
                    <a:pt x="23114" y="2476373"/>
                    <a:pt x="0" y="2453259"/>
                    <a:pt x="0" y="2424684"/>
                  </a:cubicBezTo>
                  <a:close/>
                </a:path>
              </a:pathLst>
            </a:custGeom>
            <a:solidFill>
              <a:srgbClr val="325F7B"/>
            </a:solidFill>
          </p:spPr>
        </p:sp>
      </p:grpSp>
      <p:sp>
        <p:nvSpPr>
          <p:cNvPr id="26" name="TextBox 26"/>
          <p:cNvSpPr txBox="1"/>
          <p:nvPr/>
        </p:nvSpPr>
        <p:spPr>
          <a:xfrm>
            <a:off x="1276645" y="5287413"/>
            <a:ext cx="3039066" cy="389334"/>
          </a:xfrm>
          <a:prstGeom prst="rect">
            <a:avLst/>
          </a:prstGeom>
        </p:spPr>
        <p:txBody>
          <a:bodyPr lIns="0" tIns="0" rIns="0" bIns="0" rtlCol="0" anchor="t">
            <a:spAutoFit/>
          </a:bodyPr>
          <a:lstStyle/>
          <a:p>
            <a:pPr algn="l">
              <a:lnSpc>
                <a:spcPts val="2937"/>
              </a:lnSpc>
            </a:pPr>
            <a:r>
              <a:rPr lang="en-US" sz="2375">
                <a:solidFill>
                  <a:srgbClr val="D6E5EF"/>
                </a:solidFill>
                <a:latin typeface="Lora"/>
                <a:ea typeface="Lora"/>
                <a:cs typeface="Lora"/>
                <a:sym typeface="Lora"/>
              </a:rPr>
              <a:t>Delayed Approvals</a:t>
            </a:r>
          </a:p>
        </p:txBody>
      </p:sp>
      <p:sp>
        <p:nvSpPr>
          <p:cNvPr id="27" name="TextBox 27"/>
          <p:cNvSpPr txBox="1"/>
          <p:nvPr/>
        </p:nvSpPr>
        <p:spPr>
          <a:xfrm>
            <a:off x="1276645" y="5743870"/>
            <a:ext cx="7469086" cy="836714"/>
          </a:xfrm>
          <a:prstGeom prst="rect">
            <a:avLst/>
          </a:prstGeom>
        </p:spPr>
        <p:txBody>
          <a:bodyPr lIns="0" tIns="0" rIns="0" bIns="0" rtlCol="0" anchor="t">
            <a:spAutoFit/>
          </a:bodyPr>
          <a:lstStyle/>
          <a:p>
            <a:pPr algn="l">
              <a:lnSpc>
                <a:spcPts val="3000"/>
              </a:lnSpc>
            </a:pPr>
            <a:r>
              <a:rPr lang="en-US" sz="2000">
                <a:solidFill>
                  <a:srgbClr val="D6E5EF"/>
                </a:solidFill>
                <a:latin typeface="Source Sans 3"/>
                <a:ea typeface="Source Sans 3"/>
                <a:cs typeface="Source Sans 3"/>
                <a:sym typeface="Source Sans 3"/>
              </a:rPr>
              <a:t>Policies pass through multiple departments without unified digital workflow, causing significant approval delays</a:t>
            </a:r>
          </a:p>
        </p:txBody>
      </p:sp>
      <p:grpSp>
        <p:nvGrpSpPr>
          <p:cNvPr id="28" name="Group 28"/>
          <p:cNvGrpSpPr/>
          <p:nvPr/>
        </p:nvGrpSpPr>
        <p:grpSpPr>
          <a:xfrm>
            <a:off x="9241184" y="4995862"/>
            <a:ext cx="8156972" cy="1885798"/>
            <a:chOff x="0" y="0"/>
            <a:chExt cx="10875962" cy="2514397"/>
          </a:xfrm>
        </p:grpSpPr>
        <p:sp>
          <p:nvSpPr>
            <p:cNvPr id="29" name="Freeform 29"/>
            <p:cNvSpPr/>
            <p:nvPr/>
          </p:nvSpPr>
          <p:spPr>
            <a:xfrm>
              <a:off x="19050" y="19050"/>
              <a:ext cx="10837926" cy="2476246"/>
            </a:xfrm>
            <a:custGeom>
              <a:avLst/>
              <a:gdLst/>
              <a:ahLst/>
              <a:cxnLst/>
              <a:rect l="l" t="t" r="r" b="b"/>
              <a:pathLst>
                <a:path w="10837926" h="2476246">
                  <a:moveTo>
                    <a:pt x="0" y="182880"/>
                  </a:moveTo>
                  <a:cubicBezTo>
                    <a:pt x="0" y="81915"/>
                    <a:pt x="82804" y="0"/>
                    <a:pt x="185039" y="0"/>
                  </a:cubicBezTo>
                  <a:lnTo>
                    <a:pt x="10652887" y="0"/>
                  </a:lnTo>
                  <a:cubicBezTo>
                    <a:pt x="10755122" y="0"/>
                    <a:pt x="10837926" y="81915"/>
                    <a:pt x="10837926" y="182880"/>
                  </a:cubicBezTo>
                  <a:lnTo>
                    <a:pt x="10837926" y="2293366"/>
                  </a:lnTo>
                  <a:cubicBezTo>
                    <a:pt x="10837926" y="2394331"/>
                    <a:pt x="10755122" y="2476246"/>
                    <a:pt x="10652887" y="2476246"/>
                  </a:cubicBezTo>
                  <a:lnTo>
                    <a:pt x="185039" y="2476246"/>
                  </a:lnTo>
                  <a:cubicBezTo>
                    <a:pt x="82804" y="2476246"/>
                    <a:pt x="0" y="2394331"/>
                    <a:pt x="0" y="2293366"/>
                  </a:cubicBezTo>
                  <a:close/>
                </a:path>
              </a:pathLst>
            </a:custGeom>
            <a:solidFill>
              <a:srgbClr val="252833"/>
            </a:solidFill>
          </p:spPr>
        </p:sp>
        <p:sp>
          <p:nvSpPr>
            <p:cNvPr id="30" name="Freeform 30"/>
            <p:cNvSpPr/>
            <p:nvPr/>
          </p:nvSpPr>
          <p:spPr>
            <a:xfrm>
              <a:off x="0" y="0"/>
              <a:ext cx="10876026" cy="2514346"/>
            </a:xfrm>
            <a:custGeom>
              <a:avLst/>
              <a:gdLst/>
              <a:ahLst/>
              <a:cxnLst/>
              <a:rect l="l" t="t" r="r" b="b"/>
              <a:pathLst>
                <a:path w="10876026" h="2514346">
                  <a:moveTo>
                    <a:pt x="0" y="201930"/>
                  </a:moveTo>
                  <a:cubicBezTo>
                    <a:pt x="0" y="90170"/>
                    <a:pt x="91567" y="0"/>
                    <a:pt x="204089" y="0"/>
                  </a:cubicBezTo>
                  <a:lnTo>
                    <a:pt x="10671937" y="0"/>
                  </a:lnTo>
                  <a:lnTo>
                    <a:pt x="10671937" y="19050"/>
                  </a:lnTo>
                  <a:lnTo>
                    <a:pt x="10671937" y="0"/>
                  </a:lnTo>
                  <a:cubicBezTo>
                    <a:pt x="10784459" y="0"/>
                    <a:pt x="10876026" y="90170"/>
                    <a:pt x="10876026" y="201930"/>
                  </a:cubicBezTo>
                  <a:lnTo>
                    <a:pt x="10856976" y="201930"/>
                  </a:lnTo>
                  <a:lnTo>
                    <a:pt x="10876026" y="201930"/>
                  </a:lnTo>
                  <a:lnTo>
                    <a:pt x="10876026" y="2312416"/>
                  </a:lnTo>
                  <a:lnTo>
                    <a:pt x="10856976" y="2312416"/>
                  </a:lnTo>
                  <a:lnTo>
                    <a:pt x="10876026" y="2312416"/>
                  </a:lnTo>
                  <a:cubicBezTo>
                    <a:pt x="10876026" y="2424176"/>
                    <a:pt x="10784459" y="2514346"/>
                    <a:pt x="10671937" y="2514346"/>
                  </a:cubicBezTo>
                  <a:lnTo>
                    <a:pt x="10671937" y="2495296"/>
                  </a:lnTo>
                  <a:lnTo>
                    <a:pt x="10671937" y="2514346"/>
                  </a:lnTo>
                  <a:lnTo>
                    <a:pt x="204089" y="2514346"/>
                  </a:lnTo>
                  <a:lnTo>
                    <a:pt x="204089" y="2495296"/>
                  </a:lnTo>
                  <a:lnTo>
                    <a:pt x="204089" y="2514346"/>
                  </a:lnTo>
                  <a:cubicBezTo>
                    <a:pt x="91567" y="2514346"/>
                    <a:pt x="0" y="2424176"/>
                    <a:pt x="0" y="2312416"/>
                  </a:cubicBezTo>
                  <a:lnTo>
                    <a:pt x="0" y="201930"/>
                  </a:lnTo>
                  <a:lnTo>
                    <a:pt x="19050" y="201930"/>
                  </a:lnTo>
                  <a:lnTo>
                    <a:pt x="0" y="201930"/>
                  </a:lnTo>
                  <a:moveTo>
                    <a:pt x="38100" y="201930"/>
                  </a:moveTo>
                  <a:lnTo>
                    <a:pt x="38100" y="2312416"/>
                  </a:lnTo>
                  <a:lnTo>
                    <a:pt x="19050" y="2312416"/>
                  </a:lnTo>
                  <a:lnTo>
                    <a:pt x="38100" y="2312416"/>
                  </a:lnTo>
                  <a:cubicBezTo>
                    <a:pt x="38100" y="2402713"/>
                    <a:pt x="112141" y="2476246"/>
                    <a:pt x="204089" y="2476246"/>
                  </a:cubicBezTo>
                  <a:lnTo>
                    <a:pt x="10671937" y="2476246"/>
                  </a:lnTo>
                  <a:cubicBezTo>
                    <a:pt x="10763885" y="2476246"/>
                    <a:pt x="10837926" y="2402713"/>
                    <a:pt x="10837926" y="2312416"/>
                  </a:cubicBezTo>
                  <a:lnTo>
                    <a:pt x="10837926" y="201930"/>
                  </a:lnTo>
                  <a:cubicBezTo>
                    <a:pt x="10837926" y="111633"/>
                    <a:pt x="10763885" y="38100"/>
                    <a:pt x="10671937" y="38100"/>
                  </a:cubicBezTo>
                  <a:lnTo>
                    <a:pt x="204089" y="38100"/>
                  </a:lnTo>
                  <a:lnTo>
                    <a:pt x="204089" y="19050"/>
                  </a:lnTo>
                  <a:lnTo>
                    <a:pt x="204089" y="38100"/>
                  </a:lnTo>
                  <a:cubicBezTo>
                    <a:pt x="112141" y="38100"/>
                    <a:pt x="38100" y="111633"/>
                    <a:pt x="38100" y="201930"/>
                  </a:cubicBezTo>
                  <a:close/>
                </a:path>
              </a:pathLst>
            </a:custGeom>
            <a:solidFill>
              <a:srgbClr val="325F7B"/>
            </a:solidFill>
          </p:spPr>
        </p:sp>
      </p:grpSp>
      <p:grpSp>
        <p:nvGrpSpPr>
          <p:cNvPr id="31" name="Group 31"/>
          <p:cNvGrpSpPr/>
          <p:nvPr/>
        </p:nvGrpSpPr>
        <p:grpSpPr>
          <a:xfrm>
            <a:off x="9226896" y="5010150"/>
            <a:ext cx="114300" cy="1857223"/>
            <a:chOff x="0" y="0"/>
            <a:chExt cx="152400" cy="2476297"/>
          </a:xfrm>
        </p:grpSpPr>
        <p:sp>
          <p:nvSpPr>
            <p:cNvPr id="32" name="Freeform 32"/>
            <p:cNvSpPr/>
            <p:nvPr/>
          </p:nvSpPr>
          <p:spPr>
            <a:xfrm>
              <a:off x="0" y="0"/>
              <a:ext cx="152400" cy="2476373"/>
            </a:xfrm>
            <a:custGeom>
              <a:avLst/>
              <a:gdLst/>
              <a:ahLst/>
              <a:cxnLst/>
              <a:rect l="l" t="t" r="r" b="b"/>
              <a:pathLst>
                <a:path w="152400" h="2476373">
                  <a:moveTo>
                    <a:pt x="0" y="51689"/>
                  </a:moveTo>
                  <a:cubicBezTo>
                    <a:pt x="0" y="23114"/>
                    <a:pt x="23114" y="0"/>
                    <a:pt x="51689" y="0"/>
                  </a:cubicBezTo>
                  <a:lnTo>
                    <a:pt x="100711" y="0"/>
                  </a:lnTo>
                  <a:cubicBezTo>
                    <a:pt x="129286" y="0"/>
                    <a:pt x="152400" y="23114"/>
                    <a:pt x="152400" y="51689"/>
                  </a:cubicBezTo>
                  <a:lnTo>
                    <a:pt x="152400" y="2424684"/>
                  </a:lnTo>
                  <a:cubicBezTo>
                    <a:pt x="152400" y="2453259"/>
                    <a:pt x="129286" y="2476373"/>
                    <a:pt x="100711" y="2476373"/>
                  </a:cubicBezTo>
                  <a:lnTo>
                    <a:pt x="51689" y="2476373"/>
                  </a:lnTo>
                  <a:cubicBezTo>
                    <a:pt x="23114" y="2476373"/>
                    <a:pt x="0" y="2453259"/>
                    <a:pt x="0" y="2424684"/>
                  </a:cubicBezTo>
                  <a:close/>
                </a:path>
              </a:pathLst>
            </a:custGeom>
            <a:solidFill>
              <a:srgbClr val="325F7B"/>
            </a:solidFill>
          </p:spPr>
        </p:sp>
      </p:grpSp>
      <p:sp>
        <p:nvSpPr>
          <p:cNvPr id="33" name="TextBox 33"/>
          <p:cNvSpPr txBox="1"/>
          <p:nvPr/>
        </p:nvSpPr>
        <p:spPr>
          <a:xfrm>
            <a:off x="9627984" y="5287413"/>
            <a:ext cx="3039066" cy="389334"/>
          </a:xfrm>
          <a:prstGeom prst="rect">
            <a:avLst/>
          </a:prstGeom>
        </p:spPr>
        <p:txBody>
          <a:bodyPr lIns="0" tIns="0" rIns="0" bIns="0" rtlCol="0" anchor="t">
            <a:spAutoFit/>
          </a:bodyPr>
          <a:lstStyle/>
          <a:p>
            <a:pPr algn="l">
              <a:lnSpc>
                <a:spcPts val="2937"/>
              </a:lnSpc>
            </a:pPr>
            <a:r>
              <a:rPr lang="en-US" sz="2375">
                <a:solidFill>
                  <a:srgbClr val="D6E5EF"/>
                </a:solidFill>
                <a:latin typeface="Lora"/>
                <a:ea typeface="Lora"/>
                <a:cs typeface="Lora"/>
                <a:sym typeface="Lora"/>
              </a:rPr>
              <a:t>Weak Risk Analysis</a:t>
            </a:r>
          </a:p>
        </p:txBody>
      </p:sp>
      <p:sp>
        <p:nvSpPr>
          <p:cNvPr id="34" name="TextBox 34"/>
          <p:cNvSpPr txBox="1"/>
          <p:nvPr/>
        </p:nvSpPr>
        <p:spPr>
          <a:xfrm>
            <a:off x="9627984" y="5743870"/>
            <a:ext cx="7469086" cy="836714"/>
          </a:xfrm>
          <a:prstGeom prst="rect">
            <a:avLst/>
          </a:prstGeom>
        </p:spPr>
        <p:txBody>
          <a:bodyPr lIns="0" tIns="0" rIns="0" bIns="0" rtlCol="0" anchor="t">
            <a:spAutoFit/>
          </a:bodyPr>
          <a:lstStyle/>
          <a:p>
            <a:pPr algn="l">
              <a:lnSpc>
                <a:spcPts val="3000"/>
              </a:lnSpc>
            </a:pPr>
            <a:r>
              <a:rPr lang="en-US" sz="2000">
                <a:solidFill>
                  <a:srgbClr val="D6E5EF"/>
                </a:solidFill>
                <a:latin typeface="Source Sans 3"/>
                <a:ea typeface="Source Sans 3"/>
                <a:cs typeface="Source Sans 3"/>
                <a:sym typeface="Source Sans 3"/>
              </a:rPr>
              <a:t>Non-standardized risk analysis methods lead to inaccurate premium calculations and inconsistent policy pricing</a:t>
            </a:r>
          </a:p>
        </p:txBody>
      </p:sp>
      <p:grpSp>
        <p:nvGrpSpPr>
          <p:cNvPr id="35" name="Group 35"/>
          <p:cNvGrpSpPr/>
          <p:nvPr/>
        </p:nvGrpSpPr>
        <p:grpSpPr>
          <a:xfrm>
            <a:off x="889845" y="7076037"/>
            <a:ext cx="8156972" cy="1885798"/>
            <a:chOff x="0" y="0"/>
            <a:chExt cx="10875962" cy="2514397"/>
          </a:xfrm>
        </p:grpSpPr>
        <p:sp>
          <p:nvSpPr>
            <p:cNvPr id="36" name="Freeform 36"/>
            <p:cNvSpPr/>
            <p:nvPr/>
          </p:nvSpPr>
          <p:spPr>
            <a:xfrm>
              <a:off x="19050" y="19050"/>
              <a:ext cx="10837926" cy="2476246"/>
            </a:xfrm>
            <a:custGeom>
              <a:avLst/>
              <a:gdLst/>
              <a:ahLst/>
              <a:cxnLst/>
              <a:rect l="l" t="t" r="r" b="b"/>
              <a:pathLst>
                <a:path w="10837926" h="2476246">
                  <a:moveTo>
                    <a:pt x="0" y="182880"/>
                  </a:moveTo>
                  <a:cubicBezTo>
                    <a:pt x="0" y="81915"/>
                    <a:pt x="82804" y="0"/>
                    <a:pt x="185039" y="0"/>
                  </a:cubicBezTo>
                  <a:lnTo>
                    <a:pt x="10652887" y="0"/>
                  </a:lnTo>
                  <a:cubicBezTo>
                    <a:pt x="10755122" y="0"/>
                    <a:pt x="10837926" y="81915"/>
                    <a:pt x="10837926" y="182880"/>
                  </a:cubicBezTo>
                  <a:lnTo>
                    <a:pt x="10837926" y="2293366"/>
                  </a:lnTo>
                  <a:cubicBezTo>
                    <a:pt x="10837926" y="2394331"/>
                    <a:pt x="10755122" y="2476246"/>
                    <a:pt x="10652887" y="2476246"/>
                  </a:cubicBezTo>
                  <a:lnTo>
                    <a:pt x="185039" y="2476246"/>
                  </a:lnTo>
                  <a:cubicBezTo>
                    <a:pt x="82804" y="2476246"/>
                    <a:pt x="0" y="2394331"/>
                    <a:pt x="0" y="2293366"/>
                  </a:cubicBezTo>
                  <a:close/>
                </a:path>
              </a:pathLst>
            </a:custGeom>
            <a:solidFill>
              <a:srgbClr val="252833"/>
            </a:solidFill>
          </p:spPr>
        </p:sp>
        <p:sp>
          <p:nvSpPr>
            <p:cNvPr id="37" name="Freeform 37"/>
            <p:cNvSpPr/>
            <p:nvPr/>
          </p:nvSpPr>
          <p:spPr>
            <a:xfrm>
              <a:off x="0" y="0"/>
              <a:ext cx="10876026" cy="2514346"/>
            </a:xfrm>
            <a:custGeom>
              <a:avLst/>
              <a:gdLst/>
              <a:ahLst/>
              <a:cxnLst/>
              <a:rect l="l" t="t" r="r" b="b"/>
              <a:pathLst>
                <a:path w="10876026" h="2514346">
                  <a:moveTo>
                    <a:pt x="0" y="201930"/>
                  </a:moveTo>
                  <a:cubicBezTo>
                    <a:pt x="0" y="90170"/>
                    <a:pt x="91567" y="0"/>
                    <a:pt x="204089" y="0"/>
                  </a:cubicBezTo>
                  <a:lnTo>
                    <a:pt x="10671937" y="0"/>
                  </a:lnTo>
                  <a:lnTo>
                    <a:pt x="10671937" y="19050"/>
                  </a:lnTo>
                  <a:lnTo>
                    <a:pt x="10671937" y="0"/>
                  </a:lnTo>
                  <a:cubicBezTo>
                    <a:pt x="10784459" y="0"/>
                    <a:pt x="10876026" y="90170"/>
                    <a:pt x="10876026" y="201930"/>
                  </a:cubicBezTo>
                  <a:lnTo>
                    <a:pt x="10856976" y="201930"/>
                  </a:lnTo>
                  <a:lnTo>
                    <a:pt x="10876026" y="201930"/>
                  </a:lnTo>
                  <a:lnTo>
                    <a:pt x="10876026" y="2312416"/>
                  </a:lnTo>
                  <a:lnTo>
                    <a:pt x="10856976" y="2312416"/>
                  </a:lnTo>
                  <a:lnTo>
                    <a:pt x="10876026" y="2312416"/>
                  </a:lnTo>
                  <a:cubicBezTo>
                    <a:pt x="10876026" y="2424176"/>
                    <a:pt x="10784459" y="2514346"/>
                    <a:pt x="10671937" y="2514346"/>
                  </a:cubicBezTo>
                  <a:lnTo>
                    <a:pt x="10671937" y="2495296"/>
                  </a:lnTo>
                  <a:lnTo>
                    <a:pt x="10671937" y="2514346"/>
                  </a:lnTo>
                  <a:lnTo>
                    <a:pt x="204089" y="2514346"/>
                  </a:lnTo>
                  <a:lnTo>
                    <a:pt x="204089" y="2495296"/>
                  </a:lnTo>
                  <a:lnTo>
                    <a:pt x="204089" y="2514346"/>
                  </a:lnTo>
                  <a:cubicBezTo>
                    <a:pt x="91567" y="2514346"/>
                    <a:pt x="0" y="2424176"/>
                    <a:pt x="0" y="2312416"/>
                  </a:cubicBezTo>
                  <a:lnTo>
                    <a:pt x="0" y="201930"/>
                  </a:lnTo>
                  <a:lnTo>
                    <a:pt x="19050" y="201930"/>
                  </a:lnTo>
                  <a:lnTo>
                    <a:pt x="0" y="201930"/>
                  </a:lnTo>
                  <a:moveTo>
                    <a:pt x="38100" y="201930"/>
                  </a:moveTo>
                  <a:lnTo>
                    <a:pt x="38100" y="2312416"/>
                  </a:lnTo>
                  <a:lnTo>
                    <a:pt x="19050" y="2312416"/>
                  </a:lnTo>
                  <a:lnTo>
                    <a:pt x="38100" y="2312416"/>
                  </a:lnTo>
                  <a:cubicBezTo>
                    <a:pt x="38100" y="2402713"/>
                    <a:pt x="112141" y="2476246"/>
                    <a:pt x="204089" y="2476246"/>
                  </a:cubicBezTo>
                  <a:lnTo>
                    <a:pt x="10671937" y="2476246"/>
                  </a:lnTo>
                  <a:cubicBezTo>
                    <a:pt x="10763885" y="2476246"/>
                    <a:pt x="10837926" y="2402713"/>
                    <a:pt x="10837926" y="2312416"/>
                  </a:cubicBezTo>
                  <a:lnTo>
                    <a:pt x="10837926" y="201930"/>
                  </a:lnTo>
                  <a:cubicBezTo>
                    <a:pt x="10837926" y="111633"/>
                    <a:pt x="10763885" y="38100"/>
                    <a:pt x="10671937" y="38100"/>
                  </a:cubicBezTo>
                  <a:lnTo>
                    <a:pt x="204089" y="38100"/>
                  </a:lnTo>
                  <a:lnTo>
                    <a:pt x="204089" y="19050"/>
                  </a:lnTo>
                  <a:lnTo>
                    <a:pt x="204089" y="38100"/>
                  </a:lnTo>
                  <a:cubicBezTo>
                    <a:pt x="112141" y="38100"/>
                    <a:pt x="38100" y="111633"/>
                    <a:pt x="38100" y="201930"/>
                  </a:cubicBezTo>
                  <a:close/>
                </a:path>
              </a:pathLst>
            </a:custGeom>
            <a:solidFill>
              <a:srgbClr val="325F7B"/>
            </a:solidFill>
          </p:spPr>
        </p:sp>
      </p:grpSp>
      <p:grpSp>
        <p:nvGrpSpPr>
          <p:cNvPr id="38" name="Group 38"/>
          <p:cNvGrpSpPr/>
          <p:nvPr/>
        </p:nvGrpSpPr>
        <p:grpSpPr>
          <a:xfrm>
            <a:off x="875557" y="7090324"/>
            <a:ext cx="114300" cy="1857223"/>
            <a:chOff x="0" y="0"/>
            <a:chExt cx="152400" cy="2476297"/>
          </a:xfrm>
        </p:grpSpPr>
        <p:sp>
          <p:nvSpPr>
            <p:cNvPr id="39" name="Freeform 39"/>
            <p:cNvSpPr/>
            <p:nvPr/>
          </p:nvSpPr>
          <p:spPr>
            <a:xfrm>
              <a:off x="0" y="0"/>
              <a:ext cx="152400" cy="2476373"/>
            </a:xfrm>
            <a:custGeom>
              <a:avLst/>
              <a:gdLst/>
              <a:ahLst/>
              <a:cxnLst/>
              <a:rect l="l" t="t" r="r" b="b"/>
              <a:pathLst>
                <a:path w="152400" h="2476373">
                  <a:moveTo>
                    <a:pt x="0" y="51689"/>
                  </a:moveTo>
                  <a:cubicBezTo>
                    <a:pt x="0" y="23114"/>
                    <a:pt x="23114" y="0"/>
                    <a:pt x="51689" y="0"/>
                  </a:cubicBezTo>
                  <a:lnTo>
                    <a:pt x="100711" y="0"/>
                  </a:lnTo>
                  <a:cubicBezTo>
                    <a:pt x="129286" y="0"/>
                    <a:pt x="152400" y="23114"/>
                    <a:pt x="152400" y="51689"/>
                  </a:cubicBezTo>
                  <a:lnTo>
                    <a:pt x="152400" y="2424684"/>
                  </a:lnTo>
                  <a:cubicBezTo>
                    <a:pt x="152400" y="2453259"/>
                    <a:pt x="129286" y="2476373"/>
                    <a:pt x="100711" y="2476373"/>
                  </a:cubicBezTo>
                  <a:lnTo>
                    <a:pt x="51689" y="2476373"/>
                  </a:lnTo>
                  <a:cubicBezTo>
                    <a:pt x="23114" y="2476373"/>
                    <a:pt x="0" y="2453259"/>
                    <a:pt x="0" y="2424684"/>
                  </a:cubicBezTo>
                  <a:close/>
                </a:path>
              </a:pathLst>
            </a:custGeom>
            <a:solidFill>
              <a:srgbClr val="325F7B"/>
            </a:solidFill>
          </p:spPr>
        </p:sp>
      </p:grpSp>
      <p:sp>
        <p:nvSpPr>
          <p:cNvPr id="40" name="TextBox 40"/>
          <p:cNvSpPr txBox="1"/>
          <p:nvPr/>
        </p:nvSpPr>
        <p:spPr>
          <a:xfrm>
            <a:off x="1276645" y="7367587"/>
            <a:ext cx="3039066" cy="389334"/>
          </a:xfrm>
          <a:prstGeom prst="rect">
            <a:avLst/>
          </a:prstGeom>
        </p:spPr>
        <p:txBody>
          <a:bodyPr lIns="0" tIns="0" rIns="0" bIns="0" rtlCol="0" anchor="t">
            <a:spAutoFit/>
          </a:bodyPr>
          <a:lstStyle/>
          <a:p>
            <a:pPr algn="l">
              <a:lnSpc>
                <a:spcPts val="2937"/>
              </a:lnSpc>
            </a:pPr>
            <a:r>
              <a:rPr lang="en-US" sz="2375">
                <a:solidFill>
                  <a:srgbClr val="D6E5EF"/>
                </a:solidFill>
                <a:latin typeface="Lora"/>
                <a:ea typeface="Lora"/>
                <a:cs typeface="Lora"/>
                <a:sym typeface="Lora"/>
              </a:rPr>
              <a:t>Poor Communication</a:t>
            </a:r>
          </a:p>
        </p:txBody>
      </p:sp>
      <p:sp>
        <p:nvSpPr>
          <p:cNvPr id="41" name="TextBox 41"/>
          <p:cNvSpPr txBox="1"/>
          <p:nvPr/>
        </p:nvSpPr>
        <p:spPr>
          <a:xfrm>
            <a:off x="1276645" y="7824045"/>
            <a:ext cx="7469086" cy="836714"/>
          </a:xfrm>
          <a:prstGeom prst="rect">
            <a:avLst/>
          </a:prstGeom>
        </p:spPr>
        <p:txBody>
          <a:bodyPr lIns="0" tIns="0" rIns="0" bIns="0" rtlCol="0" anchor="t">
            <a:spAutoFit/>
          </a:bodyPr>
          <a:lstStyle/>
          <a:p>
            <a:pPr algn="l">
              <a:lnSpc>
                <a:spcPts val="3000"/>
              </a:lnSpc>
            </a:pPr>
            <a:r>
              <a:rPr lang="en-US" sz="2000">
                <a:solidFill>
                  <a:srgbClr val="D6E5EF"/>
                </a:solidFill>
                <a:latin typeface="Source Sans 3"/>
                <a:ea typeface="Source Sans 3"/>
                <a:cs typeface="Source Sans 3"/>
                <a:sym typeface="Source Sans 3"/>
              </a:rPr>
              <a:t>Gaps between administrators, underwriters, and claims officers result in confusion and inefficient coordination</a:t>
            </a:r>
          </a:p>
        </p:txBody>
      </p:sp>
      <p:grpSp>
        <p:nvGrpSpPr>
          <p:cNvPr id="42" name="Group 42"/>
          <p:cNvGrpSpPr/>
          <p:nvPr/>
        </p:nvGrpSpPr>
        <p:grpSpPr>
          <a:xfrm>
            <a:off x="9241184" y="7076037"/>
            <a:ext cx="8156972" cy="1885798"/>
            <a:chOff x="0" y="0"/>
            <a:chExt cx="10875962" cy="2514397"/>
          </a:xfrm>
        </p:grpSpPr>
        <p:sp>
          <p:nvSpPr>
            <p:cNvPr id="43" name="Freeform 43"/>
            <p:cNvSpPr/>
            <p:nvPr/>
          </p:nvSpPr>
          <p:spPr>
            <a:xfrm>
              <a:off x="19050" y="19050"/>
              <a:ext cx="10837926" cy="2476246"/>
            </a:xfrm>
            <a:custGeom>
              <a:avLst/>
              <a:gdLst/>
              <a:ahLst/>
              <a:cxnLst/>
              <a:rect l="l" t="t" r="r" b="b"/>
              <a:pathLst>
                <a:path w="10837926" h="2476246">
                  <a:moveTo>
                    <a:pt x="0" y="182880"/>
                  </a:moveTo>
                  <a:cubicBezTo>
                    <a:pt x="0" y="81915"/>
                    <a:pt x="82804" y="0"/>
                    <a:pt x="185039" y="0"/>
                  </a:cubicBezTo>
                  <a:lnTo>
                    <a:pt x="10652887" y="0"/>
                  </a:lnTo>
                  <a:cubicBezTo>
                    <a:pt x="10755122" y="0"/>
                    <a:pt x="10837926" y="81915"/>
                    <a:pt x="10837926" y="182880"/>
                  </a:cubicBezTo>
                  <a:lnTo>
                    <a:pt x="10837926" y="2293366"/>
                  </a:lnTo>
                  <a:cubicBezTo>
                    <a:pt x="10837926" y="2394331"/>
                    <a:pt x="10755122" y="2476246"/>
                    <a:pt x="10652887" y="2476246"/>
                  </a:cubicBezTo>
                  <a:lnTo>
                    <a:pt x="185039" y="2476246"/>
                  </a:lnTo>
                  <a:cubicBezTo>
                    <a:pt x="82804" y="2476246"/>
                    <a:pt x="0" y="2394331"/>
                    <a:pt x="0" y="2293366"/>
                  </a:cubicBezTo>
                  <a:close/>
                </a:path>
              </a:pathLst>
            </a:custGeom>
            <a:solidFill>
              <a:srgbClr val="252833"/>
            </a:solidFill>
          </p:spPr>
        </p:sp>
        <p:sp>
          <p:nvSpPr>
            <p:cNvPr id="44" name="Freeform 44"/>
            <p:cNvSpPr/>
            <p:nvPr/>
          </p:nvSpPr>
          <p:spPr>
            <a:xfrm>
              <a:off x="0" y="0"/>
              <a:ext cx="10876026" cy="2514346"/>
            </a:xfrm>
            <a:custGeom>
              <a:avLst/>
              <a:gdLst/>
              <a:ahLst/>
              <a:cxnLst/>
              <a:rect l="l" t="t" r="r" b="b"/>
              <a:pathLst>
                <a:path w="10876026" h="2514346">
                  <a:moveTo>
                    <a:pt x="0" y="201930"/>
                  </a:moveTo>
                  <a:cubicBezTo>
                    <a:pt x="0" y="90170"/>
                    <a:pt x="91567" y="0"/>
                    <a:pt x="204089" y="0"/>
                  </a:cubicBezTo>
                  <a:lnTo>
                    <a:pt x="10671937" y="0"/>
                  </a:lnTo>
                  <a:lnTo>
                    <a:pt x="10671937" y="19050"/>
                  </a:lnTo>
                  <a:lnTo>
                    <a:pt x="10671937" y="0"/>
                  </a:lnTo>
                  <a:cubicBezTo>
                    <a:pt x="10784459" y="0"/>
                    <a:pt x="10876026" y="90170"/>
                    <a:pt x="10876026" y="201930"/>
                  </a:cubicBezTo>
                  <a:lnTo>
                    <a:pt x="10856976" y="201930"/>
                  </a:lnTo>
                  <a:lnTo>
                    <a:pt x="10876026" y="201930"/>
                  </a:lnTo>
                  <a:lnTo>
                    <a:pt x="10876026" y="2312416"/>
                  </a:lnTo>
                  <a:lnTo>
                    <a:pt x="10856976" y="2312416"/>
                  </a:lnTo>
                  <a:lnTo>
                    <a:pt x="10876026" y="2312416"/>
                  </a:lnTo>
                  <a:cubicBezTo>
                    <a:pt x="10876026" y="2424176"/>
                    <a:pt x="10784459" y="2514346"/>
                    <a:pt x="10671937" y="2514346"/>
                  </a:cubicBezTo>
                  <a:lnTo>
                    <a:pt x="10671937" y="2495296"/>
                  </a:lnTo>
                  <a:lnTo>
                    <a:pt x="10671937" y="2514346"/>
                  </a:lnTo>
                  <a:lnTo>
                    <a:pt x="204089" y="2514346"/>
                  </a:lnTo>
                  <a:lnTo>
                    <a:pt x="204089" y="2495296"/>
                  </a:lnTo>
                  <a:lnTo>
                    <a:pt x="204089" y="2514346"/>
                  </a:lnTo>
                  <a:cubicBezTo>
                    <a:pt x="91567" y="2514346"/>
                    <a:pt x="0" y="2424176"/>
                    <a:pt x="0" y="2312416"/>
                  </a:cubicBezTo>
                  <a:lnTo>
                    <a:pt x="0" y="201930"/>
                  </a:lnTo>
                  <a:lnTo>
                    <a:pt x="19050" y="201930"/>
                  </a:lnTo>
                  <a:lnTo>
                    <a:pt x="0" y="201930"/>
                  </a:lnTo>
                  <a:moveTo>
                    <a:pt x="38100" y="201930"/>
                  </a:moveTo>
                  <a:lnTo>
                    <a:pt x="38100" y="2312416"/>
                  </a:lnTo>
                  <a:lnTo>
                    <a:pt x="19050" y="2312416"/>
                  </a:lnTo>
                  <a:lnTo>
                    <a:pt x="38100" y="2312416"/>
                  </a:lnTo>
                  <a:cubicBezTo>
                    <a:pt x="38100" y="2402713"/>
                    <a:pt x="112141" y="2476246"/>
                    <a:pt x="204089" y="2476246"/>
                  </a:cubicBezTo>
                  <a:lnTo>
                    <a:pt x="10671937" y="2476246"/>
                  </a:lnTo>
                  <a:cubicBezTo>
                    <a:pt x="10763885" y="2476246"/>
                    <a:pt x="10837926" y="2402713"/>
                    <a:pt x="10837926" y="2312416"/>
                  </a:cubicBezTo>
                  <a:lnTo>
                    <a:pt x="10837926" y="201930"/>
                  </a:lnTo>
                  <a:cubicBezTo>
                    <a:pt x="10837926" y="111633"/>
                    <a:pt x="10763885" y="38100"/>
                    <a:pt x="10671937" y="38100"/>
                  </a:cubicBezTo>
                  <a:lnTo>
                    <a:pt x="204089" y="38100"/>
                  </a:lnTo>
                  <a:lnTo>
                    <a:pt x="204089" y="19050"/>
                  </a:lnTo>
                  <a:lnTo>
                    <a:pt x="204089" y="38100"/>
                  </a:lnTo>
                  <a:cubicBezTo>
                    <a:pt x="112141" y="38100"/>
                    <a:pt x="38100" y="111633"/>
                    <a:pt x="38100" y="201930"/>
                  </a:cubicBezTo>
                  <a:close/>
                </a:path>
              </a:pathLst>
            </a:custGeom>
            <a:solidFill>
              <a:srgbClr val="325F7B"/>
            </a:solidFill>
          </p:spPr>
        </p:sp>
      </p:grpSp>
      <p:grpSp>
        <p:nvGrpSpPr>
          <p:cNvPr id="45" name="Group 45"/>
          <p:cNvGrpSpPr/>
          <p:nvPr/>
        </p:nvGrpSpPr>
        <p:grpSpPr>
          <a:xfrm>
            <a:off x="9226896" y="7090324"/>
            <a:ext cx="114300" cy="1857223"/>
            <a:chOff x="0" y="0"/>
            <a:chExt cx="152400" cy="2476297"/>
          </a:xfrm>
        </p:grpSpPr>
        <p:sp>
          <p:nvSpPr>
            <p:cNvPr id="46" name="Freeform 46"/>
            <p:cNvSpPr/>
            <p:nvPr/>
          </p:nvSpPr>
          <p:spPr>
            <a:xfrm>
              <a:off x="0" y="0"/>
              <a:ext cx="152400" cy="2476373"/>
            </a:xfrm>
            <a:custGeom>
              <a:avLst/>
              <a:gdLst/>
              <a:ahLst/>
              <a:cxnLst/>
              <a:rect l="l" t="t" r="r" b="b"/>
              <a:pathLst>
                <a:path w="152400" h="2476373">
                  <a:moveTo>
                    <a:pt x="0" y="51689"/>
                  </a:moveTo>
                  <a:cubicBezTo>
                    <a:pt x="0" y="23114"/>
                    <a:pt x="23114" y="0"/>
                    <a:pt x="51689" y="0"/>
                  </a:cubicBezTo>
                  <a:lnTo>
                    <a:pt x="100711" y="0"/>
                  </a:lnTo>
                  <a:cubicBezTo>
                    <a:pt x="129286" y="0"/>
                    <a:pt x="152400" y="23114"/>
                    <a:pt x="152400" y="51689"/>
                  </a:cubicBezTo>
                  <a:lnTo>
                    <a:pt x="152400" y="2424684"/>
                  </a:lnTo>
                  <a:cubicBezTo>
                    <a:pt x="152400" y="2453259"/>
                    <a:pt x="129286" y="2476373"/>
                    <a:pt x="100711" y="2476373"/>
                  </a:cubicBezTo>
                  <a:lnTo>
                    <a:pt x="51689" y="2476373"/>
                  </a:lnTo>
                  <a:cubicBezTo>
                    <a:pt x="23114" y="2476373"/>
                    <a:pt x="0" y="2453259"/>
                    <a:pt x="0" y="2424684"/>
                  </a:cubicBezTo>
                  <a:close/>
                </a:path>
              </a:pathLst>
            </a:custGeom>
            <a:solidFill>
              <a:srgbClr val="325F7B"/>
            </a:solidFill>
          </p:spPr>
        </p:sp>
      </p:grpSp>
      <p:sp>
        <p:nvSpPr>
          <p:cNvPr id="47" name="TextBox 47"/>
          <p:cNvSpPr txBox="1"/>
          <p:nvPr/>
        </p:nvSpPr>
        <p:spPr>
          <a:xfrm>
            <a:off x="9627984" y="7367587"/>
            <a:ext cx="3176140" cy="389334"/>
          </a:xfrm>
          <a:prstGeom prst="rect">
            <a:avLst/>
          </a:prstGeom>
        </p:spPr>
        <p:txBody>
          <a:bodyPr lIns="0" tIns="0" rIns="0" bIns="0" rtlCol="0" anchor="t">
            <a:spAutoFit/>
          </a:bodyPr>
          <a:lstStyle/>
          <a:p>
            <a:pPr algn="l">
              <a:lnSpc>
                <a:spcPts val="2937"/>
              </a:lnSpc>
            </a:pPr>
            <a:r>
              <a:rPr lang="en-US" sz="2375">
                <a:solidFill>
                  <a:srgbClr val="D6E5EF"/>
                </a:solidFill>
                <a:latin typeface="Lora"/>
                <a:ea typeface="Lora"/>
                <a:cs typeface="Lora"/>
                <a:sym typeface="Lora"/>
              </a:rPr>
              <a:t>Slow Claim Processing</a:t>
            </a:r>
          </a:p>
        </p:txBody>
      </p:sp>
      <p:sp>
        <p:nvSpPr>
          <p:cNvPr id="48" name="TextBox 48"/>
          <p:cNvSpPr txBox="1"/>
          <p:nvPr/>
        </p:nvSpPr>
        <p:spPr>
          <a:xfrm>
            <a:off x="9627984" y="7824045"/>
            <a:ext cx="7469086" cy="836714"/>
          </a:xfrm>
          <a:prstGeom prst="rect">
            <a:avLst/>
          </a:prstGeom>
        </p:spPr>
        <p:txBody>
          <a:bodyPr lIns="0" tIns="0" rIns="0" bIns="0" rtlCol="0" anchor="t">
            <a:spAutoFit/>
          </a:bodyPr>
          <a:lstStyle/>
          <a:p>
            <a:pPr algn="l">
              <a:lnSpc>
                <a:spcPts val="3000"/>
              </a:lnSpc>
            </a:pPr>
            <a:r>
              <a:rPr lang="en-US" sz="2000">
                <a:solidFill>
                  <a:srgbClr val="D6E5EF"/>
                </a:solidFill>
                <a:latin typeface="Source Sans 3"/>
                <a:ea typeface="Source Sans 3"/>
                <a:cs typeface="Source Sans 3"/>
                <a:sym typeface="Source Sans 3"/>
              </a:rPr>
              <a:t>Lack of centralized tracking and digital claim management systems makes processing complicated and time-consuming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A2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52833"/>
            </a:solidFill>
          </p:spPr>
        </p:sp>
      </p:grpSp>
      <p:grpSp>
        <p:nvGrpSpPr>
          <p:cNvPr id="6" name="Group 6"/>
          <p:cNvGrpSpPr/>
          <p:nvPr/>
        </p:nvGrpSpPr>
        <p:grpSpPr>
          <a:xfrm>
            <a:off x="3701358" y="1929403"/>
            <a:ext cx="6932114" cy="3869084"/>
            <a:chOff x="0" y="0"/>
            <a:chExt cx="9242819" cy="5158778"/>
          </a:xfrm>
        </p:grpSpPr>
        <p:sp>
          <p:nvSpPr>
            <p:cNvPr id="7" name="Freeform 7"/>
            <p:cNvSpPr/>
            <p:nvPr/>
          </p:nvSpPr>
          <p:spPr>
            <a:xfrm>
              <a:off x="0" y="0"/>
              <a:ext cx="9242806" cy="5158740"/>
            </a:xfrm>
            <a:custGeom>
              <a:avLst/>
              <a:gdLst/>
              <a:ahLst/>
              <a:cxnLst/>
              <a:rect l="l" t="t" r="r" b="b"/>
              <a:pathLst>
                <a:path w="9242806" h="5158740">
                  <a:moveTo>
                    <a:pt x="0" y="0"/>
                  </a:moveTo>
                  <a:lnTo>
                    <a:pt x="9242806" y="0"/>
                  </a:lnTo>
                  <a:lnTo>
                    <a:pt x="9242806" y="5158740"/>
                  </a:lnTo>
                  <a:lnTo>
                    <a:pt x="0" y="5158740"/>
                  </a:lnTo>
                  <a:lnTo>
                    <a:pt x="0" y="0"/>
                  </a:lnTo>
                  <a:close/>
                </a:path>
              </a:pathLst>
            </a:custGeom>
            <a:blipFill>
              <a:blip r:embed="rId3"/>
              <a:stretch>
                <a:fillRect l="-1919" r="-1919"/>
              </a:stretch>
            </a:blipFill>
          </p:spPr>
        </p:sp>
      </p:grpSp>
      <p:grpSp>
        <p:nvGrpSpPr>
          <p:cNvPr id="8" name="Group 8"/>
          <p:cNvGrpSpPr/>
          <p:nvPr/>
        </p:nvGrpSpPr>
        <p:grpSpPr>
          <a:xfrm>
            <a:off x="3701358" y="6225035"/>
            <a:ext cx="5395617" cy="19050"/>
            <a:chOff x="0" y="0"/>
            <a:chExt cx="7194156" cy="25400"/>
          </a:xfrm>
        </p:grpSpPr>
        <p:sp>
          <p:nvSpPr>
            <p:cNvPr id="9" name="Freeform 9" descr="preencoded.png"/>
            <p:cNvSpPr/>
            <p:nvPr/>
          </p:nvSpPr>
          <p:spPr>
            <a:xfrm>
              <a:off x="0" y="0"/>
              <a:ext cx="7194169" cy="25400"/>
            </a:xfrm>
            <a:custGeom>
              <a:avLst/>
              <a:gdLst/>
              <a:ahLst/>
              <a:cxnLst/>
              <a:rect l="l" t="t" r="r" b="b"/>
              <a:pathLst>
                <a:path w="7194169" h="25400">
                  <a:moveTo>
                    <a:pt x="0" y="0"/>
                  </a:moveTo>
                  <a:lnTo>
                    <a:pt x="7194169" y="0"/>
                  </a:lnTo>
                  <a:lnTo>
                    <a:pt x="7194169" y="25400"/>
                  </a:lnTo>
                  <a:lnTo>
                    <a:pt x="0" y="25400"/>
                  </a:lnTo>
                  <a:lnTo>
                    <a:pt x="0" y="0"/>
                  </a:lnTo>
                  <a:close/>
                </a:path>
              </a:pathLst>
            </a:custGeom>
            <a:blipFill>
              <a:blip r:embed="rId4"/>
              <a:stretch>
                <a:fillRect t="-41" b="-58"/>
              </a:stretch>
            </a:blipFill>
          </p:spPr>
        </p:sp>
      </p:grpSp>
      <p:grpSp>
        <p:nvGrpSpPr>
          <p:cNvPr id="10" name="Group 10"/>
          <p:cNvGrpSpPr/>
          <p:nvPr/>
        </p:nvGrpSpPr>
        <p:grpSpPr>
          <a:xfrm>
            <a:off x="9190730" y="6225035"/>
            <a:ext cx="5395760" cy="19050"/>
            <a:chOff x="0" y="0"/>
            <a:chExt cx="7194347" cy="25400"/>
          </a:xfrm>
        </p:grpSpPr>
        <p:sp>
          <p:nvSpPr>
            <p:cNvPr id="11" name="Freeform 11" descr="preencoded.png"/>
            <p:cNvSpPr/>
            <p:nvPr/>
          </p:nvSpPr>
          <p:spPr>
            <a:xfrm>
              <a:off x="0" y="0"/>
              <a:ext cx="7194296" cy="25400"/>
            </a:xfrm>
            <a:custGeom>
              <a:avLst/>
              <a:gdLst/>
              <a:ahLst/>
              <a:cxnLst/>
              <a:rect l="l" t="t" r="r" b="b"/>
              <a:pathLst>
                <a:path w="7194296" h="25400">
                  <a:moveTo>
                    <a:pt x="0" y="0"/>
                  </a:moveTo>
                  <a:lnTo>
                    <a:pt x="7194296" y="0"/>
                  </a:lnTo>
                  <a:lnTo>
                    <a:pt x="7194296" y="25400"/>
                  </a:lnTo>
                  <a:lnTo>
                    <a:pt x="0" y="25400"/>
                  </a:lnTo>
                  <a:lnTo>
                    <a:pt x="0" y="0"/>
                  </a:lnTo>
                  <a:close/>
                </a:path>
              </a:pathLst>
            </a:custGeom>
            <a:blipFill>
              <a:blip r:embed="rId4"/>
              <a:stretch>
                <a:fillRect t="-42" b="-57"/>
              </a:stretch>
            </a:blipFill>
          </p:spPr>
        </p:sp>
      </p:grpSp>
      <p:grpSp>
        <p:nvGrpSpPr>
          <p:cNvPr id="12" name="Group 12"/>
          <p:cNvGrpSpPr/>
          <p:nvPr/>
        </p:nvGrpSpPr>
        <p:grpSpPr>
          <a:xfrm>
            <a:off x="3701358" y="7536066"/>
            <a:ext cx="5395617" cy="19050"/>
            <a:chOff x="0" y="0"/>
            <a:chExt cx="7194156" cy="25400"/>
          </a:xfrm>
        </p:grpSpPr>
        <p:sp>
          <p:nvSpPr>
            <p:cNvPr id="13" name="Freeform 13" descr="preencoded.png"/>
            <p:cNvSpPr/>
            <p:nvPr/>
          </p:nvSpPr>
          <p:spPr>
            <a:xfrm>
              <a:off x="0" y="0"/>
              <a:ext cx="7194169" cy="25400"/>
            </a:xfrm>
            <a:custGeom>
              <a:avLst/>
              <a:gdLst/>
              <a:ahLst/>
              <a:cxnLst/>
              <a:rect l="l" t="t" r="r" b="b"/>
              <a:pathLst>
                <a:path w="7194169" h="25400">
                  <a:moveTo>
                    <a:pt x="0" y="0"/>
                  </a:moveTo>
                  <a:lnTo>
                    <a:pt x="7194169" y="0"/>
                  </a:lnTo>
                  <a:lnTo>
                    <a:pt x="7194169" y="25400"/>
                  </a:lnTo>
                  <a:lnTo>
                    <a:pt x="0" y="25400"/>
                  </a:lnTo>
                  <a:lnTo>
                    <a:pt x="0" y="0"/>
                  </a:lnTo>
                  <a:close/>
                </a:path>
              </a:pathLst>
            </a:custGeom>
            <a:blipFill>
              <a:blip r:embed="rId4"/>
              <a:stretch>
                <a:fillRect t="-41" b="-58"/>
              </a:stretch>
            </a:blipFill>
          </p:spPr>
        </p:sp>
      </p:grpSp>
      <p:grpSp>
        <p:nvGrpSpPr>
          <p:cNvPr id="14" name="Group 14"/>
          <p:cNvGrpSpPr/>
          <p:nvPr/>
        </p:nvGrpSpPr>
        <p:grpSpPr>
          <a:xfrm>
            <a:off x="9190730" y="7536066"/>
            <a:ext cx="5395760" cy="19050"/>
            <a:chOff x="0" y="0"/>
            <a:chExt cx="7194347" cy="25400"/>
          </a:xfrm>
        </p:grpSpPr>
        <p:sp>
          <p:nvSpPr>
            <p:cNvPr id="15" name="Freeform 15" descr="preencoded.png"/>
            <p:cNvSpPr/>
            <p:nvPr/>
          </p:nvSpPr>
          <p:spPr>
            <a:xfrm>
              <a:off x="0" y="0"/>
              <a:ext cx="7194296" cy="25400"/>
            </a:xfrm>
            <a:custGeom>
              <a:avLst/>
              <a:gdLst/>
              <a:ahLst/>
              <a:cxnLst/>
              <a:rect l="l" t="t" r="r" b="b"/>
              <a:pathLst>
                <a:path w="7194296" h="25400">
                  <a:moveTo>
                    <a:pt x="0" y="0"/>
                  </a:moveTo>
                  <a:lnTo>
                    <a:pt x="7194296" y="0"/>
                  </a:lnTo>
                  <a:lnTo>
                    <a:pt x="7194296" y="25400"/>
                  </a:lnTo>
                  <a:lnTo>
                    <a:pt x="0" y="25400"/>
                  </a:lnTo>
                  <a:lnTo>
                    <a:pt x="0" y="0"/>
                  </a:lnTo>
                  <a:close/>
                </a:path>
              </a:pathLst>
            </a:custGeom>
            <a:blipFill>
              <a:blip r:embed="rId4"/>
              <a:stretch>
                <a:fillRect t="-42" b="-57"/>
              </a:stretch>
            </a:blipFill>
          </p:spPr>
        </p:sp>
      </p:grpSp>
      <p:grpSp>
        <p:nvGrpSpPr>
          <p:cNvPr id="16" name="Group 16"/>
          <p:cNvGrpSpPr/>
          <p:nvPr/>
        </p:nvGrpSpPr>
        <p:grpSpPr>
          <a:xfrm>
            <a:off x="3701358" y="8638137"/>
            <a:ext cx="5395617" cy="19050"/>
            <a:chOff x="0" y="0"/>
            <a:chExt cx="7194156" cy="25400"/>
          </a:xfrm>
        </p:grpSpPr>
        <p:sp>
          <p:nvSpPr>
            <p:cNvPr id="17" name="Freeform 17" descr="preencoded.png"/>
            <p:cNvSpPr/>
            <p:nvPr/>
          </p:nvSpPr>
          <p:spPr>
            <a:xfrm>
              <a:off x="0" y="0"/>
              <a:ext cx="7194169" cy="25400"/>
            </a:xfrm>
            <a:custGeom>
              <a:avLst/>
              <a:gdLst/>
              <a:ahLst/>
              <a:cxnLst/>
              <a:rect l="l" t="t" r="r" b="b"/>
              <a:pathLst>
                <a:path w="7194169" h="25400">
                  <a:moveTo>
                    <a:pt x="0" y="0"/>
                  </a:moveTo>
                  <a:lnTo>
                    <a:pt x="7194169" y="0"/>
                  </a:lnTo>
                  <a:lnTo>
                    <a:pt x="7194169" y="25400"/>
                  </a:lnTo>
                  <a:lnTo>
                    <a:pt x="0" y="25400"/>
                  </a:lnTo>
                  <a:lnTo>
                    <a:pt x="0" y="0"/>
                  </a:lnTo>
                  <a:close/>
                </a:path>
              </a:pathLst>
            </a:custGeom>
            <a:blipFill>
              <a:blip r:embed="rId4"/>
              <a:stretch>
                <a:fillRect t="-41" b="-58"/>
              </a:stretch>
            </a:blipFill>
          </p:spPr>
        </p:sp>
      </p:grpSp>
      <p:grpSp>
        <p:nvGrpSpPr>
          <p:cNvPr id="18" name="Group 18"/>
          <p:cNvGrpSpPr/>
          <p:nvPr/>
        </p:nvGrpSpPr>
        <p:grpSpPr>
          <a:xfrm>
            <a:off x="9190730" y="8638137"/>
            <a:ext cx="5395760" cy="19050"/>
            <a:chOff x="0" y="0"/>
            <a:chExt cx="7194347" cy="25400"/>
          </a:xfrm>
        </p:grpSpPr>
        <p:sp>
          <p:nvSpPr>
            <p:cNvPr id="19" name="Freeform 19" descr="preencoded.png"/>
            <p:cNvSpPr/>
            <p:nvPr/>
          </p:nvSpPr>
          <p:spPr>
            <a:xfrm>
              <a:off x="0" y="0"/>
              <a:ext cx="7194296" cy="25400"/>
            </a:xfrm>
            <a:custGeom>
              <a:avLst/>
              <a:gdLst/>
              <a:ahLst/>
              <a:cxnLst/>
              <a:rect l="l" t="t" r="r" b="b"/>
              <a:pathLst>
                <a:path w="7194296" h="25400">
                  <a:moveTo>
                    <a:pt x="0" y="0"/>
                  </a:moveTo>
                  <a:lnTo>
                    <a:pt x="7194296" y="0"/>
                  </a:lnTo>
                  <a:lnTo>
                    <a:pt x="7194296" y="25400"/>
                  </a:lnTo>
                  <a:lnTo>
                    <a:pt x="0" y="25400"/>
                  </a:lnTo>
                  <a:lnTo>
                    <a:pt x="0" y="0"/>
                  </a:lnTo>
                  <a:close/>
                </a:path>
              </a:pathLst>
            </a:custGeom>
            <a:blipFill>
              <a:blip r:embed="rId4"/>
              <a:stretch>
                <a:fillRect t="-42" b="-57"/>
              </a:stretch>
            </a:blipFill>
          </p:spPr>
        </p:sp>
      </p:grpSp>
      <p:sp>
        <p:nvSpPr>
          <p:cNvPr id="20" name="TextBox 20"/>
          <p:cNvSpPr txBox="1"/>
          <p:nvPr/>
        </p:nvSpPr>
        <p:spPr>
          <a:xfrm>
            <a:off x="3701358" y="837009"/>
            <a:ext cx="4451899" cy="511969"/>
          </a:xfrm>
          <a:prstGeom prst="rect">
            <a:avLst/>
          </a:prstGeom>
        </p:spPr>
        <p:txBody>
          <a:bodyPr lIns="0" tIns="0" rIns="0" bIns="0" rtlCol="0" anchor="t">
            <a:spAutoFit/>
          </a:bodyPr>
          <a:lstStyle/>
          <a:p>
            <a:pPr algn="l">
              <a:lnSpc>
                <a:spcPts val="3875"/>
              </a:lnSpc>
            </a:pPr>
            <a:r>
              <a:rPr lang="en-US" sz="3062">
                <a:solidFill>
                  <a:srgbClr val="F98AC7"/>
                </a:solidFill>
                <a:latin typeface="Lora"/>
                <a:ea typeface="Lora"/>
                <a:cs typeface="Lora"/>
                <a:sym typeface="Lora"/>
              </a:rPr>
              <a:t>Introducing EventGuard</a:t>
            </a:r>
          </a:p>
        </p:txBody>
      </p:sp>
      <p:sp>
        <p:nvSpPr>
          <p:cNvPr id="21" name="TextBox 21"/>
          <p:cNvSpPr txBox="1"/>
          <p:nvPr/>
        </p:nvSpPr>
        <p:spPr>
          <a:xfrm>
            <a:off x="3701358" y="1376953"/>
            <a:ext cx="4282078" cy="255984"/>
          </a:xfrm>
          <a:prstGeom prst="rect">
            <a:avLst/>
          </a:prstGeom>
        </p:spPr>
        <p:txBody>
          <a:bodyPr lIns="0" tIns="0" rIns="0" bIns="0" rtlCol="0" anchor="t">
            <a:spAutoFit/>
          </a:bodyPr>
          <a:lstStyle/>
          <a:p>
            <a:pPr algn="l">
              <a:lnSpc>
                <a:spcPts val="1937"/>
              </a:lnSpc>
            </a:pPr>
            <a:r>
              <a:rPr lang="en-US" sz="1500">
                <a:solidFill>
                  <a:srgbClr val="F98AC7"/>
                </a:solidFill>
                <a:latin typeface="Lora"/>
                <a:ea typeface="Lora"/>
                <a:cs typeface="Lora"/>
                <a:sym typeface="Lora"/>
              </a:rPr>
              <a:t>A Centralized Insurance Management Platform</a:t>
            </a:r>
          </a:p>
        </p:txBody>
      </p:sp>
      <p:sp>
        <p:nvSpPr>
          <p:cNvPr id="22" name="TextBox 22"/>
          <p:cNvSpPr txBox="1"/>
          <p:nvPr/>
        </p:nvSpPr>
        <p:spPr>
          <a:xfrm>
            <a:off x="11051972" y="3500142"/>
            <a:ext cx="3543891" cy="907082"/>
          </a:xfrm>
          <a:prstGeom prst="rect">
            <a:avLst/>
          </a:prstGeom>
        </p:spPr>
        <p:txBody>
          <a:bodyPr lIns="0" tIns="0" rIns="0" bIns="0" rtlCol="0" anchor="t">
            <a:spAutoFit/>
          </a:bodyPr>
          <a:lstStyle/>
          <a:p>
            <a:pPr algn="l">
              <a:lnSpc>
                <a:spcPts val="1872"/>
              </a:lnSpc>
            </a:pPr>
            <a:r>
              <a:rPr lang="en-US" sz="1512">
                <a:solidFill>
                  <a:srgbClr val="D6E5EF"/>
                </a:solidFill>
                <a:latin typeface="Source Sans 3"/>
                <a:ea typeface="Source Sans 3"/>
                <a:cs typeface="Source Sans 3"/>
                <a:sym typeface="Source Sans 3"/>
              </a:rPr>
              <a:t>EventGuard digitizes the entire lifecycle of event insurance operations, providing a comprehensive solution for modern event risk management.</a:t>
            </a:r>
          </a:p>
        </p:txBody>
      </p:sp>
      <p:sp>
        <p:nvSpPr>
          <p:cNvPr id="23" name="TextBox 23"/>
          <p:cNvSpPr txBox="1"/>
          <p:nvPr/>
        </p:nvSpPr>
        <p:spPr>
          <a:xfrm>
            <a:off x="3701358" y="5949848"/>
            <a:ext cx="167583" cy="218923"/>
          </a:xfrm>
          <a:prstGeom prst="rect">
            <a:avLst/>
          </a:prstGeom>
        </p:spPr>
        <p:txBody>
          <a:bodyPr lIns="0" tIns="0" rIns="0" bIns="0" rtlCol="0" anchor="t">
            <a:spAutoFit/>
          </a:bodyPr>
          <a:lstStyle/>
          <a:p>
            <a:pPr algn="l">
              <a:lnSpc>
                <a:spcPts val="1624"/>
              </a:lnSpc>
            </a:pPr>
            <a:r>
              <a:rPr lang="en-US" sz="1312">
                <a:solidFill>
                  <a:srgbClr val="D6E5EF"/>
                </a:solidFill>
                <a:latin typeface="Lora"/>
                <a:ea typeface="Lora"/>
                <a:cs typeface="Lora"/>
                <a:sym typeface="Lora"/>
              </a:rPr>
              <a:t>01</a:t>
            </a:r>
          </a:p>
        </p:txBody>
      </p:sp>
      <p:sp>
        <p:nvSpPr>
          <p:cNvPr id="24" name="TextBox 24"/>
          <p:cNvSpPr txBox="1"/>
          <p:nvPr/>
        </p:nvSpPr>
        <p:spPr>
          <a:xfrm>
            <a:off x="3701358" y="6337402"/>
            <a:ext cx="1971827" cy="255984"/>
          </a:xfrm>
          <a:prstGeom prst="rect">
            <a:avLst/>
          </a:prstGeom>
        </p:spPr>
        <p:txBody>
          <a:bodyPr lIns="0" tIns="0" rIns="0" bIns="0" rtlCol="0" anchor="t">
            <a:spAutoFit/>
          </a:bodyPr>
          <a:lstStyle/>
          <a:p>
            <a:pPr algn="l">
              <a:lnSpc>
                <a:spcPts val="1937"/>
              </a:lnSpc>
            </a:pPr>
            <a:r>
              <a:rPr lang="en-US" sz="1500">
                <a:solidFill>
                  <a:srgbClr val="D6E5EF"/>
                </a:solidFill>
                <a:latin typeface="Lora"/>
                <a:ea typeface="Lora"/>
                <a:cs typeface="Lora"/>
                <a:sym typeface="Lora"/>
              </a:rPr>
              <a:t>Digital Event Records</a:t>
            </a:r>
          </a:p>
        </p:txBody>
      </p:sp>
      <p:sp>
        <p:nvSpPr>
          <p:cNvPr id="25" name="TextBox 25"/>
          <p:cNvSpPr txBox="1"/>
          <p:nvPr/>
        </p:nvSpPr>
        <p:spPr>
          <a:xfrm>
            <a:off x="3701358" y="6649641"/>
            <a:ext cx="5395617" cy="418205"/>
          </a:xfrm>
          <a:prstGeom prst="rect">
            <a:avLst/>
          </a:prstGeom>
        </p:spPr>
        <p:txBody>
          <a:bodyPr lIns="0" tIns="0" rIns="0" bIns="0" rtlCol="0" anchor="t">
            <a:spAutoFit/>
          </a:bodyPr>
          <a:lstStyle/>
          <a:p>
            <a:pPr algn="l">
              <a:lnSpc>
                <a:spcPts val="1624"/>
              </a:lnSpc>
            </a:pPr>
            <a:r>
              <a:rPr lang="en-US" sz="1312">
                <a:solidFill>
                  <a:srgbClr val="D6E5EF"/>
                </a:solidFill>
                <a:latin typeface="Source Sans 3"/>
                <a:ea typeface="Source Sans 3"/>
                <a:cs typeface="Source Sans 3"/>
                <a:sym typeface="Source Sans 3"/>
              </a:rPr>
              <a:t>Customers create event records with event type, location, budget, and duration</a:t>
            </a:r>
          </a:p>
        </p:txBody>
      </p:sp>
      <p:sp>
        <p:nvSpPr>
          <p:cNvPr id="26" name="TextBox 26"/>
          <p:cNvSpPr txBox="1"/>
          <p:nvPr/>
        </p:nvSpPr>
        <p:spPr>
          <a:xfrm>
            <a:off x="9190730" y="5949848"/>
            <a:ext cx="167583" cy="218923"/>
          </a:xfrm>
          <a:prstGeom prst="rect">
            <a:avLst/>
          </a:prstGeom>
        </p:spPr>
        <p:txBody>
          <a:bodyPr lIns="0" tIns="0" rIns="0" bIns="0" rtlCol="0" anchor="t">
            <a:spAutoFit/>
          </a:bodyPr>
          <a:lstStyle/>
          <a:p>
            <a:pPr algn="l">
              <a:lnSpc>
                <a:spcPts val="1624"/>
              </a:lnSpc>
            </a:pPr>
            <a:r>
              <a:rPr lang="en-US" sz="1312">
                <a:solidFill>
                  <a:srgbClr val="D6E5EF"/>
                </a:solidFill>
                <a:latin typeface="Lora"/>
                <a:ea typeface="Lora"/>
                <a:cs typeface="Lora"/>
                <a:sym typeface="Lora"/>
              </a:rPr>
              <a:t>02</a:t>
            </a:r>
          </a:p>
        </p:txBody>
      </p:sp>
      <p:sp>
        <p:nvSpPr>
          <p:cNvPr id="27" name="TextBox 27"/>
          <p:cNvSpPr txBox="1"/>
          <p:nvPr/>
        </p:nvSpPr>
        <p:spPr>
          <a:xfrm>
            <a:off x="9190730" y="6337402"/>
            <a:ext cx="1971827" cy="255984"/>
          </a:xfrm>
          <a:prstGeom prst="rect">
            <a:avLst/>
          </a:prstGeom>
        </p:spPr>
        <p:txBody>
          <a:bodyPr lIns="0" tIns="0" rIns="0" bIns="0" rtlCol="0" anchor="t">
            <a:spAutoFit/>
          </a:bodyPr>
          <a:lstStyle/>
          <a:p>
            <a:pPr algn="l">
              <a:lnSpc>
                <a:spcPts val="1937"/>
              </a:lnSpc>
            </a:pPr>
            <a:r>
              <a:rPr lang="en-US" sz="1500">
                <a:solidFill>
                  <a:srgbClr val="D6E5EF"/>
                </a:solidFill>
                <a:latin typeface="Lora"/>
                <a:ea typeface="Lora"/>
                <a:cs typeface="Lora"/>
                <a:sym typeface="Lora"/>
              </a:rPr>
              <a:t>Policy Selection</a:t>
            </a:r>
          </a:p>
        </p:txBody>
      </p:sp>
      <p:sp>
        <p:nvSpPr>
          <p:cNvPr id="28" name="TextBox 28"/>
          <p:cNvSpPr txBox="1"/>
          <p:nvPr/>
        </p:nvSpPr>
        <p:spPr>
          <a:xfrm>
            <a:off x="9190730" y="6649641"/>
            <a:ext cx="5395760" cy="418205"/>
          </a:xfrm>
          <a:prstGeom prst="rect">
            <a:avLst/>
          </a:prstGeom>
        </p:spPr>
        <p:txBody>
          <a:bodyPr lIns="0" tIns="0" rIns="0" bIns="0" rtlCol="0" anchor="t">
            <a:spAutoFit/>
          </a:bodyPr>
          <a:lstStyle/>
          <a:p>
            <a:pPr algn="l">
              <a:lnSpc>
                <a:spcPts val="1624"/>
              </a:lnSpc>
            </a:pPr>
            <a:r>
              <a:rPr lang="en-US" sz="1312">
                <a:solidFill>
                  <a:srgbClr val="D6E5EF"/>
                </a:solidFill>
                <a:latin typeface="Source Sans 3"/>
                <a:ea typeface="Source Sans 3"/>
                <a:cs typeface="Source Sans 3"/>
                <a:sym typeface="Source Sans 3"/>
              </a:rPr>
              <a:t>Users select suitable insurance policies based on event category and coverage needs</a:t>
            </a:r>
          </a:p>
        </p:txBody>
      </p:sp>
      <p:sp>
        <p:nvSpPr>
          <p:cNvPr id="29" name="TextBox 29"/>
          <p:cNvSpPr txBox="1"/>
          <p:nvPr/>
        </p:nvSpPr>
        <p:spPr>
          <a:xfrm>
            <a:off x="3701358" y="7277691"/>
            <a:ext cx="167583" cy="218923"/>
          </a:xfrm>
          <a:prstGeom prst="rect">
            <a:avLst/>
          </a:prstGeom>
        </p:spPr>
        <p:txBody>
          <a:bodyPr lIns="0" tIns="0" rIns="0" bIns="0" rtlCol="0" anchor="t">
            <a:spAutoFit/>
          </a:bodyPr>
          <a:lstStyle/>
          <a:p>
            <a:pPr algn="l">
              <a:lnSpc>
                <a:spcPts val="1624"/>
              </a:lnSpc>
            </a:pPr>
            <a:r>
              <a:rPr lang="en-US" sz="1312">
                <a:solidFill>
                  <a:srgbClr val="D6E5EF"/>
                </a:solidFill>
                <a:latin typeface="Lora"/>
                <a:ea typeface="Lora"/>
                <a:cs typeface="Lora"/>
                <a:sym typeface="Lora"/>
              </a:rPr>
              <a:t>03</a:t>
            </a:r>
          </a:p>
        </p:txBody>
      </p:sp>
      <p:sp>
        <p:nvSpPr>
          <p:cNvPr id="30" name="TextBox 30"/>
          <p:cNvSpPr txBox="1"/>
          <p:nvPr/>
        </p:nvSpPr>
        <p:spPr>
          <a:xfrm>
            <a:off x="3701358" y="7665244"/>
            <a:ext cx="2446887" cy="255984"/>
          </a:xfrm>
          <a:prstGeom prst="rect">
            <a:avLst/>
          </a:prstGeom>
        </p:spPr>
        <p:txBody>
          <a:bodyPr lIns="0" tIns="0" rIns="0" bIns="0" rtlCol="0" anchor="t">
            <a:spAutoFit/>
          </a:bodyPr>
          <a:lstStyle/>
          <a:p>
            <a:pPr algn="l">
              <a:lnSpc>
                <a:spcPts val="1937"/>
              </a:lnSpc>
            </a:pPr>
            <a:r>
              <a:rPr lang="en-US" sz="1500">
                <a:solidFill>
                  <a:srgbClr val="D6E5EF"/>
                </a:solidFill>
                <a:latin typeface="Lora"/>
                <a:ea typeface="Lora"/>
                <a:cs typeface="Lora"/>
                <a:sym typeface="Lora"/>
              </a:rPr>
              <a:t>Automated Risk Evaluation</a:t>
            </a:r>
          </a:p>
        </p:txBody>
      </p:sp>
      <p:sp>
        <p:nvSpPr>
          <p:cNvPr id="31" name="TextBox 31"/>
          <p:cNvSpPr txBox="1"/>
          <p:nvPr/>
        </p:nvSpPr>
        <p:spPr>
          <a:xfrm>
            <a:off x="3701358" y="7977483"/>
            <a:ext cx="5395617" cy="209102"/>
          </a:xfrm>
          <a:prstGeom prst="rect">
            <a:avLst/>
          </a:prstGeom>
        </p:spPr>
        <p:txBody>
          <a:bodyPr lIns="0" tIns="0" rIns="0" bIns="0" rtlCol="0" anchor="t">
            <a:spAutoFit/>
          </a:bodyPr>
          <a:lstStyle/>
          <a:p>
            <a:pPr algn="l">
              <a:lnSpc>
                <a:spcPts val="1624"/>
              </a:lnSpc>
            </a:pPr>
            <a:r>
              <a:rPr lang="en-US" sz="1312">
                <a:solidFill>
                  <a:srgbClr val="D6E5EF"/>
                </a:solidFill>
                <a:latin typeface="Source Sans 3"/>
                <a:ea typeface="Source Sans 3"/>
                <a:cs typeface="Source Sans 3"/>
                <a:sym typeface="Source Sans 3"/>
              </a:rPr>
              <a:t>Rule-based logic analyzes event characteristics and operational parameters</a:t>
            </a:r>
          </a:p>
        </p:txBody>
      </p:sp>
      <p:sp>
        <p:nvSpPr>
          <p:cNvPr id="32" name="TextBox 32"/>
          <p:cNvSpPr txBox="1"/>
          <p:nvPr/>
        </p:nvSpPr>
        <p:spPr>
          <a:xfrm>
            <a:off x="9190730" y="7277691"/>
            <a:ext cx="167583" cy="218923"/>
          </a:xfrm>
          <a:prstGeom prst="rect">
            <a:avLst/>
          </a:prstGeom>
        </p:spPr>
        <p:txBody>
          <a:bodyPr lIns="0" tIns="0" rIns="0" bIns="0" rtlCol="0" anchor="t">
            <a:spAutoFit/>
          </a:bodyPr>
          <a:lstStyle/>
          <a:p>
            <a:pPr algn="l">
              <a:lnSpc>
                <a:spcPts val="1624"/>
              </a:lnSpc>
            </a:pPr>
            <a:r>
              <a:rPr lang="en-US" sz="1312">
                <a:solidFill>
                  <a:srgbClr val="D6E5EF"/>
                </a:solidFill>
                <a:latin typeface="Lora"/>
                <a:ea typeface="Lora"/>
                <a:cs typeface="Lora"/>
                <a:sym typeface="Lora"/>
              </a:rPr>
              <a:t>04</a:t>
            </a:r>
          </a:p>
        </p:txBody>
      </p:sp>
      <p:sp>
        <p:nvSpPr>
          <p:cNvPr id="33" name="TextBox 33"/>
          <p:cNvSpPr txBox="1"/>
          <p:nvPr/>
        </p:nvSpPr>
        <p:spPr>
          <a:xfrm>
            <a:off x="9190730" y="7665244"/>
            <a:ext cx="2000545" cy="255984"/>
          </a:xfrm>
          <a:prstGeom prst="rect">
            <a:avLst/>
          </a:prstGeom>
        </p:spPr>
        <p:txBody>
          <a:bodyPr lIns="0" tIns="0" rIns="0" bIns="0" rtlCol="0" anchor="t">
            <a:spAutoFit/>
          </a:bodyPr>
          <a:lstStyle/>
          <a:p>
            <a:pPr algn="l">
              <a:lnSpc>
                <a:spcPts val="1937"/>
              </a:lnSpc>
            </a:pPr>
            <a:r>
              <a:rPr lang="en-US" sz="1500">
                <a:solidFill>
                  <a:srgbClr val="D6E5EF"/>
                </a:solidFill>
                <a:latin typeface="Lora"/>
                <a:ea typeface="Lora"/>
                <a:cs typeface="Lora"/>
                <a:sym typeface="Lora"/>
              </a:rPr>
              <a:t>Weather Risk Analysis</a:t>
            </a:r>
          </a:p>
        </p:txBody>
      </p:sp>
      <p:sp>
        <p:nvSpPr>
          <p:cNvPr id="34" name="TextBox 34"/>
          <p:cNvSpPr txBox="1"/>
          <p:nvPr/>
        </p:nvSpPr>
        <p:spPr>
          <a:xfrm>
            <a:off x="9190730" y="7977483"/>
            <a:ext cx="5395760" cy="209102"/>
          </a:xfrm>
          <a:prstGeom prst="rect">
            <a:avLst/>
          </a:prstGeom>
        </p:spPr>
        <p:txBody>
          <a:bodyPr lIns="0" tIns="0" rIns="0" bIns="0" rtlCol="0" anchor="t">
            <a:spAutoFit/>
          </a:bodyPr>
          <a:lstStyle/>
          <a:p>
            <a:pPr algn="l">
              <a:lnSpc>
                <a:spcPts val="1624"/>
              </a:lnSpc>
            </a:pPr>
            <a:r>
              <a:rPr lang="en-US" sz="1312">
                <a:solidFill>
                  <a:srgbClr val="D6E5EF"/>
                </a:solidFill>
                <a:latin typeface="Source Sans 3"/>
                <a:ea typeface="Source Sans 3"/>
                <a:cs typeface="Source Sans 3"/>
                <a:sym typeface="Source Sans 3"/>
              </a:rPr>
              <a:t>Additional analysis for outdoor events using weather data integration</a:t>
            </a:r>
          </a:p>
        </p:txBody>
      </p:sp>
      <p:sp>
        <p:nvSpPr>
          <p:cNvPr id="35" name="TextBox 35"/>
          <p:cNvSpPr txBox="1"/>
          <p:nvPr/>
        </p:nvSpPr>
        <p:spPr>
          <a:xfrm>
            <a:off x="3701358" y="8396440"/>
            <a:ext cx="167583" cy="218923"/>
          </a:xfrm>
          <a:prstGeom prst="rect">
            <a:avLst/>
          </a:prstGeom>
        </p:spPr>
        <p:txBody>
          <a:bodyPr lIns="0" tIns="0" rIns="0" bIns="0" rtlCol="0" anchor="t">
            <a:spAutoFit/>
          </a:bodyPr>
          <a:lstStyle/>
          <a:p>
            <a:pPr algn="l">
              <a:lnSpc>
                <a:spcPts val="1624"/>
              </a:lnSpc>
            </a:pPr>
            <a:r>
              <a:rPr lang="en-US" sz="1312">
                <a:solidFill>
                  <a:srgbClr val="D6E5EF"/>
                </a:solidFill>
                <a:latin typeface="Lora"/>
                <a:ea typeface="Lora"/>
                <a:cs typeface="Lora"/>
                <a:sym typeface="Lora"/>
              </a:rPr>
              <a:t>05</a:t>
            </a:r>
          </a:p>
        </p:txBody>
      </p:sp>
      <p:sp>
        <p:nvSpPr>
          <p:cNvPr id="36" name="TextBox 36"/>
          <p:cNvSpPr txBox="1"/>
          <p:nvPr/>
        </p:nvSpPr>
        <p:spPr>
          <a:xfrm>
            <a:off x="3701358" y="8783984"/>
            <a:ext cx="1971827" cy="255984"/>
          </a:xfrm>
          <a:prstGeom prst="rect">
            <a:avLst/>
          </a:prstGeom>
        </p:spPr>
        <p:txBody>
          <a:bodyPr lIns="0" tIns="0" rIns="0" bIns="0" rtlCol="0" anchor="t">
            <a:spAutoFit/>
          </a:bodyPr>
          <a:lstStyle/>
          <a:p>
            <a:pPr algn="l">
              <a:lnSpc>
                <a:spcPts val="1937"/>
              </a:lnSpc>
            </a:pPr>
            <a:r>
              <a:rPr lang="en-US" sz="1500">
                <a:solidFill>
                  <a:srgbClr val="D6E5EF"/>
                </a:solidFill>
                <a:latin typeface="Lora"/>
                <a:ea typeface="Lora"/>
                <a:cs typeface="Lora"/>
                <a:sym typeface="Lora"/>
              </a:rPr>
              <a:t>Premium Calculation</a:t>
            </a:r>
          </a:p>
        </p:txBody>
      </p:sp>
      <p:sp>
        <p:nvSpPr>
          <p:cNvPr id="37" name="TextBox 37"/>
          <p:cNvSpPr txBox="1"/>
          <p:nvPr/>
        </p:nvSpPr>
        <p:spPr>
          <a:xfrm>
            <a:off x="3701358" y="9096223"/>
            <a:ext cx="5395617" cy="209102"/>
          </a:xfrm>
          <a:prstGeom prst="rect">
            <a:avLst/>
          </a:prstGeom>
        </p:spPr>
        <p:txBody>
          <a:bodyPr lIns="0" tIns="0" rIns="0" bIns="0" rtlCol="0" anchor="t">
            <a:spAutoFit/>
          </a:bodyPr>
          <a:lstStyle/>
          <a:p>
            <a:pPr algn="l">
              <a:lnSpc>
                <a:spcPts val="1624"/>
              </a:lnSpc>
            </a:pPr>
            <a:r>
              <a:rPr lang="en-US" sz="1312">
                <a:solidFill>
                  <a:srgbClr val="D6E5EF"/>
                </a:solidFill>
                <a:latin typeface="Source Sans 3"/>
                <a:ea typeface="Source Sans 3"/>
                <a:cs typeface="Source Sans 3"/>
                <a:sym typeface="Source Sans 3"/>
              </a:rPr>
              <a:t>Automated premium estimation using policy base rates and risk levels</a:t>
            </a:r>
          </a:p>
        </p:txBody>
      </p:sp>
      <p:sp>
        <p:nvSpPr>
          <p:cNvPr id="38" name="TextBox 38"/>
          <p:cNvSpPr txBox="1"/>
          <p:nvPr/>
        </p:nvSpPr>
        <p:spPr>
          <a:xfrm>
            <a:off x="9190730" y="8396440"/>
            <a:ext cx="167583" cy="218923"/>
          </a:xfrm>
          <a:prstGeom prst="rect">
            <a:avLst/>
          </a:prstGeom>
        </p:spPr>
        <p:txBody>
          <a:bodyPr lIns="0" tIns="0" rIns="0" bIns="0" rtlCol="0" anchor="t">
            <a:spAutoFit/>
          </a:bodyPr>
          <a:lstStyle/>
          <a:p>
            <a:pPr algn="l">
              <a:lnSpc>
                <a:spcPts val="1624"/>
              </a:lnSpc>
            </a:pPr>
            <a:r>
              <a:rPr lang="en-US" sz="1312">
                <a:solidFill>
                  <a:srgbClr val="D6E5EF"/>
                </a:solidFill>
                <a:latin typeface="Lora"/>
                <a:ea typeface="Lora"/>
                <a:cs typeface="Lora"/>
                <a:sym typeface="Lora"/>
              </a:rPr>
              <a:t>06</a:t>
            </a:r>
          </a:p>
        </p:txBody>
      </p:sp>
      <p:sp>
        <p:nvSpPr>
          <p:cNvPr id="39" name="TextBox 39"/>
          <p:cNvSpPr txBox="1"/>
          <p:nvPr/>
        </p:nvSpPr>
        <p:spPr>
          <a:xfrm>
            <a:off x="9190730" y="8783984"/>
            <a:ext cx="2144611" cy="255984"/>
          </a:xfrm>
          <a:prstGeom prst="rect">
            <a:avLst/>
          </a:prstGeom>
        </p:spPr>
        <p:txBody>
          <a:bodyPr lIns="0" tIns="0" rIns="0" bIns="0" rtlCol="0" anchor="t">
            <a:spAutoFit/>
          </a:bodyPr>
          <a:lstStyle/>
          <a:p>
            <a:pPr algn="l">
              <a:lnSpc>
                <a:spcPts val="1937"/>
              </a:lnSpc>
            </a:pPr>
            <a:r>
              <a:rPr lang="en-US" sz="1500">
                <a:solidFill>
                  <a:srgbClr val="D6E5EF"/>
                </a:solidFill>
                <a:latin typeface="Lora"/>
                <a:ea typeface="Lora"/>
                <a:cs typeface="Lora"/>
                <a:sym typeface="Lora"/>
              </a:rPr>
              <a:t>Workflow Management</a:t>
            </a:r>
          </a:p>
        </p:txBody>
      </p:sp>
      <p:sp>
        <p:nvSpPr>
          <p:cNvPr id="40" name="TextBox 40"/>
          <p:cNvSpPr txBox="1"/>
          <p:nvPr/>
        </p:nvSpPr>
        <p:spPr>
          <a:xfrm>
            <a:off x="9190730" y="9096223"/>
            <a:ext cx="5395760" cy="209102"/>
          </a:xfrm>
          <a:prstGeom prst="rect">
            <a:avLst/>
          </a:prstGeom>
        </p:spPr>
        <p:txBody>
          <a:bodyPr lIns="0" tIns="0" rIns="0" bIns="0" rtlCol="0" anchor="t">
            <a:spAutoFit/>
          </a:bodyPr>
          <a:lstStyle/>
          <a:p>
            <a:pPr algn="l">
              <a:lnSpc>
                <a:spcPts val="1624"/>
              </a:lnSpc>
            </a:pPr>
            <a:r>
              <a:rPr lang="en-US" sz="1312">
                <a:solidFill>
                  <a:srgbClr val="D6E5EF"/>
                </a:solidFill>
                <a:latin typeface="Source Sans 3"/>
                <a:ea typeface="Source Sans 3"/>
                <a:cs typeface="Source Sans 3"/>
                <a:sym typeface="Source Sans 3"/>
              </a:rPr>
              <a:t>Structured approval workflow with administrator assignment of underwriters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A24"/>
            </a:solidFill>
          </p:spPr>
        </p:sp>
      </p:grpSp>
      <p:grpSp>
        <p:nvGrpSpPr>
          <p:cNvPr id="4" name="Group 4"/>
          <p:cNvGrpSpPr/>
          <p:nvPr/>
        </p:nvGrpSpPr>
        <p:grpSpPr>
          <a:xfrm>
            <a:off x="3701358" y="6225035"/>
            <a:ext cx="5395617" cy="19050"/>
            <a:chOff x="0" y="0"/>
            <a:chExt cx="7194156" cy="25400"/>
          </a:xfrm>
        </p:grpSpPr>
        <p:sp>
          <p:nvSpPr>
            <p:cNvPr id="5" name="Freeform 5" descr="preencoded.png"/>
            <p:cNvSpPr/>
            <p:nvPr/>
          </p:nvSpPr>
          <p:spPr>
            <a:xfrm>
              <a:off x="0" y="0"/>
              <a:ext cx="7194169" cy="25400"/>
            </a:xfrm>
            <a:custGeom>
              <a:avLst/>
              <a:gdLst/>
              <a:ahLst/>
              <a:cxnLst/>
              <a:rect l="l" t="t" r="r" b="b"/>
              <a:pathLst>
                <a:path w="7194169" h="25400">
                  <a:moveTo>
                    <a:pt x="0" y="0"/>
                  </a:moveTo>
                  <a:lnTo>
                    <a:pt x="7194169" y="0"/>
                  </a:lnTo>
                  <a:lnTo>
                    <a:pt x="7194169" y="25400"/>
                  </a:lnTo>
                  <a:lnTo>
                    <a:pt x="0" y="25400"/>
                  </a:lnTo>
                  <a:lnTo>
                    <a:pt x="0" y="0"/>
                  </a:lnTo>
                  <a:close/>
                </a:path>
              </a:pathLst>
            </a:custGeom>
            <a:blipFill>
              <a:blip r:embed="rId3"/>
              <a:stretch>
                <a:fillRect t="-41" b="-58"/>
              </a:stretch>
            </a:blipFill>
          </p:spPr>
        </p:sp>
      </p:grpSp>
      <p:grpSp>
        <p:nvGrpSpPr>
          <p:cNvPr id="6" name="Group 6"/>
          <p:cNvGrpSpPr/>
          <p:nvPr/>
        </p:nvGrpSpPr>
        <p:grpSpPr>
          <a:xfrm>
            <a:off x="9190730" y="6225035"/>
            <a:ext cx="5395760" cy="19050"/>
            <a:chOff x="0" y="0"/>
            <a:chExt cx="7194347" cy="25400"/>
          </a:xfrm>
        </p:grpSpPr>
        <p:sp>
          <p:nvSpPr>
            <p:cNvPr id="7" name="Freeform 7" descr="preencoded.png"/>
            <p:cNvSpPr/>
            <p:nvPr/>
          </p:nvSpPr>
          <p:spPr>
            <a:xfrm>
              <a:off x="0" y="0"/>
              <a:ext cx="7194296" cy="25400"/>
            </a:xfrm>
            <a:custGeom>
              <a:avLst/>
              <a:gdLst/>
              <a:ahLst/>
              <a:cxnLst/>
              <a:rect l="l" t="t" r="r" b="b"/>
              <a:pathLst>
                <a:path w="7194296" h="25400">
                  <a:moveTo>
                    <a:pt x="0" y="0"/>
                  </a:moveTo>
                  <a:lnTo>
                    <a:pt x="7194296" y="0"/>
                  </a:lnTo>
                  <a:lnTo>
                    <a:pt x="7194296" y="25400"/>
                  </a:lnTo>
                  <a:lnTo>
                    <a:pt x="0" y="25400"/>
                  </a:lnTo>
                  <a:lnTo>
                    <a:pt x="0" y="0"/>
                  </a:lnTo>
                  <a:close/>
                </a:path>
              </a:pathLst>
            </a:custGeom>
            <a:blipFill>
              <a:blip r:embed="rId3"/>
              <a:stretch>
                <a:fillRect t="-42" b="-57"/>
              </a:stretch>
            </a:blipFill>
          </p:spPr>
        </p:sp>
      </p:grpSp>
      <p:grpSp>
        <p:nvGrpSpPr>
          <p:cNvPr id="8" name="Group 8"/>
          <p:cNvGrpSpPr/>
          <p:nvPr/>
        </p:nvGrpSpPr>
        <p:grpSpPr>
          <a:xfrm>
            <a:off x="3701358" y="7536066"/>
            <a:ext cx="5395617" cy="19050"/>
            <a:chOff x="0" y="0"/>
            <a:chExt cx="7194156" cy="25400"/>
          </a:xfrm>
        </p:grpSpPr>
        <p:sp>
          <p:nvSpPr>
            <p:cNvPr id="9" name="Freeform 9" descr="preencoded.png"/>
            <p:cNvSpPr/>
            <p:nvPr/>
          </p:nvSpPr>
          <p:spPr>
            <a:xfrm>
              <a:off x="0" y="0"/>
              <a:ext cx="7194169" cy="25400"/>
            </a:xfrm>
            <a:custGeom>
              <a:avLst/>
              <a:gdLst/>
              <a:ahLst/>
              <a:cxnLst/>
              <a:rect l="l" t="t" r="r" b="b"/>
              <a:pathLst>
                <a:path w="7194169" h="25400">
                  <a:moveTo>
                    <a:pt x="0" y="0"/>
                  </a:moveTo>
                  <a:lnTo>
                    <a:pt x="7194169" y="0"/>
                  </a:lnTo>
                  <a:lnTo>
                    <a:pt x="7194169" y="25400"/>
                  </a:lnTo>
                  <a:lnTo>
                    <a:pt x="0" y="25400"/>
                  </a:lnTo>
                  <a:lnTo>
                    <a:pt x="0" y="0"/>
                  </a:lnTo>
                  <a:close/>
                </a:path>
              </a:pathLst>
            </a:custGeom>
            <a:blipFill>
              <a:blip r:embed="rId3"/>
              <a:stretch>
                <a:fillRect t="-41" b="-58"/>
              </a:stretch>
            </a:blipFill>
          </p:spPr>
        </p:sp>
      </p:grpSp>
      <p:grpSp>
        <p:nvGrpSpPr>
          <p:cNvPr id="10" name="Group 10"/>
          <p:cNvGrpSpPr/>
          <p:nvPr/>
        </p:nvGrpSpPr>
        <p:grpSpPr>
          <a:xfrm>
            <a:off x="3701358" y="8638137"/>
            <a:ext cx="5395617" cy="19050"/>
            <a:chOff x="0" y="0"/>
            <a:chExt cx="7194156" cy="25400"/>
          </a:xfrm>
        </p:grpSpPr>
        <p:sp>
          <p:nvSpPr>
            <p:cNvPr id="11" name="Freeform 11" descr="preencoded.png"/>
            <p:cNvSpPr/>
            <p:nvPr/>
          </p:nvSpPr>
          <p:spPr>
            <a:xfrm>
              <a:off x="0" y="0"/>
              <a:ext cx="7194169" cy="25400"/>
            </a:xfrm>
            <a:custGeom>
              <a:avLst/>
              <a:gdLst/>
              <a:ahLst/>
              <a:cxnLst/>
              <a:rect l="l" t="t" r="r" b="b"/>
              <a:pathLst>
                <a:path w="7194169" h="25400">
                  <a:moveTo>
                    <a:pt x="0" y="0"/>
                  </a:moveTo>
                  <a:lnTo>
                    <a:pt x="7194169" y="0"/>
                  </a:lnTo>
                  <a:lnTo>
                    <a:pt x="7194169" y="25400"/>
                  </a:lnTo>
                  <a:lnTo>
                    <a:pt x="0" y="25400"/>
                  </a:lnTo>
                  <a:lnTo>
                    <a:pt x="0" y="0"/>
                  </a:lnTo>
                  <a:close/>
                </a:path>
              </a:pathLst>
            </a:custGeom>
            <a:blipFill>
              <a:blip r:embed="rId3"/>
              <a:stretch>
                <a:fillRect t="-41" b="-58"/>
              </a:stretch>
            </a:blipFill>
          </p:spPr>
        </p:sp>
      </p:grpSp>
      <p:grpSp>
        <p:nvGrpSpPr>
          <p:cNvPr id="12" name="Group 12"/>
          <p:cNvGrpSpPr/>
          <p:nvPr/>
        </p:nvGrpSpPr>
        <p:grpSpPr>
          <a:xfrm>
            <a:off x="9190730" y="8638137"/>
            <a:ext cx="5395760" cy="19050"/>
            <a:chOff x="0" y="0"/>
            <a:chExt cx="7194347" cy="25400"/>
          </a:xfrm>
        </p:grpSpPr>
        <p:sp>
          <p:nvSpPr>
            <p:cNvPr id="13" name="Freeform 13" descr="preencoded.png"/>
            <p:cNvSpPr/>
            <p:nvPr/>
          </p:nvSpPr>
          <p:spPr>
            <a:xfrm>
              <a:off x="0" y="0"/>
              <a:ext cx="7194296" cy="25400"/>
            </a:xfrm>
            <a:custGeom>
              <a:avLst/>
              <a:gdLst/>
              <a:ahLst/>
              <a:cxnLst/>
              <a:rect l="l" t="t" r="r" b="b"/>
              <a:pathLst>
                <a:path w="7194296" h="25400">
                  <a:moveTo>
                    <a:pt x="0" y="0"/>
                  </a:moveTo>
                  <a:lnTo>
                    <a:pt x="7194296" y="0"/>
                  </a:lnTo>
                  <a:lnTo>
                    <a:pt x="7194296" y="25400"/>
                  </a:lnTo>
                  <a:lnTo>
                    <a:pt x="0" y="25400"/>
                  </a:lnTo>
                  <a:lnTo>
                    <a:pt x="0" y="0"/>
                  </a:lnTo>
                  <a:close/>
                </a:path>
              </a:pathLst>
            </a:custGeom>
            <a:blipFill>
              <a:blip r:embed="rId3"/>
              <a:stretch>
                <a:fillRect t="-42" b="-57"/>
              </a:stretch>
            </a:blipFill>
          </p:spPr>
        </p:sp>
      </p:grpSp>
      <p:sp>
        <p:nvSpPr>
          <p:cNvPr id="14" name="Freeform 14"/>
          <p:cNvSpPr/>
          <p:nvPr/>
        </p:nvSpPr>
        <p:spPr>
          <a:xfrm>
            <a:off x="5993638" y="100946"/>
            <a:ext cx="6925202" cy="10021873"/>
          </a:xfrm>
          <a:custGeom>
            <a:avLst/>
            <a:gdLst/>
            <a:ahLst/>
            <a:cxnLst/>
            <a:rect l="l" t="t" r="r" b="b"/>
            <a:pathLst>
              <a:path w="6925202" h="10021873">
                <a:moveTo>
                  <a:pt x="0" y="0"/>
                </a:moveTo>
                <a:lnTo>
                  <a:pt x="6925202" y="0"/>
                </a:lnTo>
                <a:lnTo>
                  <a:pt x="6925202" y="10021874"/>
                </a:lnTo>
                <a:lnTo>
                  <a:pt x="0" y="10021874"/>
                </a:lnTo>
                <a:lnTo>
                  <a:pt x="0" y="0"/>
                </a:lnTo>
                <a:close/>
              </a:path>
            </a:pathLst>
          </a:custGeom>
          <a:blipFill>
            <a:blip r:embed="rId4"/>
            <a:stretch>
              <a:fillRect t="-382" b="-1174"/>
            </a:stretch>
          </a:blipFill>
        </p:spPr>
      </p:sp>
      <p:sp>
        <p:nvSpPr>
          <p:cNvPr id="15" name="TextBox 15"/>
          <p:cNvSpPr txBox="1"/>
          <p:nvPr/>
        </p:nvSpPr>
        <p:spPr>
          <a:xfrm>
            <a:off x="1146117" y="478985"/>
            <a:ext cx="3330848" cy="661591"/>
          </a:xfrm>
          <a:prstGeom prst="rect">
            <a:avLst/>
          </a:prstGeom>
        </p:spPr>
        <p:txBody>
          <a:bodyPr lIns="0" tIns="0" rIns="0" bIns="0" rtlCol="0" anchor="t">
            <a:spAutoFit/>
          </a:bodyPr>
          <a:lstStyle/>
          <a:p>
            <a:pPr algn="ctr">
              <a:lnSpc>
                <a:spcPts val="5203"/>
              </a:lnSpc>
              <a:spcBef>
                <a:spcPct val="0"/>
              </a:spcBef>
            </a:pPr>
            <a:r>
              <a:rPr lang="en-US" sz="4239">
                <a:solidFill>
                  <a:srgbClr val="F98AC7"/>
                </a:solidFill>
                <a:latin typeface="Lora"/>
                <a:ea typeface="Lora"/>
                <a:cs typeface="Lora"/>
                <a:sym typeface="Lora"/>
              </a:rPr>
              <a:t>ER DIAGRAM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A2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52833"/>
            </a:solidFill>
          </p:spPr>
        </p:sp>
      </p:grpSp>
      <p:sp>
        <p:nvSpPr>
          <p:cNvPr id="6" name="TextBox 6"/>
          <p:cNvSpPr txBox="1"/>
          <p:nvPr/>
        </p:nvSpPr>
        <p:spPr>
          <a:xfrm>
            <a:off x="2254148" y="1348530"/>
            <a:ext cx="4992586" cy="652615"/>
          </a:xfrm>
          <a:prstGeom prst="rect">
            <a:avLst/>
          </a:prstGeom>
        </p:spPr>
        <p:txBody>
          <a:bodyPr lIns="0" tIns="0" rIns="0" bIns="0" rtlCol="0" anchor="t">
            <a:spAutoFit/>
          </a:bodyPr>
          <a:lstStyle/>
          <a:p>
            <a:pPr algn="l">
              <a:lnSpc>
                <a:spcPts val="4875"/>
              </a:lnSpc>
            </a:pPr>
            <a:r>
              <a:rPr lang="en-US" sz="3875">
                <a:solidFill>
                  <a:srgbClr val="F98AC7"/>
                </a:solidFill>
                <a:latin typeface="Lora"/>
                <a:ea typeface="Lora"/>
                <a:cs typeface="Lora"/>
                <a:sym typeface="Lora"/>
              </a:rPr>
              <a:t>Technology Stack</a:t>
            </a:r>
          </a:p>
        </p:txBody>
      </p:sp>
      <p:sp>
        <p:nvSpPr>
          <p:cNvPr id="7" name="Freeform 7" descr="preencoded.png"/>
          <p:cNvSpPr/>
          <p:nvPr/>
        </p:nvSpPr>
        <p:spPr>
          <a:xfrm>
            <a:off x="2254148" y="2302078"/>
            <a:ext cx="530428" cy="530428"/>
          </a:xfrm>
          <a:custGeom>
            <a:avLst/>
            <a:gdLst/>
            <a:ahLst/>
            <a:cxnLst/>
            <a:rect l="l" t="t" r="r" b="b"/>
            <a:pathLst>
              <a:path w="530428" h="530428">
                <a:moveTo>
                  <a:pt x="0" y="0"/>
                </a:moveTo>
                <a:lnTo>
                  <a:pt x="530429" y="0"/>
                </a:lnTo>
                <a:lnTo>
                  <a:pt x="530429" y="530428"/>
                </a:lnTo>
                <a:lnTo>
                  <a:pt x="0" y="530428"/>
                </a:lnTo>
                <a:lnTo>
                  <a:pt x="0" y="0"/>
                </a:lnTo>
                <a:close/>
              </a:path>
            </a:pathLst>
          </a:custGeom>
          <a:blipFill>
            <a:blip>
              <a:extLst>
                <a:ext uri="{96DAC541-7B7A-43D3-8B79-37D633B846F1}">
                  <asvg:svgBlip xmlns:asvg="http://schemas.microsoft.com/office/drawing/2016/SVG/main" r:embed="rId3"/>
                </a:ext>
              </a:extLst>
            </a:blip>
            <a:stretch>
              <a:fillRect t="-2679" b="-2677"/>
            </a:stretch>
          </a:blipFill>
        </p:spPr>
      </p:sp>
      <p:sp>
        <p:nvSpPr>
          <p:cNvPr id="8" name="TextBox 8"/>
          <p:cNvSpPr txBox="1"/>
          <p:nvPr/>
        </p:nvSpPr>
        <p:spPr>
          <a:xfrm>
            <a:off x="2254148" y="3010938"/>
            <a:ext cx="2496293" cy="321469"/>
          </a:xfrm>
          <a:prstGeom prst="rect">
            <a:avLst/>
          </a:prstGeom>
        </p:spPr>
        <p:txBody>
          <a:bodyPr lIns="0" tIns="0" rIns="0" bIns="0" rtlCol="0" anchor="t">
            <a:spAutoFit/>
          </a:bodyPr>
          <a:lstStyle/>
          <a:p>
            <a:pPr algn="l">
              <a:lnSpc>
                <a:spcPts val="2437"/>
              </a:lnSpc>
            </a:pPr>
            <a:r>
              <a:rPr lang="en-US" sz="1937">
                <a:solidFill>
                  <a:srgbClr val="D6E5EF"/>
                </a:solidFill>
                <a:latin typeface="Lora"/>
                <a:ea typeface="Lora"/>
                <a:cs typeface="Lora"/>
                <a:sym typeface="Lora"/>
              </a:rPr>
              <a:t>Angular</a:t>
            </a:r>
          </a:p>
        </p:txBody>
      </p:sp>
      <p:sp>
        <p:nvSpPr>
          <p:cNvPr id="9" name="TextBox 9"/>
          <p:cNvSpPr txBox="1"/>
          <p:nvPr/>
        </p:nvSpPr>
        <p:spPr>
          <a:xfrm>
            <a:off x="2254148" y="3394024"/>
            <a:ext cx="6795792" cy="608705"/>
          </a:xfrm>
          <a:prstGeom prst="rect">
            <a:avLst/>
          </a:prstGeom>
        </p:spPr>
        <p:txBody>
          <a:bodyPr lIns="0" tIns="0" rIns="0" bIns="0" rtlCol="0" anchor="t">
            <a:spAutoFit/>
          </a:bodyPr>
          <a:lstStyle/>
          <a:p>
            <a:pPr algn="l">
              <a:lnSpc>
                <a:spcPts val="2250"/>
              </a:lnSpc>
            </a:pPr>
            <a:r>
              <a:rPr lang="en-US" sz="1625">
                <a:solidFill>
                  <a:srgbClr val="D6E5EF"/>
                </a:solidFill>
                <a:latin typeface="Source Sans 3"/>
                <a:ea typeface="Source Sans 3"/>
                <a:cs typeface="Source Sans 3"/>
                <a:sym typeface="Source Sans 3"/>
              </a:rPr>
              <a:t>Responsive and interactive user interface for managing events, policies, subscriptions, and claims efficiently</a:t>
            </a:r>
          </a:p>
        </p:txBody>
      </p:sp>
      <p:sp>
        <p:nvSpPr>
          <p:cNvPr id="10" name="Freeform 10" descr="preencoded.png"/>
          <p:cNvSpPr/>
          <p:nvPr/>
        </p:nvSpPr>
        <p:spPr>
          <a:xfrm>
            <a:off x="9237907" y="2302078"/>
            <a:ext cx="530428" cy="530428"/>
          </a:xfrm>
          <a:custGeom>
            <a:avLst/>
            <a:gdLst/>
            <a:ahLst/>
            <a:cxnLst/>
            <a:rect l="l" t="t" r="r" b="b"/>
            <a:pathLst>
              <a:path w="530428" h="530428">
                <a:moveTo>
                  <a:pt x="0" y="0"/>
                </a:moveTo>
                <a:lnTo>
                  <a:pt x="530428" y="0"/>
                </a:lnTo>
                <a:lnTo>
                  <a:pt x="530428" y="530428"/>
                </a:lnTo>
                <a:lnTo>
                  <a:pt x="0" y="530428"/>
                </a:lnTo>
                <a:lnTo>
                  <a:pt x="0" y="0"/>
                </a:lnTo>
                <a:close/>
              </a:path>
            </a:pathLst>
          </a:custGeom>
          <a:blipFill>
            <a:blip>
              <a:extLst>
                <a:ext uri="{96DAC541-7B7A-43D3-8B79-37D633B846F1}">
                  <asvg:svgBlip xmlns:asvg="http://schemas.microsoft.com/office/drawing/2016/SVG/main" r:embed="rId4"/>
                </a:ext>
              </a:extLst>
            </a:blip>
            <a:stretch>
              <a:fillRect t="-5356" b="-5356"/>
            </a:stretch>
          </a:blipFill>
        </p:spPr>
      </p:sp>
      <p:sp>
        <p:nvSpPr>
          <p:cNvPr id="11" name="TextBox 11"/>
          <p:cNvSpPr txBox="1"/>
          <p:nvPr/>
        </p:nvSpPr>
        <p:spPr>
          <a:xfrm>
            <a:off x="9237907" y="3010938"/>
            <a:ext cx="2496293" cy="321469"/>
          </a:xfrm>
          <a:prstGeom prst="rect">
            <a:avLst/>
          </a:prstGeom>
        </p:spPr>
        <p:txBody>
          <a:bodyPr lIns="0" tIns="0" rIns="0" bIns="0" rtlCol="0" anchor="t">
            <a:spAutoFit/>
          </a:bodyPr>
          <a:lstStyle/>
          <a:p>
            <a:pPr algn="l">
              <a:lnSpc>
                <a:spcPts val="2437"/>
              </a:lnSpc>
            </a:pPr>
            <a:r>
              <a:rPr lang="en-US" sz="1937">
                <a:solidFill>
                  <a:srgbClr val="D6E5EF"/>
                </a:solidFill>
                <a:latin typeface="Lora"/>
                <a:ea typeface="Lora"/>
                <a:cs typeface="Lora"/>
                <a:sym typeface="Lora"/>
              </a:rPr>
              <a:t>Spring Boot (Java)</a:t>
            </a:r>
          </a:p>
        </p:txBody>
      </p:sp>
      <p:sp>
        <p:nvSpPr>
          <p:cNvPr id="12" name="TextBox 12"/>
          <p:cNvSpPr txBox="1"/>
          <p:nvPr/>
        </p:nvSpPr>
        <p:spPr>
          <a:xfrm>
            <a:off x="9237907" y="3394024"/>
            <a:ext cx="6795935" cy="608705"/>
          </a:xfrm>
          <a:prstGeom prst="rect">
            <a:avLst/>
          </a:prstGeom>
        </p:spPr>
        <p:txBody>
          <a:bodyPr lIns="0" tIns="0" rIns="0" bIns="0" rtlCol="0" anchor="t">
            <a:spAutoFit/>
          </a:bodyPr>
          <a:lstStyle/>
          <a:p>
            <a:pPr algn="l">
              <a:lnSpc>
                <a:spcPts val="2250"/>
              </a:lnSpc>
            </a:pPr>
            <a:r>
              <a:rPr lang="en-US" sz="1625">
                <a:solidFill>
                  <a:srgbClr val="D6E5EF"/>
                </a:solidFill>
                <a:latin typeface="Source Sans 3"/>
                <a:ea typeface="Source Sans 3"/>
                <a:cs typeface="Source Sans 3"/>
                <a:sym typeface="Source Sans 3"/>
              </a:rPr>
              <a:t>Core business logic for event data handling, risk calculations, premium generation, authentication, and workflow management</a:t>
            </a:r>
          </a:p>
        </p:txBody>
      </p:sp>
      <p:sp>
        <p:nvSpPr>
          <p:cNvPr id="13" name="Freeform 13" descr="preencoded.png"/>
          <p:cNvSpPr/>
          <p:nvPr/>
        </p:nvSpPr>
        <p:spPr>
          <a:xfrm>
            <a:off x="2254148" y="4303662"/>
            <a:ext cx="530428" cy="530428"/>
          </a:xfrm>
          <a:custGeom>
            <a:avLst/>
            <a:gdLst/>
            <a:ahLst/>
            <a:cxnLst/>
            <a:rect l="l" t="t" r="r" b="b"/>
            <a:pathLst>
              <a:path w="530428" h="530428">
                <a:moveTo>
                  <a:pt x="0" y="0"/>
                </a:moveTo>
                <a:lnTo>
                  <a:pt x="530429" y="0"/>
                </a:lnTo>
                <a:lnTo>
                  <a:pt x="530429" y="530428"/>
                </a:lnTo>
                <a:lnTo>
                  <a:pt x="0" y="530428"/>
                </a:lnTo>
                <a:lnTo>
                  <a:pt x="0" y="0"/>
                </a:lnTo>
                <a:close/>
              </a:path>
            </a:pathLst>
          </a:custGeom>
          <a:blipFill>
            <a:blip>
              <a:extLst>
                <a:ext uri="{96DAC541-7B7A-43D3-8B79-37D633B846F1}">
                  <asvg:svgBlip xmlns:asvg="http://schemas.microsoft.com/office/drawing/2016/SVG/main" r:embed="rId5"/>
                </a:ext>
              </a:extLst>
            </a:blip>
            <a:stretch>
              <a:fillRect t="-8035" b="-8034"/>
            </a:stretch>
          </a:blipFill>
        </p:spPr>
      </p:sp>
      <p:sp>
        <p:nvSpPr>
          <p:cNvPr id="14" name="TextBox 14"/>
          <p:cNvSpPr txBox="1"/>
          <p:nvPr/>
        </p:nvSpPr>
        <p:spPr>
          <a:xfrm>
            <a:off x="2254148" y="5012531"/>
            <a:ext cx="2496293" cy="321469"/>
          </a:xfrm>
          <a:prstGeom prst="rect">
            <a:avLst/>
          </a:prstGeom>
        </p:spPr>
        <p:txBody>
          <a:bodyPr lIns="0" tIns="0" rIns="0" bIns="0" rtlCol="0" anchor="t">
            <a:spAutoFit/>
          </a:bodyPr>
          <a:lstStyle/>
          <a:p>
            <a:pPr algn="l">
              <a:lnSpc>
                <a:spcPts val="2437"/>
              </a:lnSpc>
            </a:pPr>
            <a:r>
              <a:rPr lang="en-US" sz="1937">
                <a:solidFill>
                  <a:srgbClr val="D6E5EF"/>
                </a:solidFill>
                <a:latin typeface="Lora"/>
                <a:ea typeface="Lora"/>
                <a:cs typeface="Lora"/>
                <a:sym typeface="Lora"/>
              </a:rPr>
              <a:t>H2Console</a:t>
            </a:r>
          </a:p>
        </p:txBody>
      </p:sp>
      <p:sp>
        <p:nvSpPr>
          <p:cNvPr id="15" name="TextBox 15"/>
          <p:cNvSpPr txBox="1"/>
          <p:nvPr/>
        </p:nvSpPr>
        <p:spPr>
          <a:xfrm>
            <a:off x="2254148" y="5395617"/>
            <a:ext cx="6795792" cy="608705"/>
          </a:xfrm>
          <a:prstGeom prst="rect">
            <a:avLst/>
          </a:prstGeom>
        </p:spPr>
        <p:txBody>
          <a:bodyPr lIns="0" tIns="0" rIns="0" bIns="0" rtlCol="0" anchor="t">
            <a:spAutoFit/>
          </a:bodyPr>
          <a:lstStyle/>
          <a:p>
            <a:pPr algn="l">
              <a:lnSpc>
                <a:spcPts val="2250"/>
              </a:lnSpc>
            </a:pPr>
            <a:r>
              <a:rPr lang="en-US" sz="1625">
                <a:solidFill>
                  <a:srgbClr val="D6E5EF"/>
                </a:solidFill>
                <a:latin typeface="Source Sans 3"/>
                <a:ea typeface="Source Sans 3"/>
                <a:cs typeface="Source Sans 3"/>
                <a:sym typeface="Source Sans 3"/>
              </a:rPr>
              <a:t>Structured storage for user profiles, event details, policies, subscriptions, premium records, and claim data</a:t>
            </a:r>
          </a:p>
        </p:txBody>
      </p:sp>
      <p:sp>
        <p:nvSpPr>
          <p:cNvPr id="16" name="Freeform 16" descr="preencoded.png"/>
          <p:cNvSpPr/>
          <p:nvPr/>
        </p:nvSpPr>
        <p:spPr>
          <a:xfrm>
            <a:off x="9237907" y="4303662"/>
            <a:ext cx="530428" cy="530428"/>
          </a:xfrm>
          <a:custGeom>
            <a:avLst/>
            <a:gdLst/>
            <a:ahLst/>
            <a:cxnLst/>
            <a:rect l="l" t="t" r="r" b="b"/>
            <a:pathLst>
              <a:path w="530428" h="530428">
                <a:moveTo>
                  <a:pt x="0" y="0"/>
                </a:moveTo>
                <a:lnTo>
                  <a:pt x="530428" y="0"/>
                </a:lnTo>
                <a:lnTo>
                  <a:pt x="530428" y="530428"/>
                </a:lnTo>
                <a:lnTo>
                  <a:pt x="0" y="530428"/>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7" name="TextBox 17"/>
          <p:cNvSpPr txBox="1"/>
          <p:nvPr/>
        </p:nvSpPr>
        <p:spPr>
          <a:xfrm>
            <a:off x="9237907" y="5012531"/>
            <a:ext cx="2599430" cy="321469"/>
          </a:xfrm>
          <a:prstGeom prst="rect">
            <a:avLst/>
          </a:prstGeom>
        </p:spPr>
        <p:txBody>
          <a:bodyPr lIns="0" tIns="0" rIns="0" bIns="0" rtlCol="0" anchor="t">
            <a:spAutoFit/>
          </a:bodyPr>
          <a:lstStyle/>
          <a:p>
            <a:pPr algn="l">
              <a:lnSpc>
                <a:spcPts val="2437"/>
              </a:lnSpc>
            </a:pPr>
            <a:r>
              <a:rPr lang="en-US" sz="1937">
                <a:solidFill>
                  <a:srgbClr val="D6E5EF"/>
                </a:solidFill>
                <a:latin typeface="Lora"/>
                <a:ea typeface="Lora"/>
                <a:cs typeface="Lora"/>
                <a:sym typeface="Lora"/>
              </a:rPr>
              <a:t>JWT &amp; Spring Security</a:t>
            </a:r>
          </a:p>
        </p:txBody>
      </p:sp>
      <p:sp>
        <p:nvSpPr>
          <p:cNvPr id="18" name="TextBox 18"/>
          <p:cNvSpPr txBox="1"/>
          <p:nvPr/>
        </p:nvSpPr>
        <p:spPr>
          <a:xfrm>
            <a:off x="9237907" y="5395617"/>
            <a:ext cx="6795935" cy="608705"/>
          </a:xfrm>
          <a:prstGeom prst="rect">
            <a:avLst/>
          </a:prstGeom>
        </p:spPr>
        <p:txBody>
          <a:bodyPr lIns="0" tIns="0" rIns="0" bIns="0" rtlCol="0" anchor="t">
            <a:spAutoFit/>
          </a:bodyPr>
          <a:lstStyle/>
          <a:p>
            <a:pPr algn="l">
              <a:lnSpc>
                <a:spcPts val="2250"/>
              </a:lnSpc>
            </a:pPr>
            <a:r>
              <a:rPr lang="en-US" sz="1625">
                <a:solidFill>
                  <a:srgbClr val="D6E5EF"/>
                </a:solidFill>
                <a:latin typeface="Source Sans 3"/>
                <a:ea typeface="Source Sans 3"/>
                <a:cs typeface="Source Sans 3"/>
                <a:sym typeface="Source Sans 3"/>
              </a:rPr>
              <a:t>Secure API access with role-based authorization restricting functionality according to user roles</a:t>
            </a:r>
          </a:p>
        </p:txBody>
      </p:sp>
      <p:sp>
        <p:nvSpPr>
          <p:cNvPr id="19" name="Freeform 19" descr="preencoded.png"/>
          <p:cNvSpPr/>
          <p:nvPr/>
        </p:nvSpPr>
        <p:spPr>
          <a:xfrm>
            <a:off x="2254148" y="6305255"/>
            <a:ext cx="530428" cy="530428"/>
          </a:xfrm>
          <a:custGeom>
            <a:avLst/>
            <a:gdLst/>
            <a:ahLst/>
            <a:cxnLst/>
            <a:rect l="l" t="t" r="r" b="b"/>
            <a:pathLst>
              <a:path w="530428" h="530428">
                <a:moveTo>
                  <a:pt x="0" y="0"/>
                </a:moveTo>
                <a:lnTo>
                  <a:pt x="530429" y="0"/>
                </a:lnTo>
                <a:lnTo>
                  <a:pt x="530429" y="530428"/>
                </a:lnTo>
                <a:lnTo>
                  <a:pt x="0" y="530428"/>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0" name="TextBox 20"/>
          <p:cNvSpPr txBox="1"/>
          <p:nvPr/>
        </p:nvSpPr>
        <p:spPr>
          <a:xfrm>
            <a:off x="2254148" y="7014124"/>
            <a:ext cx="2496293" cy="321469"/>
          </a:xfrm>
          <a:prstGeom prst="rect">
            <a:avLst/>
          </a:prstGeom>
        </p:spPr>
        <p:txBody>
          <a:bodyPr lIns="0" tIns="0" rIns="0" bIns="0" rtlCol="0" anchor="t">
            <a:spAutoFit/>
          </a:bodyPr>
          <a:lstStyle/>
          <a:p>
            <a:pPr algn="l">
              <a:lnSpc>
                <a:spcPts val="2437"/>
              </a:lnSpc>
            </a:pPr>
            <a:r>
              <a:rPr lang="en-US" sz="1937">
                <a:solidFill>
                  <a:srgbClr val="D6E5EF"/>
                </a:solidFill>
                <a:latin typeface="Lora"/>
                <a:ea typeface="Lora"/>
                <a:cs typeface="Lora"/>
                <a:sym typeface="Lora"/>
              </a:rPr>
              <a:t>REST APIs</a:t>
            </a:r>
          </a:p>
        </p:txBody>
      </p:sp>
      <p:sp>
        <p:nvSpPr>
          <p:cNvPr id="21" name="TextBox 21"/>
          <p:cNvSpPr txBox="1"/>
          <p:nvPr/>
        </p:nvSpPr>
        <p:spPr>
          <a:xfrm>
            <a:off x="2254148" y="7397201"/>
            <a:ext cx="6795792" cy="608705"/>
          </a:xfrm>
          <a:prstGeom prst="rect">
            <a:avLst/>
          </a:prstGeom>
        </p:spPr>
        <p:txBody>
          <a:bodyPr lIns="0" tIns="0" rIns="0" bIns="0" rtlCol="0" anchor="t">
            <a:spAutoFit/>
          </a:bodyPr>
          <a:lstStyle/>
          <a:p>
            <a:pPr algn="l">
              <a:lnSpc>
                <a:spcPts val="2250"/>
              </a:lnSpc>
            </a:pPr>
            <a:r>
              <a:rPr lang="en-US" sz="1625">
                <a:solidFill>
                  <a:srgbClr val="D6E5EF"/>
                </a:solidFill>
                <a:latin typeface="Source Sans 3"/>
                <a:ea typeface="Source Sans 3"/>
                <a:cs typeface="Source Sans 3"/>
                <a:sym typeface="Source Sans 3"/>
              </a:rPr>
              <a:t>Seamless communication between Angular frontend and Spring Boot backend for data exchange</a:t>
            </a:r>
          </a:p>
        </p:txBody>
      </p:sp>
      <p:sp>
        <p:nvSpPr>
          <p:cNvPr id="22" name="Freeform 22" descr="preencoded.png"/>
          <p:cNvSpPr/>
          <p:nvPr/>
        </p:nvSpPr>
        <p:spPr>
          <a:xfrm>
            <a:off x="9237907" y="6305255"/>
            <a:ext cx="530428" cy="530428"/>
          </a:xfrm>
          <a:custGeom>
            <a:avLst/>
            <a:gdLst/>
            <a:ahLst/>
            <a:cxnLst/>
            <a:rect l="l" t="t" r="r" b="b"/>
            <a:pathLst>
              <a:path w="530428" h="530428">
                <a:moveTo>
                  <a:pt x="0" y="0"/>
                </a:moveTo>
                <a:lnTo>
                  <a:pt x="530428" y="0"/>
                </a:lnTo>
                <a:lnTo>
                  <a:pt x="530428" y="530428"/>
                </a:lnTo>
                <a:lnTo>
                  <a:pt x="0" y="530428"/>
                </a:lnTo>
                <a:lnTo>
                  <a:pt x="0" y="0"/>
                </a:lnTo>
                <a:close/>
              </a:path>
            </a:pathLst>
          </a:custGeom>
          <a:blipFill>
            <a:blip>
              <a:extLst>
                <a:ext uri="{96DAC541-7B7A-43D3-8B79-37D633B846F1}">
                  <asvg:svgBlip xmlns:asvg="http://schemas.microsoft.com/office/drawing/2016/SVG/main" r:embed="rId8"/>
                </a:ext>
              </a:extLst>
            </a:blip>
            <a:stretch>
              <a:fillRect t="-892" b="-892"/>
            </a:stretch>
          </a:blipFill>
        </p:spPr>
      </p:sp>
      <p:sp>
        <p:nvSpPr>
          <p:cNvPr id="23" name="TextBox 23"/>
          <p:cNvSpPr txBox="1"/>
          <p:nvPr/>
        </p:nvSpPr>
        <p:spPr>
          <a:xfrm>
            <a:off x="9237907" y="7014124"/>
            <a:ext cx="2807646" cy="321469"/>
          </a:xfrm>
          <a:prstGeom prst="rect">
            <a:avLst/>
          </a:prstGeom>
        </p:spPr>
        <p:txBody>
          <a:bodyPr lIns="0" tIns="0" rIns="0" bIns="0" rtlCol="0" anchor="t">
            <a:spAutoFit/>
          </a:bodyPr>
          <a:lstStyle/>
          <a:p>
            <a:pPr algn="l">
              <a:lnSpc>
                <a:spcPts val="2437"/>
              </a:lnSpc>
            </a:pPr>
            <a:r>
              <a:rPr lang="en-US" sz="1937">
                <a:solidFill>
                  <a:srgbClr val="D6E5EF"/>
                </a:solidFill>
                <a:latin typeface="Lora"/>
                <a:ea typeface="Lora"/>
                <a:cs typeface="Lora"/>
                <a:sym typeface="Lora"/>
              </a:rPr>
              <a:t>Weather API Integration</a:t>
            </a:r>
          </a:p>
        </p:txBody>
      </p:sp>
      <p:sp>
        <p:nvSpPr>
          <p:cNvPr id="24" name="TextBox 24"/>
          <p:cNvSpPr txBox="1"/>
          <p:nvPr/>
        </p:nvSpPr>
        <p:spPr>
          <a:xfrm>
            <a:off x="9237907" y="7397201"/>
            <a:ext cx="6795935" cy="608705"/>
          </a:xfrm>
          <a:prstGeom prst="rect">
            <a:avLst/>
          </a:prstGeom>
        </p:spPr>
        <p:txBody>
          <a:bodyPr lIns="0" tIns="0" rIns="0" bIns="0" rtlCol="0" anchor="t">
            <a:spAutoFit/>
          </a:bodyPr>
          <a:lstStyle/>
          <a:p>
            <a:pPr algn="l">
              <a:lnSpc>
                <a:spcPts val="2250"/>
              </a:lnSpc>
            </a:pPr>
            <a:r>
              <a:rPr lang="en-US" sz="1625">
                <a:solidFill>
                  <a:srgbClr val="D6E5EF"/>
                </a:solidFill>
                <a:latin typeface="Source Sans 3"/>
                <a:ea typeface="Source Sans 3"/>
                <a:cs typeface="Source Sans 3"/>
                <a:sym typeface="Source Sans 3"/>
              </a:rPr>
              <a:t>External weather services for weather risk data on outdoor events, improving risk assessment accuracy</a:t>
            </a:r>
          </a:p>
        </p:txBody>
      </p:sp>
      <p:grpSp>
        <p:nvGrpSpPr>
          <p:cNvPr id="25" name="Group 25"/>
          <p:cNvGrpSpPr/>
          <p:nvPr/>
        </p:nvGrpSpPr>
        <p:grpSpPr>
          <a:xfrm>
            <a:off x="2254148" y="8175127"/>
            <a:ext cx="13779703" cy="734768"/>
            <a:chOff x="0" y="0"/>
            <a:chExt cx="18372938" cy="979691"/>
          </a:xfrm>
        </p:grpSpPr>
        <p:sp>
          <p:nvSpPr>
            <p:cNvPr id="26" name="Freeform 26"/>
            <p:cNvSpPr/>
            <p:nvPr/>
          </p:nvSpPr>
          <p:spPr>
            <a:xfrm>
              <a:off x="0" y="0"/>
              <a:ext cx="18372837" cy="979678"/>
            </a:xfrm>
            <a:custGeom>
              <a:avLst/>
              <a:gdLst/>
              <a:ahLst/>
              <a:cxnLst/>
              <a:rect l="l" t="t" r="r" b="b"/>
              <a:pathLst>
                <a:path w="18372837" h="979678">
                  <a:moveTo>
                    <a:pt x="0" y="42418"/>
                  </a:moveTo>
                  <a:cubicBezTo>
                    <a:pt x="0" y="19050"/>
                    <a:pt x="19050" y="0"/>
                    <a:pt x="42418" y="0"/>
                  </a:cubicBezTo>
                  <a:lnTo>
                    <a:pt x="18330418" y="0"/>
                  </a:lnTo>
                  <a:cubicBezTo>
                    <a:pt x="18353912" y="0"/>
                    <a:pt x="18372837" y="19050"/>
                    <a:pt x="18372837" y="42418"/>
                  </a:cubicBezTo>
                  <a:lnTo>
                    <a:pt x="18372837" y="937260"/>
                  </a:lnTo>
                  <a:cubicBezTo>
                    <a:pt x="18372837" y="960755"/>
                    <a:pt x="18353787" y="979678"/>
                    <a:pt x="18330418" y="979678"/>
                  </a:cubicBezTo>
                  <a:lnTo>
                    <a:pt x="42418" y="979678"/>
                  </a:lnTo>
                  <a:cubicBezTo>
                    <a:pt x="19050" y="979678"/>
                    <a:pt x="0" y="960628"/>
                    <a:pt x="0" y="937260"/>
                  </a:cubicBezTo>
                  <a:close/>
                </a:path>
              </a:pathLst>
            </a:custGeom>
            <a:solidFill>
              <a:srgbClr val="49042A"/>
            </a:solidFill>
          </p:spPr>
        </p:sp>
      </p:grpSp>
      <p:grpSp>
        <p:nvGrpSpPr>
          <p:cNvPr id="27" name="Group 27"/>
          <p:cNvGrpSpPr/>
          <p:nvPr/>
        </p:nvGrpSpPr>
        <p:grpSpPr>
          <a:xfrm>
            <a:off x="2466232" y="8464153"/>
            <a:ext cx="265214" cy="212084"/>
            <a:chOff x="0" y="0"/>
            <a:chExt cx="353619" cy="282778"/>
          </a:xfrm>
        </p:grpSpPr>
        <p:sp>
          <p:nvSpPr>
            <p:cNvPr id="28" name="Freeform 28" descr="preencoded.png"/>
            <p:cNvSpPr/>
            <p:nvPr/>
          </p:nvSpPr>
          <p:spPr>
            <a:xfrm>
              <a:off x="0" y="0"/>
              <a:ext cx="353568" cy="282829"/>
            </a:xfrm>
            <a:custGeom>
              <a:avLst/>
              <a:gdLst/>
              <a:ahLst/>
              <a:cxnLst/>
              <a:rect l="l" t="t" r="r" b="b"/>
              <a:pathLst>
                <a:path w="353568" h="282829">
                  <a:moveTo>
                    <a:pt x="0" y="0"/>
                  </a:moveTo>
                  <a:lnTo>
                    <a:pt x="353568" y="0"/>
                  </a:lnTo>
                  <a:lnTo>
                    <a:pt x="353568" y="282829"/>
                  </a:lnTo>
                  <a:lnTo>
                    <a:pt x="0" y="282829"/>
                  </a:lnTo>
                  <a:lnTo>
                    <a:pt x="0" y="0"/>
                  </a:lnTo>
                  <a:close/>
                </a:path>
              </a:pathLst>
            </a:custGeom>
            <a:blipFill>
              <a:blip r:embed="rId9"/>
              <a:stretch>
                <a:fillRect l="-887" r="-901" b="17"/>
              </a:stretch>
            </a:blipFill>
          </p:spPr>
        </p:sp>
      </p:grpSp>
      <p:sp>
        <p:nvSpPr>
          <p:cNvPr id="29" name="TextBox 29"/>
          <p:cNvSpPr txBox="1"/>
          <p:nvPr/>
        </p:nvSpPr>
        <p:spPr>
          <a:xfrm>
            <a:off x="2943520" y="8350006"/>
            <a:ext cx="12878248" cy="318640"/>
          </a:xfrm>
          <a:prstGeom prst="rect">
            <a:avLst/>
          </a:prstGeom>
        </p:spPr>
        <p:txBody>
          <a:bodyPr lIns="0" tIns="0" rIns="0" bIns="0" rtlCol="0" anchor="t">
            <a:spAutoFit/>
          </a:bodyPr>
          <a:lstStyle/>
          <a:p>
            <a:pPr algn="l">
              <a:lnSpc>
                <a:spcPts val="2250"/>
              </a:lnSpc>
            </a:pPr>
            <a:r>
              <a:rPr lang="en-US" sz="1625" b="1">
                <a:solidFill>
                  <a:srgbClr val="FFFFFF"/>
                </a:solidFill>
                <a:latin typeface="Source Sans 3 Bold"/>
                <a:ea typeface="Source Sans 3 Bold"/>
                <a:cs typeface="Source Sans 3 Bold"/>
                <a:sym typeface="Source Sans 3 Bold"/>
              </a:rPr>
              <a:t>Testing Frameworks:</a:t>
            </a:r>
            <a:r>
              <a:rPr lang="en-US" sz="1625">
                <a:solidFill>
                  <a:srgbClr val="FFFFFF"/>
                </a:solidFill>
                <a:latin typeface="Source Sans 3"/>
                <a:ea typeface="Source Sans 3"/>
                <a:cs typeface="Source Sans 3"/>
                <a:sym typeface="Source Sans 3"/>
              </a:rPr>
              <a:t> Jasmine and Karma for frontend testing; Maven and JUnit for backend services and API testing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A2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52833"/>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7674178" y="2153545"/>
            <a:ext cx="5439966" cy="462705"/>
          </a:xfrm>
          <a:prstGeom prst="rect">
            <a:avLst/>
          </a:prstGeom>
        </p:spPr>
        <p:txBody>
          <a:bodyPr lIns="0" tIns="0" rIns="0" bIns="0" rtlCol="0" anchor="t">
            <a:spAutoFit/>
          </a:bodyPr>
          <a:lstStyle/>
          <a:p>
            <a:pPr algn="l">
              <a:lnSpc>
                <a:spcPts val="3437"/>
              </a:lnSpc>
            </a:pPr>
            <a:r>
              <a:rPr lang="en-US" sz="2750">
                <a:solidFill>
                  <a:srgbClr val="F98AC7"/>
                </a:solidFill>
                <a:latin typeface="Lora"/>
                <a:ea typeface="Lora"/>
                <a:cs typeface="Lora"/>
                <a:sym typeface="Lora"/>
              </a:rPr>
              <a:t>System Roles and Access Control</a:t>
            </a:r>
          </a:p>
        </p:txBody>
      </p:sp>
      <p:sp>
        <p:nvSpPr>
          <p:cNvPr id="9" name="TextBox 9"/>
          <p:cNvSpPr txBox="1"/>
          <p:nvPr/>
        </p:nvSpPr>
        <p:spPr>
          <a:xfrm>
            <a:off x="7674178" y="2739781"/>
            <a:ext cx="9797653" cy="172041"/>
          </a:xfrm>
          <a:prstGeom prst="rect">
            <a:avLst/>
          </a:prstGeom>
        </p:spPr>
        <p:txBody>
          <a:bodyPr lIns="0" tIns="0" rIns="0" bIns="0" rtlCol="0" anchor="t">
            <a:spAutoFit/>
          </a:bodyPr>
          <a:lstStyle/>
          <a:p>
            <a:pPr algn="l">
              <a:lnSpc>
                <a:spcPts val="1375"/>
              </a:lnSpc>
            </a:pPr>
            <a:r>
              <a:rPr lang="en-US" sz="1187">
                <a:solidFill>
                  <a:srgbClr val="D6E5EF"/>
                </a:solidFill>
                <a:latin typeface="Source Sans 3"/>
                <a:ea typeface="Source Sans 3"/>
                <a:cs typeface="Source Sans 3"/>
                <a:sym typeface="Source Sans 3"/>
              </a:rPr>
              <a:t>Role-based access control ensures each user performs only actions relevant to their responsibilities, improving security and accountability.</a:t>
            </a:r>
          </a:p>
        </p:txBody>
      </p:sp>
      <p:grpSp>
        <p:nvGrpSpPr>
          <p:cNvPr id="10" name="Group 10"/>
          <p:cNvGrpSpPr/>
          <p:nvPr/>
        </p:nvGrpSpPr>
        <p:grpSpPr>
          <a:xfrm>
            <a:off x="7674178" y="3223622"/>
            <a:ext cx="9797653" cy="995953"/>
            <a:chOff x="0" y="0"/>
            <a:chExt cx="13063538" cy="1327937"/>
          </a:xfrm>
        </p:grpSpPr>
        <p:sp>
          <p:nvSpPr>
            <p:cNvPr id="11" name="Freeform 11"/>
            <p:cNvSpPr/>
            <p:nvPr/>
          </p:nvSpPr>
          <p:spPr>
            <a:xfrm>
              <a:off x="0" y="0"/>
              <a:ext cx="13063601" cy="1327912"/>
            </a:xfrm>
            <a:custGeom>
              <a:avLst/>
              <a:gdLst/>
              <a:ahLst/>
              <a:cxnLst/>
              <a:rect l="l" t="t" r="r" b="b"/>
              <a:pathLst>
                <a:path w="13063601" h="1327912">
                  <a:moveTo>
                    <a:pt x="0" y="121920"/>
                  </a:moveTo>
                  <a:cubicBezTo>
                    <a:pt x="0" y="54610"/>
                    <a:pt x="54610" y="0"/>
                    <a:pt x="121920" y="0"/>
                  </a:cubicBezTo>
                  <a:lnTo>
                    <a:pt x="12941681" y="0"/>
                  </a:lnTo>
                  <a:cubicBezTo>
                    <a:pt x="13008992" y="0"/>
                    <a:pt x="13063601" y="54610"/>
                    <a:pt x="13063601" y="121920"/>
                  </a:cubicBezTo>
                  <a:lnTo>
                    <a:pt x="13063601" y="1205992"/>
                  </a:lnTo>
                  <a:cubicBezTo>
                    <a:pt x="13063601" y="1273302"/>
                    <a:pt x="13008992" y="1327912"/>
                    <a:pt x="12941681" y="1327912"/>
                  </a:cubicBezTo>
                  <a:lnTo>
                    <a:pt x="121920" y="1327912"/>
                  </a:lnTo>
                  <a:cubicBezTo>
                    <a:pt x="54610" y="1327912"/>
                    <a:pt x="0" y="1273302"/>
                    <a:pt x="0" y="1205992"/>
                  </a:cubicBezTo>
                  <a:close/>
                </a:path>
              </a:pathLst>
            </a:custGeom>
            <a:solidFill>
              <a:srgbClr val="252833"/>
            </a:solidFill>
          </p:spPr>
        </p:sp>
      </p:grpSp>
      <p:grpSp>
        <p:nvGrpSpPr>
          <p:cNvPr id="12" name="Group 12"/>
          <p:cNvGrpSpPr/>
          <p:nvPr/>
        </p:nvGrpSpPr>
        <p:grpSpPr>
          <a:xfrm>
            <a:off x="7674178" y="3204572"/>
            <a:ext cx="9797653" cy="76200"/>
            <a:chOff x="0" y="0"/>
            <a:chExt cx="13063538" cy="101600"/>
          </a:xfrm>
        </p:grpSpPr>
        <p:sp>
          <p:nvSpPr>
            <p:cNvPr id="13" name="Freeform 13"/>
            <p:cNvSpPr/>
            <p:nvPr/>
          </p:nvSpPr>
          <p:spPr>
            <a:xfrm>
              <a:off x="0" y="0"/>
              <a:ext cx="13063601" cy="101600"/>
            </a:xfrm>
            <a:custGeom>
              <a:avLst/>
              <a:gdLst/>
              <a:ahLst/>
              <a:cxnLst/>
              <a:rect l="l" t="t" r="r" b="b"/>
              <a:pathLst>
                <a:path w="13063601" h="101600">
                  <a:moveTo>
                    <a:pt x="0" y="30226"/>
                  </a:moveTo>
                  <a:cubicBezTo>
                    <a:pt x="0" y="13462"/>
                    <a:pt x="13462" y="0"/>
                    <a:pt x="30226" y="0"/>
                  </a:cubicBezTo>
                  <a:lnTo>
                    <a:pt x="13033375" y="0"/>
                  </a:lnTo>
                  <a:cubicBezTo>
                    <a:pt x="13050013" y="0"/>
                    <a:pt x="13063601" y="13462"/>
                    <a:pt x="13063601" y="30226"/>
                  </a:cubicBezTo>
                  <a:lnTo>
                    <a:pt x="13063601" y="71374"/>
                  </a:lnTo>
                  <a:cubicBezTo>
                    <a:pt x="13063601" y="88011"/>
                    <a:pt x="13050140" y="101600"/>
                    <a:pt x="13033375" y="101600"/>
                  </a:cubicBezTo>
                  <a:lnTo>
                    <a:pt x="30226" y="101600"/>
                  </a:lnTo>
                  <a:cubicBezTo>
                    <a:pt x="13462" y="101600"/>
                    <a:pt x="0" y="88138"/>
                    <a:pt x="0" y="71374"/>
                  </a:cubicBezTo>
                  <a:close/>
                </a:path>
              </a:pathLst>
            </a:custGeom>
            <a:solidFill>
              <a:srgbClr val="325F7B"/>
            </a:solidFill>
          </p:spPr>
        </p:sp>
      </p:grpSp>
      <p:grpSp>
        <p:nvGrpSpPr>
          <p:cNvPr id="14" name="Group 14"/>
          <p:cNvGrpSpPr/>
          <p:nvPr/>
        </p:nvGrpSpPr>
        <p:grpSpPr>
          <a:xfrm>
            <a:off x="12346705" y="2997403"/>
            <a:ext cx="452590" cy="452590"/>
            <a:chOff x="0" y="0"/>
            <a:chExt cx="603453" cy="603453"/>
          </a:xfrm>
        </p:grpSpPr>
        <p:sp>
          <p:nvSpPr>
            <p:cNvPr id="15" name="Freeform 15"/>
            <p:cNvSpPr/>
            <p:nvPr/>
          </p:nvSpPr>
          <p:spPr>
            <a:xfrm>
              <a:off x="0" y="0"/>
              <a:ext cx="603504" cy="603504"/>
            </a:xfrm>
            <a:custGeom>
              <a:avLst/>
              <a:gdLst/>
              <a:ahLst/>
              <a:cxnLst/>
              <a:rect l="l" t="t" r="r" b="b"/>
              <a:pathLst>
                <a:path w="603504" h="603504">
                  <a:moveTo>
                    <a:pt x="0" y="301752"/>
                  </a:moveTo>
                  <a:cubicBezTo>
                    <a:pt x="0" y="135128"/>
                    <a:pt x="135128" y="0"/>
                    <a:pt x="301752" y="0"/>
                  </a:cubicBezTo>
                  <a:cubicBezTo>
                    <a:pt x="468376" y="0"/>
                    <a:pt x="603504" y="135128"/>
                    <a:pt x="603504" y="301752"/>
                  </a:cubicBezTo>
                  <a:cubicBezTo>
                    <a:pt x="603504" y="468376"/>
                    <a:pt x="468376" y="603504"/>
                    <a:pt x="301752" y="603504"/>
                  </a:cubicBezTo>
                  <a:cubicBezTo>
                    <a:pt x="135128" y="603504"/>
                    <a:pt x="0" y="468376"/>
                    <a:pt x="0" y="301752"/>
                  </a:cubicBezTo>
                  <a:close/>
                </a:path>
              </a:pathLst>
            </a:custGeom>
            <a:solidFill>
              <a:srgbClr val="325F7B"/>
            </a:solidFill>
          </p:spPr>
        </p:sp>
      </p:grpSp>
      <p:sp>
        <p:nvSpPr>
          <p:cNvPr id="16" name="TextBox 16"/>
          <p:cNvSpPr txBox="1"/>
          <p:nvPr/>
        </p:nvSpPr>
        <p:spPr>
          <a:xfrm>
            <a:off x="12482436" y="3100978"/>
            <a:ext cx="180975" cy="235744"/>
          </a:xfrm>
          <a:prstGeom prst="rect">
            <a:avLst/>
          </a:prstGeom>
        </p:spPr>
        <p:txBody>
          <a:bodyPr lIns="0" tIns="0" rIns="0" bIns="0" rtlCol="0" anchor="t">
            <a:spAutoFit/>
          </a:bodyPr>
          <a:lstStyle/>
          <a:p>
            <a:pPr algn="l">
              <a:lnSpc>
                <a:spcPts val="1687"/>
              </a:lnSpc>
            </a:pPr>
            <a:r>
              <a:rPr lang="en-US" sz="1375">
                <a:solidFill>
                  <a:srgbClr val="FFFFFF"/>
                </a:solidFill>
                <a:latin typeface="Lora"/>
                <a:ea typeface="Lora"/>
                <a:cs typeface="Lora"/>
                <a:sym typeface="Lora"/>
              </a:rPr>
              <a:t>1</a:t>
            </a:r>
          </a:p>
        </p:txBody>
      </p:sp>
      <p:sp>
        <p:nvSpPr>
          <p:cNvPr id="17" name="TextBox 17"/>
          <p:cNvSpPr txBox="1"/>
          <p:nvPr/>
        </p:nvSpPr>
        <p:spPr>
          <a:xfrm>
            <a:off x="7843990" y="3591220"/>
            <a:ext cx="1774927" cy="231429"/>
          </a:xfrm>
          <a:prstGeom prst="rect">
            <a:avLst/>
          </a:prstGeom>
        </p:spPr>
        <p:txBody>
          <a:bodyPr lIns="0" tIns="0" rIns="0" bIns="0" rtlCol="0" anchor="t">
            <a:spAutoFit/>
          </a:bodyPr>
          <a:lstStyle/>
          <a:p>
            <a:pPr algn="l">
              <a:lnSpc>
                <a:spcPts val="1687"/>
              </a:lnSpc>
            </a:pPr>
            <a:r>
              <a:rPr lang="en-US" sz="1375">
                <a:solidFill>
                  <a:srgbClr val="D6E5EF"/>
                </a:solidFill>
                <a:latin typeface="Lora"/>
                <a:ea typeface="Lora"/>
                <a:cs typeface="Lora"/>
                <a:sym typeface="Lora"/>
              </a:rPr>
              <a:t>Customer</a:t>
            </a:r>
          </a:p>
        </p:txBody>
      </p:sp>
      <p:sp>
        <p:nvSpPr>
          <p:cNvPr id="18" name="TextBox 18"/>
          <p:cNvSpPr txBox="1"/>
          <p:nvPr/>
        </p:nvSpPr>
        <p:spPr>
          <a:xfrm>
            <a:off x="7843990" y="3877713"/>
            <a:ext cx="9458030" cy="172041"/>
          </a:xfrm>
          <a:prstGeom prst="rect">
            <a:avLst/>
          </a:prstGeom>
        </p:spPr>
        <p:txBody>
          <a:bodyPr lIns="0" tIns="0" rIns="0" bIns="0" rtlCol="0" anchor="t">
            <a:spAutoFit/>
          </a:bodyPr>
          <a:lstStyle/>
          <a:p>
            <a:pPr algn="l">
              <a:lnSpc>
                <a:spcPts val="1375"/>
              </a:lnSpc>
            </a:pPr>
            <a:r>
              <a:rPr lang="en-US" sz="1187">
                <a:solidFill>
                  <a:srgbClr val="D6E5EF"/>
                </a:solidFill>
                <a:latin typeface="Source Sans 3"/>
                <a:ea typeface="Source Sans 3"/>
                <a:cs typeface="Source Sans 3"/>
                <a:sym typeface="Source Sans 3"/>
              </a:rPr>
              <a:t>Creates events, selects insurance policies, views premium estimates, subscribes to policies, makes payments, and submits claims when required</a:t>
            </a:r>
          </a:p>
        </p:txBody>
      </p:sp>
      <p:grpSp>
        <p:nvGrpSpPr>
          <p:cNvPr id="19" name="Group 19"/>
          <p:cNvGrpSpPr/>
          <p:nvPr/>
        </p:nvGrpSpPr>
        <p:grpSpPr>
          <a:xfrm>
            <a:off x="7674178" y="4521841"/>
            <a:ext cx="9797653" cy="995953"/>
            <a:chOff x="0" y="0"/>
            <a:chExt cx="13063538" cy="1327937"/>
          </a:xfrm>
        </p:grpSpPr>
        <p:sp>
          <p:nvSpPr>
            <p:cNvPr id="20" name="Freeform 20"/>
            <p:cNvSpPr/>
            <p:nvPr/>
          </p:nvSpPr>
          <p:spPr>
            <a:xfrm>
              <a:off x="0" y="0"/>
              <a:ext cx="13063601" cy="1327912"/>
            </a:xfrm>
            <a:custGeom>
              <a:avLst/>
              <a:gdLst/>
              <a:ahLst/>
              <a:cxnLst/>
              <a:rect l="l" t="t" r="r" b="b"/>
              <a:pathLst>
                <a:path w="13063601" h="1327912">
                  <a:moveTo>
                    <a:pt x="0" y="121920"/>
                  </a:moveTo>
                  <a:cubicBezTo>
                    <a:pt x="0" y="54610"/>
                    <a:pt x="54610" y="0"/>
                    <a:pt x="121920" y="0"/>
                  </a:cubicBezTo>
                  <a:lnTo>
                    <a:pt x="12941681" y="0"/>
                  </a:lnTo>
                  <a:cubicBezTo>
                    <a:pt x="13008992" y="0"/>
                    <a:pt x="13063601" y="54610"/>
                    <a:pt x="13063601" y="121920"/>
                  </a:cubicBezTo>
                  <a:lnTo>
                    <a:pt x="13063601" y="1205992"/>
                  </a:lnTo>
                  <a:cubicBezTo>
                    <a:pt x="13063601" y="1273302"/>
                    <a:pt x="13008992" y="1327912"/>
                    <a:pt x="12941681" y="1327912"/>
                  </a:cubicBezTo>
                  <a:lnTo>
                    <a:pt x="121920" y="1327912"/>
                  </a:lnTo>
                  <a:cubicBezTo>
                    <a:pt x="54610" y="1327912"/>
                    <a:pt x="0" y="1273302"/>
                    <a:pt x="0" y="1205992"/>
                  </a:cubicBezTo>
                  <a:close/>
                </a:path>
              </a:pathLst>
            </a:custGeom>
            <a:solidFill>
              <a:srgbClr val="252833"/>
            </a:solidFill>
          </p:spPr>
        </p:sp>
      </p:grpSp>
      <p:grpSp>
        <p:nvGrpSpPr>
          <p:cNvPr id="21" name="Group 21"/>
          <p:cNvGrpSpPr/>
          <p:nvPr/>
        </p:nvGrpSpPr>
        <p:grpSpPr>
          <a:xfrm>
            <a:off x="7674178" y="4502791"/>
            <a:ext cx="9797653" cy="76200"/>
            <a:chOff x="0" y="0"/>
            <a:chExt cx="13063538" cy="101600"/>
          </a:xfrm>
        </p:grpSpPr>
        <p:sp>
          <p:nvSpPr>
            <p:cNvPr id="22" name="Freeform 22"/>
            <p:cNvSpPr/>
            <p:nvPr/>
          </p:nvSpPr>
          <p:spPr>
            <a:xfrm>
              <a:off x="0" y="0"/>
              <a:ext cx="13063601" cy="101600"/>
            </a:xfrm>
            <a:custGeom>
              <a:avLst/>
              <a:gdLst/>
              <a:ahLst/>
              <a:cxnLst/>
              <a:rect l="l" t="t" r="r" b="b"/>
              <a:pathLst>
                <a:path w="13063601" h="101600">
                  <a:moveTo>
                    <a:pt x="0" y="30226"/>
                  </a:moveTo>
                  <a:cubicBezTo>
                    <a:pt x="0" y="13462"/>
                    <a:pt x="13462" y="0"/>
                    <a:pt x="30226" y="0"/>
                  </a:cubicBezTo>
                  <a:lnTo>
                    <a:pt x="13033375" y="0"/>
                  </a:lnTo>
                  <a:cubicBezTo>
                    <a:pt x="13050013" y="0"/>
                    <a:pt x="13063601" y="13462"/>
                    <a:pt x="13063601" y="30226"/>
                  </a:cubicBezTo>
                  <a:lnTo>
                    <a:pt x="13063601" y="71374"/>
                  </a:lnTo>
                  <a:cubicBezTo>
                    <a:pt x="13063601" y="88011"/>
                    <a:pt x="13050140" y="101600"/>
                    <a:pt x="13033375" y="101600"/>
                  </a:cubicBezTo>
                  <a:lnTo>
                    <a:pt x="30226" y="101600"/>
                  </a:lnTo>
                  <a:cubicBezTo>
                    <a:pt x="13462" y="101600"/>
                    <a:pt x="0" y="88138"/>
                    <a:pt x="0" y="71374"/>
                  </a:cubicBezTo>
                  <a:close/>
                </a:path>
              </a:pathLst>
            </a:custGeom>
            <a:solidFill>
              <a:srgbClr val="325F7B"/>
            </a:solidFill>
          </p:spPr>
        </p:sp>
      </p:grpSp>
      <p:grpSp>
        <p:nvGrpSpPr>
          <p:cNvPr id="23" name="Group 23"/>
          <p:cNvGrpSpPr/>
          <p:nvPr/>
        </p:nvGrpSpPr>
        <p:grpSpPr>
          <a:xfrm>
            <a:off x="12346705" y="4295623"/>
            <a:ext cx="452590" cy="452590"/>
            <a:chOff x="0" y="0"/>
            <a:chExt cx="603453" cy="603453"/>
          </a:xfrm>
        </p:grpSpPr>
        <p:sp>
          <p:nvSpPr>
            <p:cNvPr id="24" name="Freeform 24"/>
            <p:cNvSpPr/>
            <p:nvPr/>
          </p:nvSpPr>
          <p:spPr>
            <a:xfrm>
              <a:off x="0" y="0"/>
              <a:ext cx="603504" cy="603504"/>
            </a:xfrm>
            <a:custGeom>
              <a:avLst/>
              <a:gdLst/>
              <a:ahLst/>
              <a:cxnLst/>
              <a:rect l="l" t="t" r="r" b="b"/>
              <a:pathLst>
                <a:path w="603504" h="603504">
                  <a:moveTo>
                    <a:pt x="0" y="301752"/>
                  </a:moveTo>
                  <a:cubicBezTo>
                    <a:pt x="0" y="135128"/>
                    <a:pt x="135128" y="0"/>
                    <a:pt x="301752" y="0"/>
                  </a:cubicBezTo>
                  <a:cubicBezTo>
                    <a:pt x="468376" y="0"/>
                    <a:pt x="603504" y="135128"/>
                    <a:pt x="603504" y="301752"/>
                  </a:cubicBezTo>
                  <a:cubicBezTo>
                    <a:pt x="603504" y="468376"/>
                    <a:pt x="468376" y="603504"/>
                    <a:pt x="301752" y="603504"/>
                  </a:cubicBezTo>
                  <a:cubicBezTo>
                    <a:pt x="135128" y="603504"/>
                    <a:pt x="0" y="468376"/>
                    <a:pt x="0" y="301752"/>
                  </a:cubicBezTo>
                  <a:close/>
                </a:path>
              </a:pathLst>
            </a:custGeom>
            <a:solidFill>
              <a:srgbClr val="325F7B"/>
            </a:solidFill>
          </p:spPr>
        </p:sp>
      </p:grpSp>
      <p:sp>
        <p:nvSpPr>
          <p:cNvPr id="25" name="TextBox 25"/>
          <p:cNvSpPr txBox="1"/>
          <p:nvPr/>
        </p:nvSpPr>
        <p:spPr>
          <a:xfrm>
            <a:off x="12482436" y="4399207"/>
            <a:ext cx="180975" cy="235744"/>
          </a:xfrm>
          <a:prstGeom prst="rect">
            <a:avLst/>
          </a:prstGeom>
        </p:spPr>
        <p:txBody>
          <a:bodyPr lIns="0" tIns="0" rIns="0" bIns="0" rtlCol="0" anchor="t">
            <a:spAutoFit/>
          </a:bodyPr>
          <a:lstStyle/>
          <a:p>
            <a:pPr algn="l">
              <a:lnSpc>
                <a:spcPts val="1687"/>
              </a:lnSpc>
            </a:pPr>
            <a:r>
              <a:rPr lang="en-US" sz="1375">
                <a:solidFill>
                  <a:srgbClr val="FFFFFF"/>
                </a:solidFill>
                <a:latin typeface="Lora"/>
                <a:ea typeface="Lora"/>
                <a:cs typeface="Lora"/>
                <a:sym typeface="Lora"/>
              </a:rPr>
              <a:t>2</a:t>
            </a:r>
          </a:p>
        </p:txBody>
      </p:sp>
      <p:sp>
        <p:nvSpPr>
          <p:cNvPr id="26" name="TextBox 26"/>
          <p:cNvSpPr txBox="1"/>
          <p:nvPr/>
        </p:nvSpPr>
        <p:spPr>
          <a:xfrm>
            <a:off x="7843990" y="4889449"/>
            <a:ext cx="1774927" cy="231429"/>
          </a:xfrm>
          <a:prstGeom prst="rect">
            <a:avLst/>
          </a:prstGeom>
        </p:spPr>
        <p:txBody>
          <a:bodyPr lIns="0" tIns="0" rIns="0" bIns="0" rtlCol="0" anchor="t">
            <a:spAutoFit/>
          </a:bodyPr>
          <a:lstStyle/>
          <a:p>
            <a:pPr algn="l">
              <a:lnSpc>
                <a:spcPts val="1687"/>
              </a:lnSpc>
            </a:pPr>
            <a:r>
              <a:rPr lang="en-US" sz="1375">
                <a:solidFill>
                  <a:srgbClr val="D6E5EF"/>
                </a:solidFill>
                <a:latin typeface="Lora"/>
                <a:ea typeface="Lora"/>
                <a:cs typeface="Lora"/>
                <a:sym typeface="Lora"/>
              </a:rPr>
              <a:t>Administrator</a:t>
            </a:r>
          </a:p>
        </p:txBody>
      </p:sp>
      <p:sp>
        <p:nvSpPr>
          <p:cNvPr id="27" name="TextBox 27"/>
          <p:cNvSpPr txBox="1"/>
          <p:nvPr/>
        </p:nvSpPr>
        <p:spPr>
          <a:xfrm>
            <a:off x="7843990" y="5175942"/>
            <a:ext cx="9458030" cy="172041"/>
          </a:xfrm>
          <a:prstGeom prst="rect">
            <a:avLst/>
          </a:prstGeom>
        </p:spPr>
        <p:txBody>
          <a:bodyPr lIns="0" tIns="0" rIns="0" bIns="0" rtlCol="0" anchor="t">
            <a:spAutoFit/>
          </a:bodyPr>
          <a:lstStyle/>
          <a:p>
            <a:pPr algn="l">
              <a:lnSpc>
                <a:spcPts val="1375"/>
              </a:lnSpc>
            </a:pPr>
            <a:r>
              <a:rPr lang="en-US" sz="1187">
                <a:solidFill>
                  <a:srgbClr val="D6E5EF"/>
                </a:solidFill>
                <a:latin typeface="Source Sans 3"/>
                <a:ea typeface="Source Sans 3"/>
                <a:cs typeface="Source Sans 3"/>
                <a:sym typeface="Source Sans 3"/>
              </a:rPr>
              <a:t>Manages system operations including policy configurations, event oversight, and assignment of underwriters to evaluate policy subscriptions</a:t>
            </a:r>
          </a:p>
        </p:txBody>
      </p:sp>
      <p:grpSp>
        <p:nvGrpSpPr>
          <p:cNvPr id="28" name="Group 28"/>
          <p:cNvGrpSpPr/>
          <p:nvPr/>
        </p:nvGrpSpPr>
        <p:grpSpPr>
          <a:xfrm>
            <a:off x="7674178" y="5820070"/>
            <a:ext cx="9797653" cy="995953"/>
            <a:chOff x="0" y="0"/>
            <a:chExt cx="13063538" cy="1327937"/>
          </a:xfrm>
        </p:grpSpPr>
        <p:sp>
          <p:nvSpPr>
            <p:cNvPr id="29" name="Freeform 29"/>
            <p:cNvSpPr/>
            <p:nvPr/>
          </p:nvSpPr>
          <p:spPr>
            <a:xfrm>
              <a:off x="0" y="0"/>
              <a:ext cx="13063601" cy="1327912"/>
            </a:xfrm>
            <a:custGeom>
              <a:avLst/>
              <a:gdLst/>
              <a:ahLst/>
              <a:cxnLst/>
              <a:rect l="l" t="t" r="r" b="b"/>
              <a:pathLst>
                <a:path w="13063601" h="1327912">
                  <a:moveTo>
                    <a:pt x="0" y="121920"/>
                  </a:moveTo>
                  <a:cubicBezTo>
                    <a:pt x="0" y="54610"/>
                    <a:pt x="54610" y="0"/>
                    <a:pt x="121920" y="0"/>
                  </a:cubicBezTo>
                  <a:lnTo>
                    <a:pt x="12941681" y="0"/>
                  </a:lnTo>
                  <a:cubicBezTo>
                    <a:pt x="13008992" y="0"/>
                    <a:pt x="13063601" y="54610"/>
                    <a:pt x="13063601" y="121920"/>
                  </a:cubicBezTo>
                  <a:lnTo>
                    <a:pt x="13063601" y="1205992"/>
                  </a:lnTo>
                  <a:cubicBezTo>
                    <a:pt x="13063601" y="1273302"/>
                    <a:pt x="13008992" y="1327912"/>
                    <a:pt x="12941681" y="1327912"/>
                  </a:cubicBezTo>
                  <a:lnTo>
                    <a:pt x="121920" y="1327912"/>
                  </a:lnTo>
                  <a:cubicBezTo>
                    <a:pt x="54610" y="1327912"/>
                    <a:pt x="0" y="1273302"/>
                    <a:pt x="0" y="1205992"/>
                  </a:cubicBezTo>
                  <a:close/>
                </a:path>
              </a:pathLst>
            </a:custGeom>
            <a:solidFill>
              <a:srgbClr val="252833"/>
            </a:solidFill>
          </p:spPr>
        </p:sp>
      </p:grpSp>
      <p:grpSp>
        <p:nvGrpSpPr>
          <p:cNvPr id="30" name="Group 30"/>
          <p:cNvGrpSpPr/>
          <p:nvPr/>
        </p:nvGrpSpPr>
        <p:grpSpPr>
          <a:xfrm>
            <a:off x="7674178" y="5801020"/>
            <a:ext cx="9797653" cy="76200"/>
            <a:chOff x="0" y="0"/>
            <a:chExt cx="13063538" cy="101600"/>
          </a:xfrm>
        </p:grpSpPr>
        <p:sp>
          <p:nvSpPr>
            <p:cNvPr id="31" name="Freeform 31"/>
            <p:cNvSpPr/>
            <p:nvPr/>
          </p:nvSpPr>
          <p:spPr>
            <a:xfrm>
              <a:off x="0" y="0"/>
              <a:ext cx="13063601" cy="101600"/>
            </a:xfrm>
            <a:custGeom>
              <a:avLst/>
              <a:gdLst/>
              <a:ahLst/>
              <a:cxnLst/>
              <a:rect l="l" t="t" r="r" b="b"/>
              <a:pathLst>
                <a:path w="13063601" h="101600">
                  <a:moveTo>
                    <a:pt x="0" y="30226"/>
                  </a:moveTo>
                  <a:cubicBezTo>
                    <a:pt x="0" y="13462"/>
                    <a:pt x="13462" y="0"/>
                    <a:pt x="30226" y="0"/>
                  </a:cubicBezTo>
                  <a:lnTo>
                    <a:pt x="13033375" y="0"/>
                  </a:lnTo>
                  <a:cubicBezTo>
                    <a:pt x="13050013" y="0"/>
                    <a:pt x="13063601" y="13462"/>
                    <a:pt x="13063601" y="30226"/>
                  </a:cubicBezTo>
                  <a:lnTo>
                    <a:pt x="13063601" y="71374"/>
                  </a:lnTo>
                  <a:cubicBezTo>
                    <a:pt x="13063601" y="88011"/>
                    <a:pt x="13050140" y="101600"/>
                    <a:pt x="13033375" y="101600"/>
                  </a:cubicBezTo>
                  <a:lnTo>
                    <a:pt x="30226" y="101600"/>
                  </a:lnTo>
                  <a:cubicBezTo>
                    <a:pt x="13462" y="101600"/>
                    <a:pt x="0" y="88138"/>
                    <a:pt x="0" y="71374"/>
                  </a:cubicBezTo>
                  <a:close/>
                </a:path>
              </a:pathLst>
            </a:custGeom>
            <a:solidFill>
              <a:srgbClr val="325F7B"/>
            </a:solidFill>
          </p:spPr>
        </p:sp>
      </p:grpSp>
      <p:grpSp>
        <p:nvGrpSpPr>
          <p:cNvPr id="32" name="Group 32"/>
          <p:cNvGrpSpPr/>
          <p:nvPr/>
        </p:nvGrpSpPr>
        <p:grpSpPr>
          <a:xfrm>
            <a:off x="12346705" y="5593852"/>
            <a:ext cx="452590" cy="452590"/>
            <a:chOff x="0" y="0"/>
            <a:chExt cx="603453" cy="603453"/>
          </a:xfrm>
        </p:grpSpPr>
        <p:sp>
          <p:nvSpPr>
            <p:cNvPr id="33" name="Freeform 33"/>
            <p:cNvSpPr/>
            <p:nvPr/>
          </p:nvSpPr>
          <p:spPr>
            <a:xfrm>
              <a:off x="0" y="0"/>
              <a:ext cx="603504" cy="603504"/>
            </a:xfrm>
            <a:custGeom>
              <a:avLst/>
              <a:gdLst/>
              <a:ahLst/>
              <a:cxnLst/>
              <a:rect l="l" t="t" r="r" b="b"/>
              <a:pathLst>
                <a:path w="603504" h="603504">
                  <a:moveTo>
                    <a:pt x="0" y="301752"/>
                  </a:moveTo>
                  <a:cubicBezTo>
                    <a:pt x="0" y="135128"/>
                    <a:pt x="135128" y="0"/>
                    <a:pt x="301752" y="0"/>
                  </a:cubicBezTo>
                  <a:cubicBezTo>
                    <a:pt x="468376" y="0"/>
                    <a:pt x="603504" y="135128"/>
                    <a:pt x="603504" y="301752"/>
                  </a:cubicBezTo>
                  <a:cubicBezTo>
                    <a:pt x="603504" y="468376"/>
                    <a:pt x="468376" y="603504"/>
                    <a:pt x="301752" y="603504"/>
                  </a:cubicBezTo>
                  <a:cubicBezTo>
                    <a:pt x="135128" y="603504"/>
                    <a:pt x="0" y="468376"/>
                    <a:pt x="0" y="301752"/>
                  </a:cubicBezTo>
                  <a:close/>
                </a:path>
              </a:pathLst>
            </a:custGeom>
            <a:solidFill>
              <a:srgbClr val="325F7B"/>
            </a:solidFill>
          </p:spPr>
        </p:sp>
      </p:grpSp>
      <p:sp>
        <p:nvSpPr>
          <p:cNvPr id="34" name="TextBox 34"/>
          <p:cNvSpPr txBox="1"/>
          <p:nvPr/>
        </p:nvSpPr>
        <p:spPr>
          <a:xfrm>
            <a:off x="12482436" y="5697436"/>
            <a:ext cx="180975" cy="235744"/>
          </a:xfrm>
          <a:prstGeom prst="rect">
            <a:avLst/>
          </a:prstGeom>
        </p:spPr>
        <p:txBody>
          <a:bodyPr lIns="0" tIns="0" rIns="0" bIns="0" rtlCol="0" anchor="t">
            <a:spAutoFit/>
          </a:bodyPr>
          <a:lstStyle/>
          <a:p>
            <a:pPr algn="l">
              <a:lnSpc>
                <a:spcPts val="1687"/>
              </a:lnSpc>
            </a:pPr>
            <a:r>
              <a:rPr lang="en-US" sz="1375">
                <a:solidFill>
                  <a:srgbClr val="FFFFFF"/>
                </a:solidFill>
                <a:latin typeface="Lora"/>
                <a:ea typeface="Lora"/>
                <a:cs typeface="Lora"/>
                <a:sym typeface="Lora"/>
              </a:rPr>
              <a:t>3</a:t>
            </a:r>
          </a:p>
        </p:txBody>
      </p:sp>
      <p:sp>
        <p:nvSpPr>
          <p:cNvPr id="35" name="TextBox 35"/>
          <p:cNvSpPr txBox="1"/>
          <p:nvPr/>
        </p:nvSpPr>
        <p:spPr>
          <a:xfrm>
            <a:off x="7843990" y="6187678"/>
            <a:ext cx="1774927" cy="231429"/>
          </a:xfrm>
          <a:prstGeom prst="rect">
            <a:avLst/>
          </a:prstGeom>
        </p:spPr>
        <p:txBody>
          <a:bodyPr lIns="0" tIns="0" rIns="0" bIns="0" rtlCol="0" anchor="t">
            <a:spAutoFit/>
          </a:bodyPr>
          <a:lstStyle/>
          <a:p>
            <a:pPr algn="l">
              <a:lnSpc>
                <a:spcPts val="1687"/>
              </a:lnSpc>
            </a:pPr>
            <a:r>
              <a:rPr lang="en-US" sz="1375">
                <a:solidFill>
                  <a:srgbClr val="D6E5EF"/>
                </a:solidFill>
                <a:latin typeface="Lora"/>
                <a:ea typeface="Lora"/>
                <a:cs typeface="Lora"/>
                <a:sym typeface="Lora"/>
              </a:rPr>
              <a:t>Underwriter</a:t>
            </a:r>
          </a:p>
        </p:txBody>
      </p:sp>
      <p:sp>
        <p:nvSpPr>
          <p:cNvPr id="36" name="TextBox 36"/>
          <p:cNvSpPr txBox="1"/>
          <p:nvPr/>
        </p:nvSpPr>
        <p:spPr>
          <a:xfrm>
            <a:off x="7843990" y="6474171"/>
            <a:ext cx="9458030" cy="172041"/>
          </a:xfrm>
          <a:prstGeom prst="rect">
            <a:avLst/>
          </a:prstGeom>
        </p:spPr>
        <p:txBody>
          <a:bodyPr lIns="0" tIns="0" rIns="0" bIns="0" rtlCol="0" anchor="t">
            <a:spAutoFit/>
          </a:bodyPr>
          <a:lstStyle/>
          <a:p>
            <a:pPr algn="l">
              <a:lnSpc>
                <a:spcPts val="1375"/>
              </a:lnSpc>
            </a:pPr>
            <a:r>
              <a:rPr lang="en-US" sz="1187">
                <a:solidFill>
                  <a:srgbClr val="D6E5EF"/>
                </a:solidFill>
                <a:latin typeface="Source Sans 3"/>
                <a:ea typeface="Source Sans 3"/>
                <a:cs typeface="Source Sans 3"/>
                <a:sym typeface="Source Sans 3"/>
              </a:rPr>
              <a:t>Analyzes subscription requests, reviews calculated risks and event details, and makes approval or rejection decisions based on insurance guidelines</a:t>
            </a:r>
          </a:p>
        </p:txBody>
      </p:sp>
      <p:grpSp>
        <p:nvGrpSpPr>
          <p:cNvPr id="37" name="Group 37"/>
          <p:cNvGrpSpPr/>
          <p:nvPr/>
        </p:nvGrpSpPr>
        <p:grpSpPr>
          <a:xfrm>
            <a:off x="7674178" y="7118299"/>
            <a:ext cx="9797653" cy="995953"/>
            <a:chOff x="0" y="0"/>
            <a:chExt cx="13063538" cy="1327937"/>
          </a:xfrm>
        </p:grpSpPr>
        <p:sp>
          <p:nvSpPr>
            <p:cNvPr id="38" name="Freeform 38"/>
            <p:cNvSpPr/>
            <p:nvPr/>
          </p:nvSpPr>
          <p:spPr>
            <a:xfrm>
              <a:off x="0" y="0"/>
              <a:ext cx="13063601" cy="1327912"/>
            </a:xfrm>
            <a:custGeom>
              <a:avLst/>
              <a:gdLst/>
              <a:ahLst/>
              <a:cxnLst/>
              <a:rect l="l" t="t" r="r" b="b"/>
              <a:pathLst>
                <a:path w="13063601" h="1327912">
                  <a:moveTo>
                    <a:pt x="0" y="121920"/>
                  </a:moveTo>
                  <a:cubicBezTo>
                    <a:pt x="0" y="54610"/>
                    <a:pt x="54610" y="0"/>
                    <a:pt x="121920" y="0"/>
                  </a:cubicBezTo>
                  <a:lnTo>
                    <a:pt x="12941681" y="0"/>
                  </a:lnTo>
                  <a:cubicBezTo>
                    <a:pt x="13008992" y="0"/>
                    <a:pt x="13063601" y="54610"/>
                    <a:pt x="13063601" y="121920"/>
                  </a:cubicBezTo>
                  <a:lnTo>
                    <a:pt x="13063601" y="1205992"/>
                  </a:lnTo>
                  <a:cubicBezTo>
                    <a:pt x="13063601" y="1273302"/>
                    <a:pt x="13008992" y="1327912"/>
                    <a:pt x="12941681" y="1327912"/>
                  </a:cubicBezTo>
                  <a:lnTo>
                    <a:pt x="121920" y="1327912"/>
                  </a:lnTo>
                  <a:cubicBezTo>
                    <a:pt x="54610" y="1327912"/>
                    <a:pt x="0" y="1273302"/>
                    <a:pt x="0" y="1205992"/>
                  </a:cubicBezTo>
                  <a:close/>
                </a:path>
              </a:pathLst>
            </a:custGeom>
            <a:solidFill>
              <a:srgbClr val="252833"/>
            </a:solidFill>
          </p:spPr>
        </p:sp>
      </p:grpSp>
      <p:grpSp>
        <p:nvGrpSpPr>
          <p:cNvPr id="39" name="Group 39"/>
          <p:cNvGrpSpPr/>
          <p:nvPr/>
        </p:nvGrpSpPr>
        <p:grpSpPr>
          <a:xfrm>
            <a:off x="7674178" y="7099249"/>
            <a:ext cx="9797653" cy="76200"/>
            <a:chOff x="0" y="0"/>
            <a:chExt cx="13063538" cy="101600"/>
          </a:xfrm>
        </p:grpSpPr>
        <p:sp>
          <p:nvSpPr>
            <p:cNvPr id="40" name="Freeform 40"/>
            <p:cNvSpPr/>
            <p:nvPr/>
          </p:nvSpPr>
          <p:spPr>
            <a:xfrm>
              <a:off x="0" y="0"/>
              <a:ext cx="13063601" cy="101600"/>
            </a:xfrm>
            <a:custGeom>
              <a:avLst/>
              <a:gdLst/>
              <a:ahLst/>
              <a:cxnLst/>
              <a:rect l="l" t="t" r="r" b="b"/>
              <a:pathLst>
                <a:path w="13063601" h="101600">
                  <a:moveTo>
                    <a:pt x="0" y="30226"/>
                  </a:moveTo>
                  <a:cubicBezTo>
                    <a:pt x="0" y="13462"/>
                    <a:pt x="13462" y="0"/>
                    <a:pt x="30226" y="0"/>
                  </a:cubicBezTo>
                  <a:lnTo>
                    <a:pt x="13033375" y="0"/>
                  </a:lnTo>
                  <a:cubicBezTo>
                    <a:pt x="13050013" y="0"/>
                    <a:pt x="13063601" y="13462"/>
                    <a:pt x="13063601" y="30226"/>
                  </a:cubicBezTo>
                  <a:lnTo>
                    <a:pt x="13063601" y="71374"/>
                  </a:lnTo>
                  <a:cubicBezTo>
                    <a:pt x="13063601" y="88011"/>
                    <a:pt x="13050140" y="101600"/>
                    <a:pt x="13033375" y="101600"/>
                  </a:cubicBezTo>
                  <a:lnTo>
                    <a:pt x="30226" y="101600"/>
                  </a:lnTo>
                  <a:cubicBezTo>
                    <a:pt x="13462" y="101600"/>
                    <a:pt x="0" y="88138"/>
                    <a:pt x="0" y="71374"/>
                  </a:cubicBezTo>
                  <a:close/>
                </a:path>
              </a:pathLst>
            </a:custGeom>
            <a:solidFill>
              <a:srgbClr val="325F7B"/>
            </a:solidFill>
          </p:spPr>
        </p:sp>
      </p:grpSp>
      <p:grpSp>
        <p:nvGrpSpPr>
          <p:cNvPr id="41" name="Group 41"/>
          <p:cNvGrpSpPr/>
          <p:nvPr/>
        </p:nvGrpSpPr>
        <p:grpSpPr>
          <a:xfrm>
            <a:off x="12346705" y="6892080"/>
            <a:ext cx="452590" cy="452590"/>
            <a:chOff x="0" y="0"/>
            <a:chExt cx="603453" cy="603453"/>
          </a:xfrm>
        </p:grpSpPr>
        <p:sp>
          <p:nvSpPr>
            <p:cNvPr id="42" name="Freeform 42"/>
            <p:cNvSpPr/>
            <p:nvPr/>
          </p:nvSpPr>
          <p:spPr>
            <a:xfrm>
              <a:off x="0" y="0"/>
              <a:ext cx="603504" cy="603504"/>
            </a:xfrm>
            <a:custGeom>
              <a:avLst/>
              <a:gdLst/>
              <a:ahLst/>
              <a:cxnLst/>
              <a:rect l="l" t="t" r="r" b="b"/>
              <a:pathLst>
                <a:path w="603504" h="603504">
                  <a:moveTo>
                    <a:pt x="0" y="301752"/>
                  </a:moveTo>
                  <a:cubicBezTo>
                    <a:pt x="0" y="135128"/>
                    <a:pt x="135128" y="0"/>
                    <a:pt x="301752" y="0"/>
                  </a:cubicBezTo>
                  <a:cubicBezTo>
                    <a:pt x="468376" y="0"/>
                    <a:pt x="603504" y="135128"/>
                    <a:pt x="603504" y="301752"/>
                  </a:cubicBezTo>
                  <a:cubicBezTo>
                    <a:pt x="603504" y="468376"/>
                    <a:pt x="468376" y="603504"/>
                    <a:pt x="301752" y="603504"/>
                  </a:cubicBezTo>
                  <a:cubicBezTo>
                    <a:pt x="135128" y="603504"/>
                    <a:pt x="0" y="468376"/>
                    <a:pt x="0" y="301752"/>
                  </a:cubicBezTo>
                  <a:close/>
                </a:path>
              </a:pathLst>
            </a:custGeom>
            <a:solidFill>
              <a:srgbClr val="325F7B"/>
            </a:solidFill>
          </p:spPr>
        </p:sp>
      </p:grpSp>
      <p:sp>
        <p:nvSpPr>
          <p:cNvPr id="43" name="TextBox 43"/>
          <p:cNvSpPr txBox="1"/>
          <p:nvPr/>
        </p:nvSpPr>
        <p:spPr>
          <a:xfrm>
            <a:off x="12482436" y="6995665"/>
            <a:ext cx="180975" cy="235744"/>
          </a:xfrm>
          <a:prstGeom prst="rect">
            <a:avLst/>
          </a:prstGeom>
        </p:spPr>
        <p:txBody>
          <a:bodyPr lIns="0" tIns="0" rIns="0" bIns="0" rtlCol="0" anchor="t">
            <a:spAutoFit/>
          </a:bodyPr>
          <a:lstStyle/>
          <a:p>
            <a:pPr algn="l">
              <a:lnSpc>
                <a:spcPts val="1687"/>
              </a:lnSpc>
            </a:pPr>
            <a:r>
              <a:rPr lang="en-US" sz="1375">
                <a:solidFill>
                  <a:srgbClr val="FFFFFF"/>
                </a:solidFill>
                <a:latin typeface="Lora"/>
                <a:ea typeface="Lora"/>
                <a:cs typeface="Lora"/>
                <a:sym typeface="Lora"/>
              </a:rPr>
              <a:t>4</a:t>
            </a:r>
          </a:p>
        </p:txBody>
      </p:sp>
      <p:sp>
        <p:nvSpPr>
          <p:cNvPr id="44" name="TextBox 44"/>
          <p:cNvSpPr txBox="1"/>
          <p:nvPr/>
        </p:nvSpPr>
        <p:spPr>
          <a:xfrm>
            <a:off x="7843990" y="7485907"/>
            <a:ext cx="1774927" cy="231429"/>
          </a:xfrm>
          <a:prstGeom prst="rect">
            <a:avLst/>
          </a:prstGeom>
        </p:spPr>
        <p:txBody>
          <a:bodyPr lIns="0" tIns="0" rIns="0" bIns="0" rtlCol="0" anchor="t">
            <a:spAutoFit/>
          </a:bodyPr>
          <a:lstStyle/>
          <a:p>
            <a:pPr algn="l">
              <a:lnSpc>
                <a:spcPts val="1687"/>
              </a:lnSpc>
            </a:pPr>
            <a:r>
              <a:rPr lang="en-US" sz="1375">
                <a:solidFill>
                  <a:srgbClr val="D6E5EF"/>
                </a:solidFill>
                <a:latin typeface="Lora"/>
                <a:ea typeface="Lora"/>
                <a:cs typeface="Lora"/>
                <a:sym typeface="Lora"/>
              </a:rPr>
              <a:t>Claims Officer</a:t>
            </a:r>
          </a:p>
        </p:txBody>
      </p:sp>
      <p:sp>
        <p:nvSpPr>
          <p:cNvPr id="45" name="TextBox 45"/>
          <p:cNvSpPr txBox="1"/>
          <p:nvPr/>
        </p:nvSpPr>
        <p:spPr>
          <a:xfrm>
            <a:off x="7843990" y="7772400"/>
            <a:ext cx="9458030" cy="172041"/>
          </a:xfrm>
          <a:prstGeom prst="rect">
            <a:avLst/>
          </a:prstGeom>
        </p:spPr>
        <p:txBody>
          <a:bodyPr lIns="0" tIns="0" rIns="0" bIns="0" rtlCol="0" anchor="t">
            <a:spAutoFit/>
          </a:bodyPr>
          <a:lstStyle/>
          <a:p>
            <a:pPr algn="l">
              <a:lnSpc>
                <a:spcPts val="1375"/>
              </a:lnSpc>
            </a:pPr>
            <a:r>
              <a:rPr lang="en-US" sz="1187">
                <a:solidFill>
                  <a:srgbClr val="D6E5EF"/>
                </a:solidFill>
                <a:latin typeface="Source Sans 3"/>
                <a:ea typeface="Source Sans 3"/>
                <a:cs typeface="Source Sans 3"/>
                <a:sym typeface="Source Sans 3"/>
              </a:rPr>
              <a:t>Evaluates submitted claims, verifies supporting documentation, and determines claim approvals or settlements according to policy conditions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A2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52833"/>
            </a:solidFill>
          </p:spPr>
        </p:sp>
      </p:grpSp>
      <p:sp>
        <p:nvSpPr>
          <p:cNvPr id="6" name="TextBox 6"/>
          <p:cNvSpPr txBox="1"/>
          <p:nvPr/>
        </p:nvSpPr>
        <p:spPr>
          <a:xfrm>
            <a:off x="3384794" y="1039711"/>
            <a:ext cx="4173293" cy="540696"/>
          </a:xfrm>
          <a:prstGeom prst="rect">
            <a:avLst/>
          </a:prstGeom>
        </p:spPr>
        <p:txBody>
          <a:bodyPr lIns="0" tIns="0" rIns="0" bIns="0" rtlCol="0" anchor="t">
            <a:spAutoFit/>
          </a:bodyPr>
          <a:lstStyle/>
          <a:p>
            <a:pPr algn="l">
              <a:lnSpc>
                <a:spcPts val="4062"/>
              </a:lnSpc>
            </a:pPr>
            <a:r>
              <a:rPr lang="en-US" sz="3250">
                <a:solidFill>
                  <a:srgbClr val="F98AC7"/>
                </a:solidFill>
                <a:latin typeface="Lora"/>
                <a:ea typeface="Lora"/>
                <a:cs typeface="Lora"/>
                <a:sym typeface="Lora"/>
              </a:rPr>
              <a:t>System Workflow</a:t>
            </a:r>
          </a:p>
        </p:txBody>
      </p:sp>
      <p:sp>
        <p:nvSpPr>
          <p:cNvPr id="7" name="TextBox 7"/>
          <p:cNvSpPr txBox="1"/>
          <p:nvPr/>
        </p:nvSpPr>
        <p:spPr>
          <a:xfrm>
            <a:off x="3384794" y="1622374"/>
            <a:ext cx="3936359" cy="260747"/>
          </a:xfrm>
          <a:prstGeom prst="rect">
            <a:avLst/>
          </a:prstGeom>
        </p:spPr>
        <p:txBody>
          <a:bodyPr lIns="0" tIns="0" rIns="0" bIns="0" rtlCol="0" anchor="t">
            <a:spAutoFit/>
          </a:bodyPr>
          <a:lstStyle/>
          <a:p>
            <a:pPr algn="l">
              <a:lnSpc>
                <a:spcPts val="1999"/>
              </a:lnSpc>
            </a:pPr>
            <a:r>
              <a:rPr lang="en-US" sz="1625">
                <a:solidFill>
                  <a:srgbClr val="F98AC7"/>
                </a:solidFill>
                <a:latin typeface="Lora"/>
                <a:ea typeface="Lora"/>
                <a:cs typeface="Lora"/>
                <a:sym typeface="Lora"/>
              </a:rPr>
              <a:t>From Event Creation to Policy Activation</a:t>
            </a:r>
          </a:p>
        </p:txBody>
      </p:sp>
      <p:grpSp>
        <p:nvGrpSpPr>
          <p:cNvPr id="8" name="Group 8"/>
          <p:cNvGrpSpPr/>
          <p:nvPr/>
        </p:nvGrpSpPr>
        <p:grpSpPr>
          <a:xfrm>
            <a:off x="3384794" y="2040731"/>
            <a:ext cx="5759206" cy="709460"/>
            <a:chOff x="0" y="0"/>
            <a:chExt cx="7678941" cy="945947"/>
          </a:xfrm>
        </p:grpSpPr>
        <p:sp>
          <p:nvSpPr>
            <p:cNvPr id="9" name="Freeform 9" descr="preencoded.png"/>
            <p:cNvSpPr/>
            <p:nvPr/>
          </p:nvSpPr>
          <p:spPr>
            <a:xfrm>
              <a:off x="0" y="0"/>
              <a:ext cx="7678928" cy="945896"/>
            </a:xfrm>
            <a:custGeom>
              <a:avLst/>
              <a:gdLst/>
              <a:ahLst/>
              <a:cxnLst/>
              <a:rect l="l" t="t" r="r" b="b"/>
              <a:pathLst>
                <a:path w="7678928" h="945896">
                  <a:moveTo>
                    <a:pt x="0" y="0"/>
                  </a:moveTo>
                  <a:lnTo>
                    <a:pt x="7678928" y="0"/>
                  </a:lnTo>
                  <a:lnTo>
                    <a:pt x="7678928" y="945896"/>
                  </a:lnTo>
                  <a:lnTo>
                    <a:pt x="0" y="945896"/>
                  </a:lnTo>
                  <a:lnTo>
                    <a:pt x="0" y="0"/>
                  </a:lnTo>
                  <a:close/>
                </a:path>
              </a:pathLst>
            </a:custGeom>
            <a:blipFill>
              <a:blip r:embed="rId3"/>
              <a:stretch>
                <a:fillRect l="-357" r="-357" b="-5"/>
              </a:stretch>
            </a:blipFill>
          </p:spPr>
        </p:sp>
      </p:grpSp>
      <p:sp>
        <p:nvSpPr>
          <p:cNvPr id="10" name="TextBox 10"/>
          <p:cNvSpPr txBox="1"/>
          <p:nvPr/>
        </p:nvSpPr>
        <p:spPr>
          <a:xfrm>
            <a:off x="3562055" y="2855271"/>
            <a:ext cx="2086566" cy="260747"/>
          </a:xfrm>
          <a:prstGeom prst="rect">
            <a:avLst/>
          </a:prstGeom>
        </p:spPr>
        <p:txBody>
          <a:bodyPr lIns="0" tIns="0" rIns="0" bIns="0" rtlCol="0" anchor="t">
            <a:spAutoFit/>
          </a:bodyPr>
          <a:lstStyle/>
          <a:p>
            <a:pPr algn="l">
              <a:lnSpc>
                <a:spcPts val="1999"/>
              </a:lnSpc>
            </a:pPr>
            <a:r>
              <a:rPr lang="en-US" sz="1625">
                <a:solidFill>
                  <a:srgbClr val="D6E5EF"/>
                </a:solidFill>
                <a:latin typeface="Lora"/>
                <a:ea typeface="Lora"/>
                <a:cs typeface="Lora"/>
                <a:sym typeface="Lora"/>
              </a:rPr>
              <a:t>Event Creation</a:t>
            </a:r>
          </a:p>
        </p:txBody>
      </p:sp>
      <p:sp>
        <p:nvSpPr>
          <p:cNvPr id="11" name="TextBox 11"/>
          <p:cNvSpPr txBox="1"/>
          <p:nvPr/>
        </p:nvSpPr>
        <p:spPr>
          <a:xfrm>
            <a:off x="3562055" y="3169444"/>
            <a:ext cx="5404695" cy="235448"/>
          </a:xfrm>
          <a:prstGeom prst="rect">
            <a:avLst/>
          </a:prstGeom>
        </p:spPr>
        <p:txBody>
          <a:bodyPr lIns="0" tIns="0" rIns="0" bIns="0" rtlCol="0" anchor="t">
            <a:spAutoFit/>
          </a:bodyPr>
          <a:lstStyle/>
          <a:p>
            <a:pPr algn="l">
              <a:lnSpc>
                <a:spcPts val="1750"/>
              </a:lnSpc>
            </a:pPr>
            <a:r>
              <a:rPr lang="en-US" sz="1375">
                <a:solidFill>
                  <a:srgbClr val="D6E5EF"/>
                </a:solidFill>
                <a:latin typeface="Source Sans 3"/>
                <a:ea typeface="Source Sans 3"/>
                <a:cs typeface="Source Sans 3"/>
                <a:sym typeface="Source Sans 3"/>
              </a:rPr>
              <a:t>Customer creates event with type, budget, location, and schedule details</a:t>
            </a:r>
          </a:p>
        </p:txBody>
      </p:sp>
      <p:grpSp>
        <p:nvGrpSpPr>
          <p:cNvPr id="12" name="Group 12"/>
          <p:cNvGrpSpPr/>
          <p:nvPr/>
        </p:nvGrpSpPr>
        <p:grpSpPr>
          <a:xfrm>
            <a:off x="9144000" y="2040731"/>
            <a:ext cx="5759206" cy="709460"/>
            <a:chOff x="0" y="0"/>
            <a:chExt cx="7678941" cy="945947"/>
          </a:xfrm>
        </p:grpSpPr>
        <p:sp>
          <p:nvSpPr>
            <p:cNvPr id="13" name="Freeform 13" descr="preencoded.png"/>
            <p:cNvSpPr/>
            <p:nvPr/>
          </p:nvSpPr>
          <p:spPr>
            <a:xfrm>
              <a:off x="0" y="0"/>
              <a:ext cx="7678928" cy="945896"/>
            </a:xfrm>
            <a:custGeom>
              <a:avLst/>
              <a:gdLst/>
              <a:ahLst/>
              <a:cxnLst/>
              <a:rect l="l" t="t" r="r" b="b"/>
              <a:pathLst>
                <a:path w="7678928" h="945896">
                  <a:moveTo>
                    <a:pt x="0" y="0"/>
                  </a:moveTo>
                  <a:lnTo>
                    <a:pt x="7678928" y="0"/>
                  </a:lnTo>
                  <a:lnTo>
                    <a:pt x="7678928" y="945896"/>
                  </a:lnTo>
                  <a:lnTo>
                    <a:pt x="0" y="945896"/>
                  </a:lnTo>
                  <a:lnTo>
                    <a:pt x="0" y="0"/>
                  </a:lnTo>
                  <a:close/>
                </a:path>
              </a:pathLst>
            </a:custGeom>
            <a:blipFill>
              <a:blip r:embed="rId4"/>
              <a:stretch>
                <a:fillRect l="-357" r="-357" b="-5"/>
              </a:stretch>
            </a:blipFill>
          </p:spPr>
        </p:sp>
      </p:grpSp>
      <p:sp>
        <p:nvSpPr>
          <p:cNvPr id="14" name="TextBox 14"/>
          <p:cNvSpPr txBox="1"/>
          <p:nvPr/>
        </p:nvSpPr>
        <p:spPr>
          <a:xfrm>
            <a:off x="9321251" y="2855271"/>
            <a:ext cx="2086566" cy="260747"/>
          </a:xfrm>
          <a:prstGeom prst="rect">
            <a:avLst/>
          </a:prstGeom>
        </p:spPr>
        <p:txBody>
          <a:bodyPr lIns="0" tIns="0" rIns="0" bIns="0" rtlCol="0" anchor="t">
            <a:spAutoFit/>
          </a:bodyPr>
          <a:lstStyle/>
          <a:p>
            <a:pPr algn="l">
              <a:lnSpc>
                <a:spcPts val="1999"/>
              </a:lnSpc>
            </a:pPr>
            <a:r>
              <a:rPr lang="en-US" sz="1625">
                <a:solidFill>
                  <a:srgbClr val="D6E5EF"/>
                </a:solidFill>
                <a:latin typeface="Lora"/>
                <a:ea typeface="Lora"/>
                <a:cs typeface="Lora"/>
                <a:sym typeface="Lora"/>
              </a:rPr>
              <a:t>Policy Selection</a:t>
            </a:r>
          </a:p>
        </p:txBody>
      </p:sp>
      <p:sp>
        <p:nvSpPr>
          <p:cNvPr id="15" name="TextBox 15"/>
          <p:cNvSpPr txBox="1"/>
          <p:nvPr/>
        </p:nvSpPr>
        <p:spPr>
          <a:xfrm>
            <a:off x="9321251" y="3169444"/>
            <a:ext cx="5404695" cy="461372"/>
          </a:xfrm>
          <a:prstGeom prst="rect">
            <a:avLst/>
          </a:prstGeom>
        </p:spPr>
        <p:txBody>
          <a:bodyPr lIns="0" tIns="0" rIns="0" bIns="0" rtlCol="0" anchor="t">
            <a:spAutoFit/>
          </a:bodyPr>
          <a:lstStyle/>
          <a:p>
            <a:pPr algn="l">
              <a:lnSpc>
                <a:spcPts val="1750"/>
              </a:lnSpc>
            </a:pPr>
            <a:r>
              <a:rPr lang="en-US" sz="1375">
                <a:solidFill>
                  <a:srgbClr val="D6E5EF"/>
                </a:solidFill>
                <a:latin typeface="Source Sans 3"/>
                <a:ea typeface="Source Sans 3"/>
                <a:cs typeface="Source Sans 3"/>
                <a:sym typeface="Source Sans 3"/>
              </a:rPr>
              <a:t>Customer selects appropriate insurance policy matching event coverage requirements</a:t>
            </a:r>
          </a:p>
        </p:txBody>
      </p:sp>
      <p:grpSp>
        <p:nvGrpSpPr>
          <p:cNvPr id="16" name="Group 16"/>
          <p:cNvGrpSpPr/>
          <p:nvPr/>
        </p:nvGrpSpPr>
        <p:grpSpPr>
          <a:xfrm>
            <a:off x="3384794" y="3808066"/>
            <a:ext cx="5759206" cy="709460"/>
            <a:chOff x="0" y="0"/>
            <a:chExt cx="7678941" cy="945947"/>
          </a:xfrm>
        </p:grpSpPr>
        <p:sp>
          <p:nvSpPr>
            <p:cNvPr id="17" name="Freeform 17" descr="preencoded.png"/>
            <p:cNvSpPr/>
            <p:nvPr/>
          </p:nvSpPr>
          <p:spPr>
            <a:xfrm>
              <a:off x="0" y="0"/>
              <a:ext cx="7678928" cy="945896"/>
            </a:xfrm>
            <a:custGeom>
              <a:avLst/>
              <a:gdLst/>
              <a:ahLst/>
              <a:cxnLst/>
              <a:rect l="l" t="t" r="r" b="b"/>
              <a:pathLst>
                <a:path w="7678928" h="945896">
                  <a:moveTo>
                    <a:pt x="0" y="0"/>
                  </a:moveTo>
                  <a:lnTo>
                    <a:pt x="7678928" y="0"/>
                  </a:lnTo>
                  <a:lnTo>
                    <a:pt x="7678928" y="945896"/>
                  </a:lnTo>
                  <a:lnTo>
                    <a:pt x="0" y="945896"/>
                  </a:lnTo>
                  <a:lnTo>
                    <a:pt x="0" y="0"/>
                  </a:lnTo>
                  <a:close/>
                </a:path>
              </a:pathLst>
            </a:custGeom>
            <a:blipFill>
              <a:blip r:embed="rId5"/>
              <a:stretch>
                <a:fillRect l="-357" r="-357" b="-5"/>
              </a:stretch>
            </a:blipFill>
          </p:spPr>
        </p:sp>
      </p:grpSp>
      <p:sp>
        <p:nvSpPr>
          <p:cNvPr id="18" name="TextBox 18"/>
          <p:cNvSpPr txBox="1"/>
          <p:nvPr/>
        </p:nvSpPr>
        <p:spPr>
          <a:xfrm>
            <a:off x="3562055" y="4622597"/>
            <a:ext cx="2086566" cy="260747"/>
          </a:xfrm>
          <a:prstGeom prst="rect">
            <a:avLst/>
          </a:prstGeom>
        </p:spPr>
        <p:txBody>
          <a:bodyPr lIns="0" tIns="0" rIns="0" bIns="0" rtlCol="0" anchor="t">
            <a:spAutoFit/>
          </a:bodyPr>
          <a:lstStyle/>
          <a:p>
            <a:pPr algn="l">
              <a:lnSpc>
                <a:spcPts val="1999"/>
              </a:lnSpc>
            </a:pPr>
            <a:r>
              <a:rPr lang="en-US" sz="1625">
                <a:solidFill>
                  <a:srgbClr val="D6E5EF"/>
                </a:solidFill>
                <a:latin typeface="Lora"/>
                <a:ea typeface="Lora"/>
                <a:cs typeface="Lora"/>
                <a:sym typeface="Lora"/>
              </a:rPr>
              <a:t>Risk Analysis</a:t>
            </a:r>
          </a:p>
        </p:txBody>
      </p:sp>
      <p:sp>
        <p:nvSpPr>
          <p:cNvPr id="19" name="TextBox 19"/>
          <p:cNvSpPr txBox="1"/>
          <p:nvPr/>
        </p:nvSpPr>
        <p:spPr>
          <a:xfrm>
            <a:off x="3562055" y="4936779"/>
            <a:ext cx="5404695" cy="461372"/>
          </a:xfrm>
          <a:prstGeom prst="rect">
            <a:avLst/>
          </a:prstGeom>
        </p:spPr>
        <p:txBody>
          <a:bodyPr lIns="0" tIns="0" rIns="0" bIns="0" rtlCol="0" anchor="t">
            <a:spAutoFit/>
          </a:bodyPr>
          <a:lstStyle/>
          <a:p>
            <a:pPr algn="l">
              <a:lnSpc>
                <a:spcPts val="1750"/>
              </a:lnSpc>
            </a:pPr>
            <a:r>
              <a:rPr lang="en-US" sz="1375">
                <a:solidFill>
                  <a:srgbClr val="D6E5EF"/>
                </a:solidFill>
                <a:latin typeface="Source Sans 3"/>
                <a:ea typeface="Source Sans 3"/>
                <a:cs typeface="Source Sans 3"/>
                <a:sym typeface="Source Sans 3"/>
              </a:rPr>
              <a:t>System evaluates event size, venue type, duration, and complexity for risk assessment</a:t>
            </a:r>
          </a:p>
        </p:txBody>
      </p:sp>
      <p:grpSp>
        <p:nvGrpSpPr>
          <p:cNvPr id="20" name="Group 20"/>
          <p:cNvGrpSpPr/>
          <p:nvPr/>
        </p:nvGrpSpPr>
        <p:grpSpPr>
          <a:xfrm>
            <a:off x="9144000" y="3808066"/>
            <a:ext cx="5759206" cy="709460"/>
            <a:chOff x="0" y="0"/>
            <a:chExt cx="7678941" cy="945947"/>
          </a:xfrm>
        </p:grpSpPr>
        <p:sp>
          <p:nvSpPr>
            <p:cNvPr id="21" name="Freeform 21" descr="preencoded.png"/>
            <p:cNvSpPr/>
            <p:nvPr/>
          </p:nvSpPr>
          <p:spPr>
            <a:xfrm>
              <a:off x="0" y="0"/>
              <a:ext cx="7678928" cy="945896"/>
            </a:xfrm>
            <a:custGeom>
              <a:avLst/>
              <a:gdLst/>
              <a:ahLst/>
              <a:cxnLst/>
              <a:rect l="l" t="t" r="r" b="b"/>
              <a:pathLst>
                <a:path w="7678928" h="945896">
                  <a:moveTo>
                    <a:pt x="0" y="0"/>
                  </a:moveTo>
                  <a:lnTo>
                    <a:pt x="7678928" y="0"/>
                  </a:lnTo>
                  <a:lnTo>
                    <a:pt x="7678928" y="945896"/>
                  </a:lnTo>
                  <a:lnTo>
                    <a:pt x="0" y="945896"/>
                  </a:lnTo>
                  <a:lnTo>
                    <a:pt x="0" y="0"/>
                  </a:lnTo>
                  <a:close/>
                </a:path>
              </a:pathLst>
            </a:custGeom>
            <a:blipFill>
              <a:blip r:embed="rId6"/>
              <a:stretch>
                <a:fillRect l="-357" r="-357" b="-5"/>
              </a:stretch>
            </a:blipFill>
          </p:spPr>
        </p:sp>
      </p:grpSp>
      <p:sp>
        <p:nvSpPr>
          <p:cNvPr id="22" name="TextBox 22"/>
          <p:cNvSpPr txBox="1"/>
          <p:nvPr/>
        </p:nvSpPr>
        <p:spPr>
          <a:xfrm>
            <a:off x="9321251" y="4622597"/>
            <a:ext cx="2086566" cy="260747"/>
          </a:xfrm>
          <a:prstGeom prst="rect">
            <a:avLst/>
          </a:prstGeom>
        </p:spPr>
        <p:txBody>
          <a:bodyPr lIns="0" tIns="0" rIns="0" bIns="0" rtlCol="0" anchor="t">
            <a:spAutoFit/>
          </a:bodyPr>
          <a:lstStyle/>
          <a:p>
            <a:pPr algn="l">
              <a:lnSpc>
                <a:spcPts val="1999"/>
              </a:lnSpc>
            </a:pPr>
            <a:r>
              <a:rPr lang="en-US" sz="1625">
                <a:solidFill>
                  <a:srgbClr val="D6E5EF"/>
                </a:solidFill>
                <a:latin typeface="Lora"/>
                <a:ea typeface="Lora"/>
                <a:cs typeface="Lora"/>
                <a:sym typeface="Lora"/>
              </a:rPr>
              <a:t>Weather Integration</a:t>
            </a:r>
          </a:p>
        </p:txBody>
      </p:sp>
      <p:sp>
        <p:nvSpPr>
          <p:cNvPr id="23" name="TextBox 23"/>
          <p:cNvSpPr txBox="1"/>
          <p:nvPr/>
        </p:nvSpPr>
        <p:spPr>
          <a:xfrm>
            <a:off x="9321251" y="4936779"/>
            <a:ext cx="5404695" cy="235448"/>
          </a:xfrm>
          <a:prstGeom prst="rect">
            <a:avLst/>
          </a:prstGeom>
        </p:spPr>
        <p:txBody>
          <a:bodyPr lIns="0" tIns="0" rIns="0" bIns="0" rtlCol="0" anchor="t">
            <a:spAutoFit/>
          </a:bodyPr>
          <a:lstStyle/>
          <a:p>
            <a:pPr algn="l">
              <a:lnSpc>
                <a:spcPts val="1750"/>
              </a:lnSpc>
            </a:pPr>
            <a:r>
              <a:rPr lang="en-US" sz="1375">
                <a:solidFill>
                  <a:srgbClr val="D6E5EF"/>
                </a:solidFill>
                <a:latin typeface="Source Sans 3"/>
                <a:ea typeface="Source Sans 3"/>
                <a:cs typeface="Source Sans 3"/>
                <a:sym typeface="Source Sans 3"/>
              </a:rPr>
              <a:t>Additional weather risk analysis for outdoor events using weather data</a:t>
            </a:r>
          </a:p>
        </p:txBody>
      </p:sp>
      <p:grpSp>
        <p:nvGrpSpPr>
          <p:cNvPr id="24" name="Group 24"/>
          <p:cNvGrpSpPr/>
          <p:nvPr/>
        </p:nvGrpSpPr>
        <p:grpSpPr>
          <a:xfrm>
            <a:off x="3384794" y="5693569"/>
            <a:ext cx="5759206" cy="709460"/>
            <a:chOff x="0" y="0"/>
            <a:chExt cx="7678941" cy="945947"/>
          </a:xfrm>
        </p:grpSpPr>
        <p:sp>
          <p:nvSpPr>
            <p:cNvPr id="25" name="Freeform 25" descr="preencoded.png"/>
            <p:cNvSpPr/>
            <p:nvPr/>
          </p:nvSpPr>
          <p:spPr>
            <a:xfrm>
              <a:off x="0" y="0"/>
              <a:ext cx="7678928" cy="945896"/>
            </a:xfrm>
            <a:custGeom>
              <a:avLst/>
              <a:gdLst/>
              <a:ahLst/>
              <a:cxnLst/>
              <a:rect l="l" t="t" r="r" b="b"/>
              <a:pathLst>
                <a:path w="7678928" h="945896">
                  <a:moveTo>
                    <a:pt x="0" y="0"/>
                  </a:moveTo>
                  <a:lnTo>
                    <a:pt x="7678928" y="0"/>
                  </a:lnTo>
                  <a:lnTo>
                    <a:pt x="7678928" y="945896"/>
                  </a:lnTo>
                  <a:lnTo>
                    <a:pt x="0" y="945896"/>
                  </a:lnTo>
                  <a:lnTo>
                    <a:pt x="0" y="0"/>
                  </a:lnTo>
                  <a:close/>
                </a:path>
              </a:pathLst>
            </a:custGeom>
            <a:blipFill>
              <a:blip r:embed="rId7"/>
              <a:stretch>
                <a:fillRect l="-357" r="-357" b="-5"/>
              </a:stretch>
            </a:blipFill>
          </p:spPr>
        </p:sp>
      </p:grpSp>
      <p:sp>
        <p:nvSpPr>
          <p:cNvPr id="26" name="TextBox 26"/>
          <p:cNvSpPr txBox="1"/>
          <p:nvPr/>
        </p:nvSpPr>
        <p:spPr>
          <a:xfrm>
            <a:off x="3562055" y="6508109"/>
            <a:ext cx="2086566" cy="260747"/>
          </a:xfrm>
          <a:prstGeom prst="rect">
            <a:avLst/>
          </a:prstGeom>
        </p:spPr>
        <p:txBody>
          <a:bodyPr lIns="0" tIns="0" rIns="0" bIns="0" rtlCol="0" anchor="t">
            <a:spAutoFit/>
          </a:bodyPr>
          <a:lstStyle/>
          <a:p>
            <a:pPr algn="l">
              <a:lnSpc>
                <a:spcPts val="1999"/>
              </a:lnSpc>
            </a:pPr>
            <a:r>
              <a:rPr lang="en-US" sz="1625">
                <a:solidFill>
                  <a:srgbClr val="D6E5EF"/>
                </a:solidFill>
                <a:latin typeface="Lora"/>
                <a:ea typeface="Lora"/>
                <a:cs typeface="Lora"/>
                <a:sym typeface="Lora"/>
              </a:rPr>
              <a:t>Premium Calculation</a:t>
            </a:r>
          </a:p>
        </p:txBody>
      </p:sp>
      <p:sp>
        <p:nvSpPr>
          <p:cNvPr id="27" name="TextBox 27"/>
          <p:cNvSpPr txBox="1"/>
          <p:nvPr/>
        </p:nvSpPr>
        <p:spPr>
          <a:xfrm>
            <a:off x="3562055" y="6822281"/>
            <a:ext cx="5404695" cy="461372"/>
          </a:xfrm>
          <a:prstGeom prst="rect">
            <a:avLst/>
          </a:prstGeom>
        </p:spPr>
        <p:txBody>
          <a:bodyPr lIns="0" tIns="0" rIns="0" bIns="0" rtlCol="0" anchor="t">
            <a:spAutoFit/>
          </a:bodyPr>
          <a:lstStyle/>
          <a:p>
            <a:pPr algn="l">
              <a:lnSpc>
                <a:spcPts val="1750"/>
              </a:lnSpc>
            </a:pPr>
            <a:r>
              <a:rPr lang="en-US" sz="1375">
                <a:solidFill>
                  <a:srgbClr val="D6E5EF"/>
                </a:solidFill>
                <a:latin typeface="Source Sans 3"/>
                <a:ea typeface="Source Sans 3"/>
                <a:cs typeface="Source Sans 3"/>
                <a:sym typeface="Source Sans 3"/>
              </a:rPr>
              <a:t>System combines risks to generate total risk score and estimates premium with pending subscription</a:t>
            </a:r>
          </a:p>
        </p:txBody>
      </p:sp>
      <p:grpSp>
        <p:nvGrpSpPr>
          <p:cNvPr id="28" name="Group 28"/>
          <p:cNvGrpSpPr/>
          <p:nvPr/>
        </p:nvGrpSpPr>
        <p:grpSpPr>
          <a:xfrm>
            <a:off x="9144000" y="5693569"/>
            <a:ext cx="5759206" cy="709460"/>
            <a:chOff x="0" y="0"/>
            <a:chExt cx="7678941" cy="945947"/>
          </a:xfrm>
        </p:grpSpPr>
        <p:sp>
          <p:nvSpPr>
            <p:cNvPr id="29" name="Freeform 29" descr="preencoded.png"/>
            <p:cNvSpPr/>
            <p:nvPr/>
          </p:nvSpPr>
          <p:spPr>
            <a:xfrm>
              <a:off x="0" y="0"/>
              <a:ext cx="7678928" cy="945896"/>
            </a:xfrm>
            <a:custGeom>
              <a:avLst/>
              <a:gdLst/>
              <a:ahLst/>
              <a:cxnLst/>
              <a:rect l="l" t="t" r="r" b="b"/>
              <a:pathLst>
                <a:path w="7678928" h="945896">
                  <a:moveTo>
                    <a:pt x="0" y="0"/>
                  </a:moveTo>
                  <a:lnTo>
                    <a:pt x="7678928" y="0"/>
                  </a:lnTo>
                  <a:lnTo>
                    <a:pt x="7678928" y="945896"/>
                  </a:lnTo>
                  <a:lnTo>
                    <a:pt x="0" y="945896"/>
                  </a:lnTo>
                  <a:lnTo>
                    <a:pt x="0" y="0"/>
                  </a:lnTo>
                  <a:close/>
                </a:path>
              </a:pathLst>
            </a:custGeom>
            <a:blipFill>
              <a:blip r:embed="rId8"/>
              <a:stretch>
                <a:fillRect l="-357" r="-357" b="-5"/>
              </a:stretch>
            </a:blipFill>
          </p:spPr>
        </p:sp>
      </p:grpSp>
      <p:sp>
        <p:nvSpPr>
          <p:cNvPr id="30" name="TextBox 30"/>
          <p:cNvSpPr txBox="1"/>
          <p:nvPr/>
        </p:nvSpPr>
        <p:spPr>
          <a:xfrm>
            <a:off x="9321251" y="6508109"/>
            <a:ext cx="2086566" cy="260747"/>
          </a:xfrm>
          <a:prstGeom prst="rect">
            <a:avLst/>
          </a:prstGeom>
        </p:spPr>
        <p:txBody>
          <a:bodyPr lIns="0" tIns="0" rIns="0" bIns="0" rtlCol="0" anchor="t">
            <a:spAutoFit/>
          </a:bodyPr>
          <a:lstStyle/>
          <a:p>
            <a:pPr algn="l">
              <a:lnSpc>
                <a:spcPts val="1999"/>
              </a:lnSpc>
            </a:pPr>
            <a:r>
              <a:rPr lang="en-US" sz="1625">
                <a:solidFill>
                  <a:srgbClr val="D6E5EF"/>
                </a:solidFill>
                <a:latin typeface="Lora"/>
                <a:ea typeface="Lora"/>
                <a:cs typeface="Lora"/>
                <a:sym typeface="Lora"/>
              </a:rPr>
              <a:t>Underwriter Review</a:t>
            </a:r>
          </a:p>
        </p:txBody>
      </p:sp>
      <p:sp>
        <p:nvSpPr>
          <p:cNvPr id="31" name="TextBox 31"/>
          <p:cNvSpPr txBox="1"/>
          <p:nvPr/>
        </p:nvSpPr>
        <p:spPr>
          <a:xfrm>
            <a:off x="9321251" y="6822281"/>
            <a:ext cx="5404695" cy="461372"/>
          </a:xfrm>
          <a:prstGeom prst="rect">
            <a:avLst/>
          </a:prstGeom>
        </p:spPr>
        <p:txBody>
          <a:bodyPr lIns="0" tIns="0" rIns="0" bIns="0" rtlCol="0" anchor="t">
            <a:spAutoFit/>
          </a:bodyPr>
          <a:lstStyle/>
          <a:p>
            <a:pPr algn="l">
              <a:lnSpc>
                <a:spcPts val="1750"/>
              </a:lnSpc>
            </a:pPr>
            <a:r>
              <a:rPr lang="en-US" sz="1375">
                <a:solidFill>
                  <a:srgbClr val="D6E5EF"/>
                </a:solidFill>
                <a:latin typeface="Source Sans 3"/>
                <a:ea typeface="Source Sans 3"/>
                <a:cs typeface="Source Sans 3"/>
                <a:sym typeface="Source Sans 3"/>
              </a:rPr>
              <a:t>Administrator assigns subscription to underwriter for professional evaluation</a:t>
            </a:r>
          </a:p>
        </p:txBody>
      </p:sp>
      <p:grpSp>
        <p:nvGrpSpPr>
          <p:cNvPr id="32" name="Group 32"/>
          <p:cNvGrpSpPr/>
          <p:nvPr/>
        </p:nvGrpSpPr>
        <p:grpSpPr>
          <a:xfrm>
            <a:off x="3384794" y="7460904"/>
            <a:ext cx="5759206" cy="709460"/>
            <a:chOff x="0" y="0"/>
            <a:chExt cx="7678941" cy="945947"/>
          </a:xfrm>
        </p:grpSpPr>
        <p:sp>
          <p:nvSpPr>
            <p:cNvPr id="33" name="Freeform 33" descr="preencoded.png"/>
            <p:cNvSpPr/>
            <p:nvPr/>
          </p:nvSpPr>
          <p:spPr>
            <a:xfrm>
              <a:off x="0" y="0"/>
              <a:ext cx="7678928" cy="945896"/>
            </a:xfrm>
            <a:custGeom>
              <a:avLst/>
              <a:gdLst/>
              <a:ahLst/>
              <a:cxnLst/>
              <a:rect l="l" t="t" r="r" b="b"/>
              <a:pathLst>
                <a:path w="7678928" h="945896">
                  <a:moveTo>
                    <a:pt x="0" y="0"/>
                  </a:moveTo>
                  <a:lnTo>
                    <a:pt x="7678928" y="0"/>
                  </a:lnTo>
                  <a:lnTo>
                    <a:pt x="7678928" y="945896"/>
                  </a:lnTo>
                  <a:lnTo>
                    <a:pt x="0" y="945896"/>
                  </a:lnTo>
                  <a:lnTo>
                    <a:pt x="0" y="0"/>
                  </a:lnTo>
                  <a:close/>
                </a:path>
              </a:pathLst>
            </a:custGeom>
            <a:blipFill>
              <a:blip r:embed="rId9"/>
              <a:stretch>
                <a:fillRect l="-357" r="-357" b="-5"/>
              </a:stretch>
            </a:blipFill>
          </p:spPr>
        </p:sp>
      </p:grpSp>
      <p:sp>
        <p:nvSpPr>
          <p:cNvPr id="34" name="TextBox 34"/>
          <p:cNvSpPr txBox="1"/>
          <p:nvPr/>
        </p:nvSpPr>
        <p:spPr>
          <a:xfrm>
            <a:off x="3562055" y="8275434"/>
            <a:ext cx="2086566" cy="260747"/>
          </a:xfrm>
          <a:prstGeom prst="rect">
            <a:avLst/>
          </a:prstGeom>
        </p:spPr>
        <p:txBody>
          <a:bodyPr lIns="0" tIns="0" rIns="0" bIns="0" rtlCol="0" anchor="t">
            <a:spAutoFit/>
          </a:bodyPr>
          <a:lstStyle/>
          <a:p>
            <a:pPr algn="l">
              <a:lnSpc>
                <a:spcPts val="1999"/>
              </a:lnSpc>
            </a:pPr>
            <a:r>
              <a:rPr lang="en-US" sz="1625">
                <a:solidFill>
                  <a:srgbClr val="D6E5EF"/>
                </a:solidFill>
                <a:latin typeface="Lora"/>
                <a:ea typeface="Lora"/>
                <a:cs typeface="Lora"/>
                <a:sym typeface="Lora"/>
              </a:rPr>
              <a:t>Payment &amp; Activation</a:t>
            </a:r>
          </a:p>
        </p:txBody>
      </p:sp>
      <p:sp>
        <p:nvSpPr>
          <p:cNvPr id="35" name="TextBox 35"/>
          <p:cNvSpPr txBox="1"/>
          <p:nvPr/>
        </p:nvSpPr>
        <p:spPr>
          <a:xfrm>
            <a:off x="3562055" y="8589616"/>
            <a:ext cx="5404695" cy="461372"/>
          </a:xfrm>
          <a:prstGeom prst="rect">
            <a:avLst/>
          </a:prstGeom>
        </p:spPr>
        <p:txBody>
          <a:bodyPr lIns="0" tIns="0" rIns="0" bIns="0" rtlCol="0" anchor="t">
            <a:spAutoFit/>
          </a:bodyPr>
          <a:lstStyle/>
          <a:p>
            <a:pPr algn="l">
              <a:lnSpc>
                <a:spcPts val="1750"/>
              </a:lnSpc>
            </a:pPr>
            <a:r>
              <a:rPr lang="en-US" sz="1375">
                <a:solidFill>
                  <a:srgbClr val="D6E5EF"/>
                </a:solidFill>
                <a:latin typeface="Source Sans 3"/>
                <a:ea typeface="Source Sans 3"/>
                <a:cs typeface="Source Sans 3"/>
                <a:sym typeface="Source Sans 3"/>
              </a:rPr>
              <a:t>Underwriter approves or rejects; customer completes payment to activate policy</a:t>
            </a:r>
          </a:p>
        </p:txBody>
      </p:sp>
      <p:grpSp>
        <p:nvGrpSpPr>
          <p:cNvPr id="36" name="Group 36"/>
          <p:cNvGrpSpPr/>
          <p:nvPr/>
        </p:nvGrpSpPr>
        <p:grpSpPr>
          <a:xfrm>
            <a:off x="9144000" y="7460904"/>
            <a:ext cx="5759206" cy="709460"/>
            <a:chOff x="0" y="0"/>
            <a:chExt cx="7678941" cy="945947"/>
          </a:xfrm>
        </p:grpSpPr>
        <p:sp>
          <p:nvSpPr>
            <p:cNvPr id="37" name="Freeform 37" descr="preencoded.png"/>
            <p:cNvSpPr/>
            <p:nvPr/>
          </p:nvSpPr>
          <p:spPr>
            <a:xfrm>
              <a:off x="0" y="0"/>
              <a:ext cx="7678928" cy="945896"/>
            </a:xfrm>
            <a:custGeom>
              <a:avLst/>
              <a:gdLst/>
              <a:ahLst/>
              <a:cxnLst/>
              <a:rect l="l" t="t" r="r" b="b"/>
              <a:pathLst>
                <a:path w="7678928" h="945896">
                  <a:moveTo>
                    <a:pt x="0" y="0"/>
                  </a:moveTo>
                  <a:lnTo>
                    <a:pt x="7678928" y="0"/>
                  </a:lnTo>
                  <a:lnTo>
                    <a:pt x="7678928" y="945896"/>
                  </a:lnTo>
                  <a:lnTo>
                    <a:pt x="0" y="945896"/>
                  </a:lnTo>
                  <a:lnTo>
                    <a:pt x="0" y="0"/>
                  </a:lnTo>
                  <a:close/>
                </a:path>
              </a:pathLst>
            </a:custGeom>
            <a:blipFill>
              <a:blip r:embed="rId10"/>
              <a:stretch>
                <a:fillRect l="-357" r="-357" b="-5"/>
              </a:stretch>
            </a:blipFill>
          </p:spPr>
        </p:sp>
      </p:grpSp>
      <p:sp>
        <p:nvSpPr>
          <p:cNvPr id="38" name="TextBox 38"/>
          <p:cNvSpPr txBox="1"/>
          <p:nvPr/>
        </p:nvSpPr>
        <p:spPr>
          <a:xfrm>
            <a:off x="9321251" y="8275434"/>
            <a:ext cx="2086566" cy="260747"/>
          </a:xfrm>
          <a:prstGeom prst="rect">
            <a:avLst/>
          </a:prstGeom>
        </p:spPr>
        <p:txBody>
          <a:bodyPr lIns="0" tIns="0" rIns="0" bIns="0" rtlCol="0" anchor="t">
            <a:spAutoFit/>
          </a:bodyPr>
          <a:lstStyle/>
          <a:p>
            <a:pPr algn="l">
              <a:lnSpc>
                <a:spcPts val="1999"/>
              </a:lnSpc>
            </a:pPr>
            <a:r>
              <a:rPr lang="en-US" sz="1625">
                <a:solidFill>
                  <a:srgbClr val="D6E5EF"/>
                </a:solidFill>
                <a:latin typeface="Lora"/>
                <a:ea typeface="Lora"/>
                <a:cs typeface="Lora"/>
                <a:sym typeface="Lora"/>
              </a:rPr>
              <a:t>Claims Processing</a:t>
            </a:r>
          </a:p>
        </p:txBody>
      </p:sp>
      <p:sp>
        <p:nvSpPr>
          <p:cNvPr id="39" name="TextBox 39"/>
          <p:cNvSpPr txBox="1"/>
          <p:nvPr/>
        </p:nvSpPr>
        <p:spPr>
          <a:xfrm>
            <a:off x="9321251" y="8589616"/>
            <a:ext cx="5404695" cy="461372"/>
          </a:xfrm>
          <a:prstGeom prst="rect">
            <a:avLst/>
          </a:prstGeom>
        </p:spPr>
        <p:txBody>
          <a:bodyPr lIns="0" tIns="0" rIns="0" bIns="0" rtlCol="0" anchor="t">
            <a:spAutoFit/>
          </a:bodyPr>
          <a:lstStyle/>
          <a:p>
            <a:pPr algn="l">
              <a:lnSpc>
                <a:spcPts val="1750"/>
              </a:lnSpc>
            </a:pPr>
            <a:r>
              <a:rPr lang="en-US" sz="1375">
                <a:solidFill>
                  <a:srgbClr val="D6E5EF"/>
                </a:solidFill>
                <a:latin typeface="Source Sans 3"/>
                <a:ea typeface="Source Sans 3"/>
                <a:cs typeface="Source Sans 3"/>
                <a:sym typeface="Source Sans 3"/>
              </a:rPr>
              <a:t>Active policy allows customers to submit claims for incidents; claims officers review and process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A24"/>
            </a:solidFill>
          </p:spPr>
        </p:sp>
      </p:grpSp>
      <p:grpSp>
        <p:nvGrpSpPr>
          <p:cNvPr id="4" name="Group 4"/>
          <p:cNvGrpSpPr/>
          <p:nvPr/>
        </p:nvGrpSpPr>
        <p:grpSpPr>
          <a:xfrm>
            <a:off x="0" y="0"/>
            <a:ext cx="18288000" cy="10916469"/>
            <a:chOff x="0" y="0"/>
            <a:chExt cx="24384000" cy="14555292"/>
          </a:xfrm>
        </p:grpSpPr>
        <p:sp>
          <p:nvSpPr>
            <p:cNvPr id="5" name="Freeform 5"/>
            <p:cNvSpPr/>
            <p:nvPr/>
          </p:nvSpPr>
          <p:spPr>
            <a:xfrm>
              <a:off x="0" y="0"/>
              <a:ext cx="24384000" cy="14555293"/>
            </a:xfrm>
            <a:custGeom>
              <a:avLst/>
              <a:gdLst/>
              <a:ahLst/>
              <a:cxnLst/>
              <a:rect l="l" t="t" r="r" b="b"/>
              <a:pathLst>
                <a:path w="24384000" h="14555293">
                  <a:moveTo>
                    <a:pt x="0" y="0"/>
                  </a:moveTo>
                  <a:lnTo>
                    <a:pt x="24384000" y="0"/>
                  </a:lnTo>
                  <a:lnTo>
                    <a:pt x="24384000" y="14555293"/>
                  </a:lnTo>
                  <a:lnTo>
                    <a:pt x="0" y="14555293"/>
                  </a:lnTo>
                  <a:close/>
                </a:path>
              </a:pathLst>
            </a:custGeom>
            <a:solidFill>
              <a:srgbClr val="252833"/>
            </a:solidFill>
          </p:spPr>
        </p:sp>
      </p:grpSp>
      <p:grpSp>
        <p:nvGrpSpPr>
          <p:cNvPr id="6" name="Group 6"/>
          <p:cNvGrpSpPr/>
          <p:nvPr/>
        </p:nvGrpSpPr>
        <p:grpSpPr>
          <a:xfrm>
            <a:off x="3131433" y="1297334"/>
            <a:ext cx="10879842" cy="3453403"/>
            <a:chOff x="0" y="0"/>
            <a:chExt cx="14506455" cy="4604537"/>
          </a:xfrm>
        </p:grpSpPr>
        <p:sp>
          <p:nvSpPr>
            <p:cNvPr id="7" name="Freeform 7"/>
            <p:cNvSpPr/>
            <p:nvPr/>
          </p:nvSpPr>
          <p:spPr>
            <a:xfrm>
              <a:off x="0" y="0"/>
              <a:ext cx="14506468" cy="4604512"/>
            </a:xfrm>
            <a:custGeom>
              <a:avLst/>
              <a:gdLst/>
              <a:ahLst/>
              <a:cxnLst/>
              <a:rect l="l" t="t" r="r" b="b"/>
              <a:pathLst>
                <a:path w="14506468" h="4604512">
                  <a:moveTo>
                    <a:pt x="0" y="0"/>
                  </a:moveTo>
                  <a:lnTo>
                    <a:pt x="14506468" y="0"/>
                  </a:lnTo>
                  <a:lnTo>
                    <a:pt x="14506468" y="4604512"/>
                  </a:lnTo>
                  <a:lnTo>
                    <a:pt x="0" y="4604512"/>
                  </a:lnTo>
                  <a:lnTo>
                    <a:pt x="0" y="0"/>
                  </a:lnTo>
                  <a:close/>
                </a:path>
              </a:pathLst>
            </a:custGeom>
            <a:blipFill>
              <a:blip r:embed="rId3"/>
              <a:stretch>
                <a:fillRect l="-1611" r="-1611"/>
              </a:stretch>
            </a:blipFill>
          </p:spPr>
        </p:sp>
      </p:grpSp>
      <p:grpSp>
        <p:nvGrpSpPr>
          <p:cNvPr id="8" name="Group 8"/>
          <p:cNvGrpSpPr/>
          <p:nvPr/>
        </p:nvGrpSpPr>
        <p:grpSpPr>
          <a:xfrm>
            <a:off x="7823749" y="5138890"/>
            <a:ext cx="6187526" cy="1173804"/>
            <a:chOff x="0" y="0"/>
            <a:chExt cx="8250034" cy="1565072"/>
          </a:xfrm>
        </p:grpSpPr>
        <p:sp>
          <p:nvSpPr>
            <p:cNvPr id="9" name="Freeform 9"/>
            <p:cNvSpPr/>
            <p:nvPr/>
          </p:nvSpPr>
          <p:spPr>
            <a:xfrm>
              <a:off x="0" y="0"/>
              <a:ext cx="8250174" cy="1565148"/>
            </a:xfrm>
            <a:custGeom>
              <a:avLst/>
              <a:gdLst/>
              <a:ahLst/>
              <a:cxnLst/>
              <a:rect l="l" t="t" r="r" b="b"/>
              <a:pathLst>
                <a:path w="8250174" h="1565148">
                  <a:moveTo>
                    <a:pt x="0" y="29972"/>
                  </a:moveTo>
                  <a:cubicBezTo>
                    <a:pt x="0" y="13335"/>
                    <a:pt x="13335" y="0"/>
                    <a:pt x="29972" y="0"/>
                  </a:cubicBezTo>
                  <a:lnTo>
                    <a:pt x="8220202" y="0"/>
                  </a:lnTo>
                  <a:cubicBezTo>
                    <a:pt x="8236712" y="0"/>
                    <a:pt x="8250174" y="13335"/>
                    <a:pt x="8250174" y="29972"/>
                  </a:cubicBezTo>
                  <a:lnTo>
                    <a:pt x="8250174" y="1535176"/>
                  </a:lnTo>
                  <a:cubicBezTo>
                    <a:pt x="8250174" y="1551686"/>
                    <a:pt x="8236839" y="1565148"/>
                    <a:pt x="8220202" y="1565148"/>
                  </a:cubicBezTo>
                  <a:lnTo>
                    <a:pt x="29972" y="1565148"/>
                  </a:lnTo>
                  <a:cubicBezTo>
                    <a:pt x="13462" y="1565148"/>
                    <a:pt x="0" y="1551813"/>
                    <a:pt x="0" y="1535176"/>
                  </a:cubicBezTo>
                  <a:close/>
                </a:path>
              </a:pathLst>
            </a:custGeom>
            <a:solidFill>
              <a:srgbClr val="49042A"/>
            </a:solidFill>
          </p:spPr>
        </p:sp>
      </p:grpSp>
      <p:grpSp>
        <p:nvGrpSpPr>
          <p:cNvPr id="10" name="Group 10"/>
          <p:cNvGrpSpPr/>
          <p:nvPr/>
        </p:nvGrpSpPr>
        <p:grpSpPr>
          <a:xfrm>
            <a:off x="7973320" y="5328199"/>
            <a:ext cx="186928" cy="149571"/>
            <a:chOff x="0" y="0"/>
            <a:chExt cx="249238" cy="199428"/>
          </a:xfrm>
        </p:grpSpPr>
        <p:sp>
          <p:nvSpPr>
            <p:cNvPr id="11" name="Freeform 11" descr="preencoded.png"/>
            <p:cNvSpPr/>
            <p:nvPr/>
          </p:nvSpPr>
          <p:spPr>
            <a:xfrm>
              <a:off x="0" y="0"/>
              <a:ext cx="249301" cy="199390"/>
            </a:xfrm>
            <a:custGeom>
              <a:avLst/>
              <a:gdLst/>
              <a:ahLst/>
              <a:cxnLst/>
              <a:rect l="l" t="t" r="r" b="b"/>
              <a:pathLst>
                <a:path w="249301" h="199390">
                  <a:moveTo>
                    <a:pt x="0" y="0"/>
                  </a:moveTo>
                  <a:lnTo>
                    <a:pt x="249301" y="0"/>
                  </a:lnTo>
                  <a:lnTo>
                    <a:pt x="249301" y="199390"/>
                  </a:lnTo>
                  <a:lnTo>
                    <a:pt x="0" y="199390"/>
                  </a:lnTo>
                  <a:lnTo>
                    <a:pt x="0" y="0"/>
                  </a:lnTo>
                  <a:close/>
                </a:path>
              </a:pathLst>
            </a:custGeom>
            <a:blipFill>
              <a:blip r:embed="rId4"/>
              <a:stretch>
                <a:fillRect l="-10" r="15" b="-19"/>
              </a:stretch>
            </a:blipFill>
          </p:spPr>
        </p:sp>
      </p:grpSp>
      <p:grpSp>
        <p:nvGrpSpPr>
          <p:cNvPr id="12" name="Group 12"/>
          <p:cNvGrpSpPr/>
          <p:nvPr/>
        </p:nvGrpSpPr>
        <p:grpSpPr>
          <a:xfrm>
            <a:off x="7823749" y="6700838"/>
            <a:ext cx="6187526" cy="1121569"/>
            <a:chOff x="0" y="0"/>
            <a:chExt cx="8250034" cy="1495425"/>
          </a:xfrm>
        </p:grpSpPr>
        <p:sp>
          <p:nvSpPr>
            <p:cNvPr id="13" name="Freeform 13"/>
            <p:cNvSpPr/>
            <p:nvPr/>
          </p:nvSpPr>
          <p:spPr>
            <a:xfrm>
              <a:off x="0" y="0"/>
              <a:ext cx="8250174" cy="1495425"/>
            </a:xfrm>
            <a:custGeom>
              <a:avLst/>
              <a:gdLst/>
              <a:ahLst/>
              <a:cxnLst/>
              <a:rect l="l" t="t" r="r" b="b"/>
              <a:pathLst>
                <a:path w="8250174" h="1495425">
                  <a:moveTo>
                    <a:pt x="0" y="29972"/>
                  </a:moveTo>
                  <a:cubicBezTo>
                    <a:pt x="0" y="13335"/>
                    <a:pt x="13335" y="0"/>
                    <a:pt x="29972" y="0"/>
                  </a:cubicBezTo>
                  <a:lnTo>
                    <a:pt x="8220202" y="0"/>
                  </a:lnTo>
                  <a:cubicBezTo>
                    <a:pt x="8236712" y="0"/>
                    <a:pt x="8250174" y="13335"/>
                    <a:pt x="8250174" y="29972"/>
                  </a:cubicBezTo>
                  <a:lnTo>
                    <a:pt x="8250174" y="1465453"/>
                  </a:lnTo>
                  <a:cubicBezTo>
                    <a:pt x="8250174" y="1481963"/>
                    <a:pt x="8236839" y="1495425"/>
                    <a:pt x="8220202" y="1495425"/>
                  </a:cubicBezTo>
                  <a:lnTo>
                    <a:pt x="29972" y="1495425"/>
                  </a:lnTo>
                  <a:cubicBezTo>
                    <a:pt x="13462" y="1495425"/>
                    <a:pt x="0" y="1482090"/>
                    <a:pt x="0" y="1465453"/>
                  </a:cubicBezTo>
                  <a:close/>
                </a:path>
              </a:pathLst>
            </a:custGeom>
            <a:solidFill>
              <a:srgbClr val="323540"/>
            </a:solidFill>
          </p:spPr>
        </p:sp>
      </p:grpSp>
      <p:grpSp>
        <p:nvGrpSpPr>
          <p:cNvPr id="14" name="Group 14"/>
          <p:cNvGrpSpPr/>
          <p:nvPr/>
        </p:nvGrpSpPr>
        <p:grpSpPr>
          <a:xfrm>
            <a:off x="7816301" y="6700838"/>
            <a:ext cx="6202413" cy="1121569"/>
            <a:chOff x="0" y="0"/>
            <a:chExt cx="8269884" cy="1495425"/>
          </a:xfrm>
        </p:grpSpPr>
        <p:sp>
          <p:nvSpPr>
            <p:cNvPr id="15" name="Freeform 15"/>
            <p:cNvSpPr/>
            <p:nvPr/>
          </p:nvSpPr>
          <p:spPr>
            <a:xfrm>
              <a:off x="0" y="0"/>
              <a:ext cx="8269986" cy="1495425"/>
            </a:xfrm>
            <a:custGeom>
              <a:avLst/>
              <a:gdLst/>
              <a:ahLst/>
              <a:cxnLst/>
              <a:rect l="l" t="t" r="r" b="b"/>
              <a:pathLst>
                <a:path w="8269986" h="1495425">
                  <a:moveTo>
                    <a:pt x="0" y="29972"/>
                  </a:moveTo>
                  <a:cubicBezTo>
                    <a:pt x="0" y="13335"/>
                    <a:pt x="13335" y="0"/>
                    <a:pt x="29972" y="0"/>
                  </a:cubicBezTo>
                  <a:lnTo>
                    <a:pt x="8240014" y="0"/>
                  </a:lnTo>
                  <a:cubicBezTo>
                    <a:pt x="8256524" y="0"/>
                    <a:pt x="8269986" y="13335"/>
                    <a:pt x="8269986" y="29972"/>
                  </a:cubicBezTo>
                  <a:lnTo>
                    <a:pt x="8269986" y="1465453"/>
                  </a:lnTo>
                  <a:cubicBezTo>
                    <a:pt x="8269986" y="1481963"/>
                    <a:pt x="8256651" y="1495425"/>
                    <a:pt x="8240014" y="1495425"/>
                  </a:cubicBezTo>
                  <a:lnTo>
                    <a:pt x="29972" y="1495425"/>
                  </a:lnTo>
                  <a:cubicBezTo>
                    <a:pt x="13462" y="1495425"/>
                    <a:pt x="0" y="1482090"/>
                    <a:pt x="0" y="1465453"/>
                  </a:cubicBezTo>
                  <a:close/>
                </a:path>
              </a:pathLst>
            </a:custGeom>
            <a:solidFill>
              <a:srgbClr val="323540"/>
            </a:solidFill>
          </p:spPr>
        </p:sp>
      </p:grpSp>
      <p:grpSp>
        <p:nvGrpSpPr>
          <p:cNvPr id="16" name="Group 16"/>
          <p:cNvGrpSpPr/>
          <p:nvPr/>
        </p:nvGrpSpPr>
        <p:grpSpPr>
          <a:xfrm>
            <a:off x="7823749" y="8210550"/>
            <a:ext cx="6187526" cy="942080"/>
            <a:chOff x="0" y="0"/>
            <a:chExt cx="8250034" cy="1256106"/>
          </a:xfrm>
        </p:grpSpPr>
        <p:sp>
          <p:nvSpPr>
            <p:cNvPr id="17" name="Freeform 17"/>
            <p:cNvSpPr/>
            <p:nvPr/>
          </p:nvSpPr>
          <p:spPr>
            <a:xfrm>
              <a:off x="0" y="0"/>
              <a:ext cx="8250174" cy="1256157"/>
            </a:xfrm>
            <a:custGeom>
              <a:avLst/>
              <a:gdLst/>
              <a:ahLst/>
              <a:cxnLst/>
              <a:rect l="l" t="t" r="r" b="b"/>
              <a:pathLst>
                <a:path w="8250174" h="1256157">
                  <a:moveTo>
                    <a:pt x="0" y="29972"/>
                  </a:moveTo>
                  <a:cubicBezTo>
                    <a:pt x="0" y="13335"/>
                    <a:pt x="13335" y="0"/>
                    <a:pt x="29972" y="0"/>
                  </a:cubicBezTo>
                  <a:lnTo>
                    <a:pt x="8220202" y="0"/>
                  </a:lnTo>
                  <a:cubicBezTo>
                    <a:pt x="8236712" y="0"/>
                    <a:pt x="8250174" y="13335"/>
                    <a:pt x="8250174" y="29972"/>
                  </a:cubicBezTo>
                  <a:lnTo>
                    <a:pt x="8250174" y="1226185"/>
                  </a:lnTo>
                  <a:cubicBezTo>
                    <a:pt x="8250174" y="1242695"/>
                    <a:pt x="8236839" y="1256157"/>
                    <a:pt x="8220202" y="1256157"/>
                  </a:cubicBezTo>
                  <a:lnTo>
                    <a:pt x="29972" y="1256157"/>
                  </a:lnTo>
                  <a:cubicBezTo>
                    <a:pt x="13335" y="1256157"/>
                    <a:pt x="0" y="1242695"/>
                    <a:pt x="0" y="1226185"/>
                  </a:cubicBezTo>
                  <a:close/>
                </a:path>
              </a:pathLst>
            </a:custGeom>
            <a:solidFill>
              <a:srgbClr val="323540"/>
            </a:solidFill>
          </p:spPr>
        </p:sp>
      </p:grpSp>
      <p:grpSp>
        <p:nvGrpSpPr>
          <p:cNvPr id="18" name="Group 18"/>
          <p:cNvGrpSpPr/>
          <p:nvPr/>
        </p:nvGrpSpPr>
        <p:grpSpPr>
          <a:xfrm>
            <a:off x="7816301" y="8210550"/>
            <a:ext cx="6202413" cy="942080"/>
            <a:chOff x="0" y="0"/>
            <a:chExt cx="8269884" cy="1256106"/>
          </a:xfrm>
        </p:grpSpPr>
        <p:sp>
          <p:nvSpPr>
            <p:cNvPr id="19" name="Freeform 19"/>
            <p:cNvSpPr/>
            <p:nvPr/>
          </p:nvSpPr>
          <p:spPr>
            <a:xfrm>
              <a:off x="0" y="0"/>
              <a:ext cx="8269986" cy="1256157"/>
            </a:xfrm>
            <a:custGeom>
              <a:avLst/>
              <a:gdLst/>
              <a:ahLst/>
              <a:cxnLst/>
              <a:rect l="l" t="t" r="r" b="b"/>
              <a:pathLst>
                <a:path w="8269986" h="1256157">
                  <a:moveTo>
                    <a:pt x="0" y="29972"/>
                  </a:moveTo>
                  <a:cubicBezTo>
                    <a:pt x="0" y="13335"/>
                    <a:pt x="13335" y="0"/>
                    <a:pt x="29972" y="0"/>
                  </a:cubicBezTo>
                  <a:lnTo>
                    <a:pt x="8240014" y="0"/>
                  </a:lnTo>
                  <a:cubicBezTo>
                    <a:pt x="8256524" y="0"/>
                    <a:pt x="8269986" y="13335"/>
                    <a:pt x="8269986" y="29972"/>
                  </a:cubicBezTo>
                  <a:lnTo>
                    <a:pt x="8269986" y="1226185"/>
                  </a:lnTo>
                  <a:cubicBezTo>
                    <a:pt x="8269986" y="1242695"/>
                    <a:pt x="8256651" y="1256157"/>
                    <a:pt x="8240014" y="1256157"/>
                  </a:cubicBezTo>
                  <a:lnTo>
                    <a:pt x="29972" y="1256157"/>
                  </a:lnTo>
                  <a:cubicBezTo>
                    <a:pt x="13335" y="1256157"/>
                    <a:pt x="0" y="1242695"/>
                    <a:pt x="0" y="1226185"/>
                  </a:cubicBezTo>
                  <a:close/>
                </a:path>
              </a:pathLst>
            </a:custGeom>
            <a:solidFill>
              <a:srgbClr val="323540"/>
            </a:solidFill>
          </p:spPr>
        </p:sp>
      </p:grpSp>
      <p:grpSp>
        <p:nvGrpSpPr>
          <p:cNvPr id="20" name="Group 20"/>
          <p:cNvGrpSpPr/>
          <p:nvPr/>
        </p:nvGrpSpPr>
        <p:grpSpPr>
          <a:xfrm>
            <a:off x="860661" y="7749554"/>
            <a:ext cx="4596108" cy="149571"/>
            <a:chOff x="0" y="0"/>
            <a:chExt cx="6128144" cy="199428"/>
          </a:xfrm>
        </p:grpSpPr>
        <p:sp>
          <p:nvSpPr>
            <p:cNvPr id="21" name="Freeform 21"/>
            <p:cNvSpPr/>
            <p:nvPr/>
          </p:nvSpPr>
          <p:spPr>
            <a:xfrm>
              <a:off x="0" y="0"/>
              <a:ext cx="6128258" cy="199517"/>
            </a:xfrm>
            <a:custGeom>
              <a:avLst/>
              <a:gdLst/>
              <a:ahLst/>
              <a:cxnLst/>
              <a:rect l="l" t="t" r="r" b="b"/>
              <a:pathLst>
                <a:path w="6128258" h="199517">
                  <a:moveTo>
                    <a:pt x="0" y="29972"/>
                  </a:moveTo>
                  <a:cubicBezTo>
                    <a:pt x="0" y="13335"/>
                    <a:pt x="13335" y="0"/>
                    <a:pt x="29972" y="0"/>
                  </a:cubicBezTo>
                  <a:lnTo>
                    <a:pt x="6098286" y="0"/>
                  </a:lnTo>
                  <a:cubicBezTo>
                    <a:pt x="6114796" y="0"/>
                    <a:pt x="6128258" y="13335"/>
                    <a:pt x="6128258" y="29972"/>
                  </a:cubicBezTo>
                  <a:lnTo>
                    <a:pt x="6128258" y="169545"/>
                  </a:lnTo>
                  <a:cubicBezTo>
                    <a:pt x="6128258" y="186055"/>
                    <a:pt x="6114923" y="199517"/>
                    <a:pt x="6098286" y="199517"/>
                  </a:cubicBezTo>
                  <a:lnTo>
                    <a:pt x="29972" y="199517"/>
                  </a:lnTo>
                  <a:cubicBezTo>
                    <a:pt x="13335" y="199390"/>
                    <a:pt x="0" y="186055"/>
                    <a:pt x="0" y="169545"/>
                  </a:cubicBezTo>
                  <a:close/>
                </a:path>
              </a:pathLst>
            </a:custGeom>
            <a:solidFill>
              <a:srgbClr val="444752"/>
            </a:solidFill>
          </p:spPr>
        </p:sp>
      </p:grpSp>
      <p:grpSp>
        <p:nvGrpSpPr>
          <p:cNvPr id="22" name="Group 22"/>
          <p:cNvGrpSpPr/>
          <p:nvPr/>
        </p:nvGrpSpPr>
        <p:grpSpPr>
          <a:xfrm>
            <a:off x="636376" y="7599916"/>
            <a:ext cx="448713" cy="448713"/>
            <a:chOff x="0" y="0"/>
            <a:chExt cx="598284" cy="598284"/>
          </a:xfrm>
        </p:grpSpPr>
        <p:sp>
          <p:nvSpPr>
            <p:cNvPr id="23" name="Freeform 23"/>
            <p:cNvSpPr/>
            <p:nvPr/>
          </p:nvSpPr>
          <p:spPr>
            <a:xfrm>
              <a:off x="0" y="0"/>
              <a:ext cx="598297" cy="598297"/>
            </a:xfrm>
            <a:custGeom>
              <a:avLst/>
              <a:gdLst/>
              <a:ahLst/>
              <a:cxnLst/>
              <a:rect l="l" t="t" r="r" b="b"/>
              <a:pathLst>
                <a:path w="598297" h="598297">
                  <a:moveTo>
                    <a:pt x="0" y="299085"/>
                  </a:moveTo>
                  <a:cubicBezTo>
                    <a:pt x="0" y="133985"/>
                    <a:pt x="133985" y="0"/>
                    <a:pt x="299085" y="0"/>
                  </a:cubicBezTo>
                  <a:cubicBezTo>
                    <a:pt x="464185" y="0"/>
                    <a:pt x="598297" y="133985"/>
                    <a:pt x="598297" y="299085"/>
                  </a:cubicBezTo>
                  <a:cubicBezTo>
                    <a:pt x="598297" y="464185"/>
                    <a:pt x="464312" y="598297"/>
                    <a:pt x="299085" y="598297"/>
                  </a:cubicBezTo>
                  <a:cubicBezTo>
                    <a:pt x="133858" y="598297"/>
                    <a:pt x="0" y="464312"/>
                    <a:pt x="0" y="299085"/>
                  </a:cubicBezTo>
                  <a:close/>
                </a:path>
              </a:pathLst>
            </a:custGeom>
            <a:solidFill>
              <a:srgbClr val="444752"/>
            </a:solidFill>
          </p:spPr>
        </p:sp>
      </p:grpSp>
      <p:grpSp>
        <p:nvGrpSpPr>
          <p:cNvPr id="24" name="Group 24"/>
          <p:cNvGrpSpPr/>
          <p:nvPr/>
        </p:nvGrpSpPr>
        <p:grpSpPr>
          <a:xfrm>
            <a:off x="860661" y="8502634"/>
            <a:ext cx="4596260" cy="149571"/>
            <a:chOff x="0" y="0"/>
            <a:chExt cx="6128347" cy="199428"/>
          </a:xfrm>
        </p:grpSpPr>
        <p:sp>
          <p:nvSpPr>
            <p:cNvPr id="25" name="Freeform 25"/>
            <p:cNvSpPr/>
            <p:nvPr/>
          </p:nvSpPr>
          <p:spPr>
            <a:xfrm>
              <a:off x="0" y="0"/>
              <a:ext cx="6128385" cy="199517"/>
            </a:xfrm>
            <a:custGeom>
              <a:avLst/>
              <a:gdLst/>
              <a:ahLst/>
              <a:cxnLst/>
              <a:rect l="l" t="t" r="r" b="b"/>
              <a:pathLst>
                <a:path w="6128385" h="199517">
                  <a:moveTo>
                    <a:pt x="0" y="29972"/>
                  </a:moveTo>
                  <a:cubicBezTo>
                    <a:pt x="0" y="13335"/>
                    <a:pt x="13335" y="0"/>
                    <a:pt x="29972" y="0"/>
                  </a:cubicBezTo>
                  <a:lnTo>
                    <a:pt x="6098413" y="0"/>
                  </a:lnTo>
                  <a:cubicBezTo>
                    <a:pt x="6114923" y="0"/>
                    <a:pt x="6128385" y="13335"/>
                    <a:pt x="6128385" y="29972"/>
                  </a:cubicBezTo>
                  <a:lnTo>
                    <a:pt x="6128385" y="169545"/>
                  </a:lnTo>
                  <a:cubicBezTo>
                    <a:pt x="6128385" y="186055"/>
                    <a:pt x="6115050" y="199517"/>
                    <a:pt x="6098413" y="199517"/>
                  </a:cubicBezTo>
                  <a:lnTo>
                    <a:pt x="29972" y="199517"/>
                  </a:lnTo>
                  <a:cubicBezTo>
                    <a:pt x="13335" y="199390"/>
                    <a:pt x="0" y="186055"/>
                    <a:pt x="0" y="169545"/>
                  </a:cubicBezTo>
                  <a:close/>
                </a:path>
              </a:pathLst>
            </a:custGeom>
            <a:solidFill>
              <a:srgbClr val="444752"/>
            </a:solidFill>
          </p:spPr>
        </p:sp>
      </p:grpSp>
      <p:sp>
        <p:nvSpPr>
          <p:cNvPr id="26" name="TextBox 26"/>
          <p:cNvSpPr txBox="1"/>
          <p:nvPr/>
        </p:nvSpPr>
        <p:spPr>
          <a:xfrm>
            <a:off x="4285955" y="392316"/>
            <a:ext cx="7212959" cy="458991"/>
          </a:xfrm>
          <a:prstGeom prst="rect">
            <a:avLst/>
          </a:prstGeom>
        </p:spPr>
        <p:txBody>
          <a:bodyPr lIns="0" tIns="0" rIns="0" bIns="0" rtlCol="0" anchor="t">
            <a:spAutoFit/>
          </a:bodyPr>
          <a:lstStyle/>
          <a:p>
            <a:pPr algn="l">
              <a:lnSpc>
                <a:spcPts val="3437"/>
              </a:lnSpc>
            </a:pPr>
            <a:r>
              <a:rPr lang="en-US" sz="2750">
                <a:solidFill>
                  <a:srgbClr val="F98AC7"/>
                </a:solidFill>
                <a:latin typeface="Lora"/>
                <a:ea typeface="Lora"/>
                <a:cs typeface="Lora"/>
                <a:sym typeface="Lora"/>
              </a:rPr>
              <a:t>Automated Risk-Based Premium Calculation</a:t>
            </a:r>
          </a:p>
        </p:txBody>
      </p:sp>
      <p:sp>
        <p:nvSpPr>
          <p:cNvPr id="27" name="TextBox 27"/>
          <p:cNvSpPr txBox="1"/>
          <p:nvPr/>
        </p:nvSpPr>
        <p:spPr>
          <a:xfrm>
            <a:off x="4285955" y="871690"/>
            <a:ext cx="2251024" cy="229495"/>
          </a:xfrm>
          <a:prstGeom prst="rect">
            <a:avLst/>
          </a:prstGeom>
        </p:spPr>
        <p:txBody>
          <a:bodyPr lIns="0" tIns="0" rIns="0" bIns="0" rtlCol="0" anchor="t">
            <a:spAutoFit/>
          </a:bodyPr>
          <a:lstStyle/>
          <a:p>
            <a:pPr algn="l">
              <a:lnSpc>
                <a:spcPts val="1687"/>
              </a:lnSpc>
            </a:pPr>
            <a:r>
              <a:rPr lang="en-US" sz="1375">
                <a:solidFill>
                  <a:srgbClr val="F98AC7"/>
                </a:solidFill>
                <a:latin typeface="Lora"/>
                <a:ea typeface="Lora"/>
                <a:cs typeface="Lora"/>
                <a:sym typeface="Lora"/>
              </a:rPr>
              <a:t>Core Functionality in Detail</a:t>
            </a:r>
          </a:p>
        </p:txBody>
      </p:sp>
      <p:sp>
        <p:nvSpPr>
          <p:cNvPr id="28" name="TextBox 28"/>
          <p:cNvSpPr txBox="1"/>
          <p:nvPr/>
        </p:nvSpPr>
        <p:spPr>
          <a:xfrm>
            <a:off x="4285955" y="4714875"/>
            <a:ext cx="3163338" cy="1138696"/>
          </a:xfrm>
          <a:prstGeom prst="rect">
            <a:avLst/>
          </a:prstGeom>
        </p:spPr>
        <p:txBody>
          <a:bodyPr lIns="0" tIns="0" rIns="0" bIns="0" rtlCol="0" anchor="t">
            <a:spAutoFit/>
          </a:bodyPr>
          <a:lstStyle/>
          <a:p>
            <a:pPr algn="l">
              <a:lnSpc>
                <a:spcPts val="1863"/>
              </a:lnSpc>
            </a:pPr>
            <a:r>
              <a:rPr lang="en-US" sz="1524">
                <a:solidFill>
                  <a:srgbClr val="D6E5EF"/>
                </a:solidFill>
                <a:latin typeface="Source Sans 3"/>
                <a:ea typeface="Source Sans 3"/>
                <a:cs typeface="Source Sans 3"/>
                <a:sym typeface="Source Sans 3"/>
              </a:rPr>
              <a:t>EventGuard's automated premium calculation ensures consistent pricing, transparent calculations, and improved decision-making through systematic risk evaluation.</a:t>
            </a:r>
          </a:p>
        </p:txBody>
      </p:sp>
      <p:sp>
        <p:nvSpPr>
          <p:cNvPr id="29" name="TextBox 29"/>
          <p:cNvSpPr txBox="1"/>
          <p:nvPr/>
        </p:nvSpPr>
        <p:spPr>
          <a:xfrm>
            <a:off x="4285955" y="6167285"/>
            <a:ext cx="2062758" cy="279602"/>
          </a:xfrm>
          <a:prstGeom prst="rect">
            <a:avLst/>
          </a:prstGeom>
        </p:spPr>
        <p:txBody>
          <a:bodyPr lIns="0" tIns="0" rIns="0" bIns="0" rtlCol="0" anchor="t">
            <a:spAutoFit/>
          </a:bodyPr>
          <a:lstStyle/>
          <a:p>
            <a:pPr algn="l">
              <a:lnSpc>
                <a:spcPts val="2178"/>
              </a:lnSpc>
            </a:pPr>
            <a:r>
              <a:rPr lang="en-US" sz="1774">
                <a:solidFill>
                  <a:srgbClr val="F98AC7"/>
                </a:solidFill>
                <a:latin typeface="Lora"/>
                <a:ea typeface="Lora"/>
                <a:cs typeface="Lora"/>
                <a:sym typeface="Lora"/>
              </a:rPr>
              <a:t>Calculation Process</a:t>
            </a:r>
          </a:p>
        </p:txBody>
      </p:sp>
      <p:sp>
        <p:nvSpPr>
          <p:cNvPr id="30" name="TextBox 30"/>
          <p:cNvSpPr txBox="1"/>
          <p:nvPr/>
        </p:nvSpPr>
        <p:spPr>
          <a:xfrm>
            <a:off x="7823749" y="4825308"/>
            <a:ext cx="1760039" cy="229495"/>
          </a:xfrm>
          <a:prstGeom prst="rect">
            <a:avLst/>
          </a:prstGeom>
        </p:spPr>
        <p:txBody>
          <a:bodyPr lIns="0" tIns="0" rIns="0" bIns="0" rtlCol="0" anchor="t">
            <a:spAutoFit/>
          </a:bodyPr>
          <a:lstStyle/>
          <a:p>
            <a:pPr algn="l">
              <a:lnSpc>
                <a:spcPts val="1687"/>
              </a:lnSpc>
            </a:pPr>
            <a:r>
              <a:rPr lang="en-US" sz="1375">
                <a:solidFill>
                  <a:srgbClr val="F98AC7"/>
                </a:solidFill>
                <a:latin typeface="Lora"/>
                <a:ea typeface="Lora"/>
                <a:cs typeface="Lora"/>
                <a:sym typeface="Lora"/>
              </a:rPr>
              <a:t>Formulas Used</a:t>
            </a:r>
          </a:p>
        </p:txBody>
      </p:sp>
      <p:sp>
        <p:nvSpPr>
          <p:cNvPr id="31" name="TextBox 31"/>
          <p:cNvSpPr txBox="1"/>
          <p:nvPr/>
        </p:nvSpPr>
        <p:spPr>
          <a:xfrm>
            <a:off x="8309820" y="5250952"/>
            <a:ext cx="5551884" cy="179489"/>
          </a:xfrm>
          <a:prstGeom prst="rect">
            <a:avLst/>
          </a:prstGeom>
        </p:spPr>
        <p:txBody>
          <a:bodyPr lIns="0" tIns="0" rIns="0" bIns="0" rtlCol="0" anchor="t">
            <a:spAutoFit/>
          </a:bodyPr>
          <a:lstStyle/>
          <a:p>
            <a:pPr algn="l">
              <a:lnSpc>
                <a:spcPts val="1374"/>
              </a:lnSpc>
            </a:pPr>
            <a:r>
              <a:rPr lang="en-US" sz="1124" b="1">
                <a:solidFill>
                  <a:srgbClr val="FFFFFF"/>
                </a:solidFill>
                <a:latin typeface="Source Sans 3 Bold"/>
                <a:ea typeface="Source Sans 3 Bold"/>
                <a:cs typeface="Source Sans 3 Bold"/>
                <a:sym typeface="Source Sans 3 Bold"/>
              </a:rPr>
              <a:t>Base Premium Formula:</a:t>
            </a:r>
          </a:p>
        </p:txBody>
      </p:sp>
      <p:sp>
        <p:nvSpPr>
          <p:cNvPr id="32" name="TextBox 32"/>
          <p:cNvSpPr txBox="1"/>
          <p:nvPr/>
        </p:nvSpPr>
        <p:spPr>
          <a:xfrm>
            <a:off x="8309820" y="5497716"/>
            <a:ext cx="5551884" cy="179489"/>
          </a:xfrm>
          <a:prstGeom prst="rect">
            <a:avLst/>
          </a:prstGeom>
        </p:spPr>
        <p:txBody>
          <a:bodyPr lIns="0" tIns="0" rIns="0" bIns="0" rtlCol="0" anchor="t">
            <a:spAutoFit/>
          </a:bodyPr>
          <a:lstStyle/>
          <a:p>
            <a:pPr algn="l">
              <a:lnSpc>
                <a:spcPts val="1374"/>
              </a:lnSpc>
            </a:pPr>
            <a:r>
              <a:rPr lang="en-US" sz="1124">
                <a:solidFill>
                  <a:srgbClr val="FFFFFF"/>
                </a:solidFill>
                <a:latin typeface="Source Sans 3"/>
                <a:ea typeface="Source Sans 3"/>
                <a:cs typeface="Source Sans 3"/>
                <a:sym typeface="Source Sans 3"/>
              </a:rPr>
              <a:t>Base Premium = Event Budget × (Policy Base Rate / 100)</a:t>
            </a:r>
          </a:p>
        </p:txBody>
      </p:sp>
      <p:sp>
        <p:nvSpPr>
          <p:cNvPr id="33" name="TextBox 33"/>
          <p:cNvSpPr txBox="1"/>
          <p:nvPr/>
        </p:nvSpPr>
        <p:spPr>
          <a:xfrm>
            <a:off x="8309820" y="5744470"/>
            <a:ext cx="5551884" cy="179489"/>
          </a:xfrm>
          <a:prstGeom prst="rect">
            <a:avLst/>
          </a:prstGeom>
        </p:spPr>
        <p:txBody>
          <a:bodyPr lIns="0" tIns="0" rIns="0" bIns="0" rtlCol="0" anchor="t">
            <a:spAutoFit/>
          </a:bodyPr>
          <a:lstStyle/>
          <a:p>
            <a:pPr algn="l">
              <a:lnSpc>
                <a:spcPts val="1374"/>
              </a:lnSpc>
            </a:pPr>
            <a:r>
              <a:rPr lang="en-US" sz="1124" b="1">
                <a:solidFill>
                  <a:srgbClr val="FFFFFF"/>
                </a:solidFill>
                <a:latin typeface="Source Sans 3 Bold"/>
                <a:ea typeface="Source Sans 3 Bold"/>
                <a:cs typeface="Source Sans 3 Bold"/>
                <a:sym typeface="Source Sans 3 Bold"/>
              </a:rPr>
              <a:t>Final Premium Formula:</a:t>
            </a:r>
          </a:p>
        </p:txBody>
      </p:sp>
      <p:sp>
        <p:nvSpPr>
          <p:cNvPr id="34" name="TextBox 34"/>
          <p:cNvSpPr txBox="1"/>
          <p:nvPr/>
        </p:nvSpPr>
        <p:spPr>
          <a:xfrm>
            <a:off x="8309820" y="5991225"/>
            <a:ext cx="5551884" cy="179489"/>
          </a:xfrm>
          <a:prstGeom prst="rect">
            <a:avLst/>
          </a:prstGeom>
        </p:spPr>
        <p:txBody>
          <a:bodyPr lIns="0" tIns="0" rIns="0" bIns="0" rtlCol="0" anchor="t">
            <a:spAutoFit/>
          </a:bodyPr>
          <a:lstStyle/>
          <a:p>
            <a:pPr algn="l">
              <a:lnSpc>
                <a:spcPts val="1374"/>
              </a:lnSpc>
            </a:pPr>
            <a:r>
              <a:rPr lang="en-US" sz="1124">
                <a:solidFill>
                  <a:srgbClr val="FFFFFF"/>
                </a:solidFill>
                <a:latin typeface="Source Sans 3"/>
                <a:ea typeface="Source Sans 3"/>
                <a:cs typeface="Source Sans 3"/>
                <a:sym typeface="Source Sans 3"/>
              </a:rPr>
              <a:t>Final Premium = Base Premium × Risk Multiplier</a:t>
            </a:r>
          </a:p>
        </p:txBody>
      </p:sp>
      <p:sp>
        <p:nvSpPr>
          <p:cNvPr id="35" name="TextBox 35"/>
          <p:cNvSpPr txBox="1"/>
          <p:nvPr/>
        </p:nvSpPr>
        <p:spPr>
          <a:xfrm>
            <a:off x="7823749" y="6387255"/>
            <a:ext cx="1760039" cy="229495"/>
          </a:xfrm>
          <a:prstGeom prst="rect">
            <a:avLst/>
          </a:prstGeom>
        </p:spPr>
        <p:txBody>
          <a:bodyPr lIns="0" tIns="0" rIns="0" bIns="0" rtlCol="0" anchor="t">
            <a:spAutoFit/>
          </a:bodyPr>
          <a:lstStyle/>
          <a:p>
            <a:pPr algn="l">
              <a:lnSpc>
                <a:spcPts val="1687"/>
              </a:lnSpc>
            </a:pPr>
            <a:r>
              <a:rPr lang="en-US" sz="1375">
                <a:solidFill>
                  <a:srgbClr val="F98AC7"/>
                </a:solidFill>
                <a:latin typeface="Lora"/>
                <a:ea typeface="Lora"/>
                <a:cs typeface="Lora"/>
                <a:sym typeface="Lora"/>
              </a:rPr>
              <a:t>Risk Multiplier Logic</a:t>
            </a:r>
          </a:p>
        </p:txBody>
      </p:sp>
      <p:sp>
        <p:nvSpPr>
          <p:cNvPr id="36" name="TextBox 36"/>
          <p:cNvSpPr txBox="1"/>
          <p:nvPr/>
        </p:nvSpPr>
        <p:spPr>
          <a:xfrm>
            <a:off x="7965872" y="6784334"/>
            <a:ext cx="5903271" cy="926011"/>
          </a:xfrm>
          <a:prstGeom prst="rect">
            <a:avLst/>
          </a:prstGeom>
        </p:spPr>
        <p:txBody>
          <a:bodyPr lIns="0" tIns="0" rIns="0" bIns="0" rtlCol="0" anchor="t">
            <a:spAutoFit/>
          </a:bodyPr>
          <a:lstStyle/>
          <a:p>
            <a:pPr algn="l">
              <a:lnSpc>
                <a:spcPts val="1374"/>
              </a:lnSpc>
            </a:pPr>
            <a:r>
              <a:rPr lang="en-US" sz="1124">
                <a:solidFill>
                  <a:srgbClr val="D6E5EF"/>
                </a:solidFill>
                <a:latin typeface="Consolas"/>
                <a:ea typeface="Consolas"/>
                <a:cs typeface="Consolas"/>
                <a:sym typeface="Consolas"/>
              </a:rPr>
              <a:t>if (Total Risk &gt; 15)        multiplier = 2.0</a:t>
            </a:r>
          </a:p>
          <a:p>
            <a:pPr algn="l">
              <a:lnSpc>
                <a:spcPts val="1374"/>
              </a:lnSpc>
            </a:pPr>
            <a:r>
              <a:rPr lang="en-US" sz="1124">
                <a:solidFill>
                  <a:srgbClr val="D6E5EF"/>
                </a:solidFill>
                <a:latin typeface="Consolas"/>
                <a:ea typeface="Consolas"/>
                <a:cs typeface="Consolas"/>
                <a:sym typeface="Consolas"/>
              </a:rPr>
              <a:t>else if (Total Risk &gt; 10)    multiplier = 1.6</a:t>
            </a:r>
          </a:p>
          <a:p>
            <a:pPr algn="l">
              <a:lnSpc>
                <a:spcPts val="1374"/>
              </a:lnSpc>
            </a:pPr>
            <a:r>
              <a:rPr lang="en-US" sz="1124">
                <a:solidFill>
                  <a:srgbClr val="D6E5EF"/>
                </a:solidFill>
                <a:latin typeface="Consolas"/>
                <a:ea typeface="Consolas"/>
                <a:cs typeface="Consolas"/>
                <a:sym typeface="Consolas"/>
              </a:rPr>
              <a:t>else if (Total Risk &gt; 5)     multiplier = 1.3</a:t>
            </a:r>
          </a:p>
          <a:p>
            <a:pPr algn="l">
              <a:lnSpc>
                <a:spcPts val="1374"/>
              </a:lnSpc>
            </a:pPr>
            <a:r>
              <a:rPr lang="en-US" sz="1124">
                <a:solidFill>
                  <a:srgbClr val="D6E5EF"/>
                </a:solidFill>
                <a:latin typeface="Consolas"/>
                <a:ea typeface="Consolas"/>
                <a:cs typeface="Consolas"/>
                <a:sym typeface="Consolas"/>
              </a:rPr>
              <a:t>else                         multiplier = 1.0</a:t>
            </a:r>
          </a:p>
          <a:p>
            <a:pPr algn="l">
              <a:lnSpc>
                <a:spcPts val="1374"/>
              </a:lnSpc>
            </a:pPr>
            <a:endParaRPr lang="en-US" sz="1124">
              <a:solidFill>
                <a:srgbClr val="D6E5EF"/>
              </a:solidFill>
              <a:latin typeface="Consolas"/>
              <a:ea typeface="Consolas"/>
              <a:cs typeface="Consolas"/>
              <a:sym typeface="Consolas"/>
            </a:endParaRPr>
          </a:p>
        </p:txBody>
      </p:sp>
      <p:sp>
        <p:nvSpPr>
          <p:cNvPr id="37" name="TextBox 37"/>
          <p:cNvSpPr txBox="1"/>
          <p:nvPr/>
        </p:nvSpPr>
        <p:spPr>
          <a:xfrm>
            <a:off x="7823749" y="7896968"/>
            <a:ext cx="1953968" cy="229495"/>
          </a:xfrm>
          <a:prstGeom prst="rect">
            <a:avLst/>
          </a:prstGeom>
        </p:spPr>
        <p:txBody>
          <a:bodyPr lIns="0" tIns="0" rIns="0" bIns="0" rtlCol="0" anchor="t">
            <a:spAutoFit/>
          </a:bodyPr>
          <a:lstStyle/>
          <a:p>
            <a:pPr algn="l">
              <a:lnSpc>
                <a:spcPts val="1687"/>
              </a:lnSpc>
            </a:pPr>
            <a:r>
              <a:rPr lang="en-US" sz="1375">
                <a:solidFill>
                  <a:srgbClr val="F98AC7"/>
                </a:solidFill>
                <a:latin typeface="Lora"/>
                <a:ea typeface="Lora"/>
                <a:cs typeface="Lora"/>
                <a:sym typeface="Lora"/>
              </a:rPr>
              <a:t>Risk Level Classification</a:t>
            </a:r>
          </a:p>
        </p:txBody>
      </p:sp>
      <p:sp>
        <p:nvSpPr>
          <p:cNvPr id="38" name="TextBox 38"/>
          <p:cNvSpPr txBox="1"/>
          <p:nvPr/>
        </p:nvSpPr>
        <p:spPr>
          <a:xfrm>
            <a:off x="7965872" y="8294046"/>
            <a:ext cx="5903271" cy="746522"/>
          </a:xfrm>
          <a:prstGeom prst="rect">
            <a:avLst/>
          </a:prstGeom>
        </p:spPr>
        <p:txBody>
          <a:bodyPr lIns="0" tIns="0" rIns="0" bIns="0" rtlCol="0" anchor="t">
            <a:spAutoFit/>
          </a:bodyPr>
          <a:lstStyle/>
          <a:p>
            <a:pPr algn="l">
              <a:lnSpc>
                <a:spcPts val="1374"/>
              </a:lnSpc>
            </a:pPr>
            <a:r>
              <a:rPr lang="en-US" sz="1124">
                <a:solidFill>
                  <a:srgbClr val="D6E5EF"/>
                </a:solidFill>
                <a:latin typeface="Consolas"/>
                <a:ea typeface="Consolas"/>
                <a:cs typeface="Consolas"/>
                <a:sym typeface="Consolas"/>
              </a:rPr>
              <a:t>if (Total Risk &gt; 10)    Risk Level = HIGH</a:t>
            </a:r>
          </a:p>
          <a:p>
            <a:pPr algn="l">
              <a:lnSpc>
                <a:spcPts val="1374"/>
              </a:lnSpc>
            </a:pPr>
            <a:r>
              <a:rPr lang="en-US" sz="1124">
                <a:solidFill>
                  <a:srgbClr val="D6E5EF"/>
                </a:solidFill>
                <a:latin typeface="Consolas"/>
                <a:ea typeface="Consolas"/>
                <a:cs typeface="Consolas"/>
                <a:sym typeface="Consolas"/>
              </a:rPr>
              <a:t>else if (Total Risk &gt; 5) Risk Level = MEDIUM</a:t>
            </a:r>
          </a:p>
          <a:p>
            <a:pPr algn="l">
              <a:lnSpc>
                <a:spcPts val="1374"/>
              </a:lnSpc>
            </a:pPr>
            <a:r>
              <a:rPr lang="en-US" sz="1124">
                <a:solidFill>
                  <a:srgbClr val="D6E5EF"/>
                </a:solidFill>
                <a:latin typeface="Consolas"/>
                <a:ea typeface="Consolas"/>
                <a:cs typeface="Consolas"/>
                <a:sym typeface="Consolas"/>
              </a:rPr>
              <a:t>else                    Risk Level = LOW</a:t>
            </a:r>
          </a:p>
          <a:p>
            <a:pPr algn="l">
              <a:lnSpc>
                <a:spcPts val="1374"/>
              </a:lnSpc>
            </a:pPr>
            <a:endParaRPr lang="en-US" sz="1124">
              <a:solidFill>
                <a:srgbClr val="D6E5EF"/>
              </a:solidFill>
              <a:latin typeface="Consolas"/>
              <a:ea typeface="Consolas"/>
              <a:cs typeface="Consolas"/>
              <a:sym typeface="Consolas"/>
            </a:endParaRPr>
          </a:p>
        </p:txBody>
      </p:sp>
      <p:sp>
        <p:nvSpPr>
          <p:cNvPr id="39" name="TextBox 39"/>
          <p:cNvSpPr txBox="1"/>
          <p:nvPr/>
        </p:nvSpPr>
        <p:spPr>
          <a:xfrm>
            <a:off x="785947" y="8113885"/>
            <a:ext cx="1760039" cy="229495"/>
          </a:xfrm>
          <a:prstGeom prst="rect">
            <a:avLst/>
          </a:prstGeom>
        </p:spPr>
        <p:txBody>
          <a:bodyPr lIns="0" tIns="0" rIns="0" bIns="0" rtlCol="0" anchor="t">
            <a:spAutoFit/>
          </a:bodyPr>
          <a:lstStyle/>
          <a:p>
            <a:pPr algn="l">
              <a:lnSpc>
                <a:spcPts val="1687"/>
              </a:lnSpc>
            </a:pPr>
            <a:r>
              <a:rPr lang="en-US" sz="1375">
                <a:solidFill>
                  <a:srgbClr val="D6E5EF"/>
                </a:solidFill>
                <a:latin typeface="Lora"/>
                <a:ea typeface="Lora"/>
                <a:cs typeface="Lora"/>
                <a:sym typeface="Lora"/>
              </a:rPr>
              <a:t>Event Risk Evaluation</a:t>
            </a:r>
          </a:p>
        </p:txBody>
      </p:sp>
      <p:sp>
        <p:nvSpPr>
          <p:cNvPr id="40" name="TextBox 40"/>
          <p:cNvSpPr txBox="1"/>
          <p:nvPr/>
        </p:nvSpPr>
        <p:spPr>
          <a:xfrm>
            <a:off x="785947" y="8866965"/>
            <a:ext cx="1785938" cy="229495"/>
          </a:xfrm>
          <a:prstGeom prst="rect">
            <a:avLst/>
          </a:prstGeom>
        </p:spPr>
        <p:txBody>
          <a:bodyPr lIns="0" tIns="0" rIns="0" bIns="0" rtlCol="0" anchor="t">
            <a:spAutoFit/>
          </a:bodyPr>
          <a:lstStyle/>
          <a:p>
            <a:pPr algn="l">
              <a:lnSpc>
                <a:spcPts val="1687"/>
              </a:lnSpc>
            </a:pPr>
            <a:r>
              <a:rPr lang="en-US" sz="1375">
                <a:solidFill>
                  <a:srgbClr val="D6E5EF"/>
                </a:solidFill>
                <a:latin typeface="Lora"/>
                <a:ea typeface="Lora"/>
                <a:cs typeface="Lora"/>
                <a:sym typeface="Lora"/>
              </a:rPr>
              <a:t>Weather Risk Analysis</a:t>
            </a:r>
          </a:p>
        </p:txBody>
      </p:sp>
      <p:sp>
        <p:nvSpPr>
          <p:cNvPr id="41" name="TextBox 41"/>
          <p:cNvSpPr txBox="1"/>
          <p:nvPr/>
        </p:nvSpPr>
        <p:spPr>
          <a:xfrm>
            <a:off x="785947" y="9141247"/>
            <a:ext cx="4521546" cy="179489"/>
          </a:xfrm>
          <a:prstGeom prst="rect">
            <a:avLst/>
          </a:prstGeom>
        </p:spPr>
        <p:txBody>
          <a:bodyPr lIns="0" tIns="0" rIns="0" bIns="0" rtlCol="0" anchor="t">
            <a:spAutoFit/>
          </a:bodyPr>
          <a:lstStyle/>
          <a:p>
            <a:pPr algn="l">
              <a:lnSpc>
                <a:spcPts val="1374"/>
              </a:lnSpc>
            </a:pPr>
            <a:r>
              <a:rPr lang="en-US" sz="1124">
                <a:solidFill>
                  <a:srgbClr val="D6E5EF"/>
                </a:solidFill>
                <a:latin typeface="Source Sans 3"/>
                <a:ea typeface="Source Sans 3"/>
                <a:cs typeface="Source Sans 3"/>
                <a:sym typeface="Source Sans 3"/>
              </a:rPr>
              <a:t>For outdoor events, weather conditions contribute to risk assessment</a:t>
            </a:r>
          </a:p>
        </p:txBody>
      </p:sp>
      <p:sp>
        <p:nvSpPr>
          <p:cNvPr id="42" name="TextBox 42"/>
          <p:cNvSpPr txBox="1"/>
          <p:nvPr/>
        </p:nvSpPr>
        <p:spPr>
          <a:xfrm>
            <a:off x="4435526" y="11654733"/>
            <a:ext cx="1760039" cy="229495"/>
          </a:xfrm>
          <a:prstGeom prst="rect">
            <a:avLst/>
          </a:prstGeom>
        </p:spPr>
        <p:txBody>
          <a:bodyPr lIns="0" tIns="0" rIns="0" bIns="0" rtlCol="0" anchor="t">
            <a:spAutoFit/>
          </a:bodyPr>
          <a:lstStyle/>
          <a:p>
            <a:pPr algn="l">
              <a:lnSpc>
                <a:spcPts val="1687"/>
              </a:lnSpc>
            </a:pPr>
            <a:r>
              <a:rPr lang="en-US" sz="1375">
                <a:solidFill>
                  <a:srgbClr val="D6E5EF"/>
                </a:solidFill>
                <a:latin typeface="Lora"/>
                <a:ea typeface="Lora"/>
                <a:cs typeface="Lora"/>
                <a:sym typeface="Lora"/>
              </a:rPr>
              <a:t>Total Risk Score</a:t>
            </a:r>
          </a:p>
        </p:txBody>
      </p:sp>
      <p:sp>
        <p:nvSpPr>
          <p:cNvPr id="43" name="TextBox 43"/>
          <p:cNvSpPr txBox="1"/>
          <p:nvPr/>
        </p:nvSpPr>
        <p:spPr>
          <a:xfrm>
            <a:off x="4435526" y="11929024"/>
            <a:ext cx="4521403" cy="179489"/>
          </a:xfrm>
          <a:prstGeom prst="rect">
            <a:avLst/>
          </a:prstGeom>
        </p:spPr>
        <p:txBody>
          <a:bodyPr lIns="0" tIns="0" rIns="0" bIns="0" rtlCol="0" anchor="t">
            <a:spAutoFit/>
          </a:bodyPr>
          <a:lstStyle/>
          <a:p>
            <a:pPr algn="l">
              <a:lnSpc>
                <a:spcPts val="1374"/>
              </a:lnSpc>
            </a:pPr>
            <a:r>
              <a:rPr lang="en-US" sz="1124">
                <a:solidFill>
                  <a:srgbClr val="D6E5EF"/>
                </a:solidFill>
                <a:latin typeface="Source Sans 3"/>
                <a:ea typeface="Source Sans 3"/>
                <a:cs typeface="Source Sans 3"/>
                <a:sym typeface="Source Sans 3"/>
              </a:rPr>
              <a:t>System combines event and weather risks for overall exposure level</a:t>
            </a:r>
          </a:p>
        </p:txBody>
      </p:sp>
      <p:sp>
        <p:nvSpPr>
          <p:cNvPr id="44" name="TextBox 44"/>
          <p:cNvSpPr txBox="1"/>
          <p:nvPr/>
        </p:nvSpPr>
        <p:spPr>
          <a:xfrm>
            <a:off x="9330776" y="11430448"/>
            <a:ext cx="1760039" cy="229495"/>
          </a:xfrm>
          <a:prstGeom prst="rect">
            <a:avLst/>
          </a:prstGeom>
        </p:spPr>
        <p:txBody>
          <a:bodyPr lIns="0" tIns="0" rIns="0" bIns="0" rtlCol="0" anchor="t">
            <a:spAutoFit/>
          </a:bodyPr>
          <a:lstStyle/>
          <a:p>
            <a:pPr algn="l">
              <a:lnSpc>
                <a:spcPts val="1687"/>
              </a:lnSpc>
            </a:pPr>
            <a:r>
              <a:rPr lang="en-US" sz="1375">
                <a:solidFill>
                  <a:srgbClr val="D6E5EF"/>
                </a:solidFill>
                <a:latin typeface="Lora"/>
                <a:ea typeface="Lora"/>
                <a:cs typeface="Lora"/>
                <a:sym typeface="Lora"/>
              </a:rPr>
              <a:t>Risk Classification</a:t>
            </a:r>
          </a:p>
        </p:txBody>
      </p:sp>
      <p:sp>
        <p:nvSpPr>
          <p:cNvPr id="45" name="TextBox 45"/>
          <p:cNvSpPr txBox="1"/>
          <p:nvPr/>
        </p:nvSpPr>
        <p:spPr>
          <a:xfrm>
            <a:off x="9330776" y="11704739"/>
            <a:ext cx="4521546" cy="179489"/>
          </a:xfrm>
          <a:prstGeom prst="rect">
            <a:avLst/>
          </a:prstGeom>
        </p:spPr>
        <p:txBody>
          <a:bodyPr lIns="0" tIns="0" rIns="0" bIns="0" rtlCol="0" anchor="t">
            <a:spAutoFit/>
          </a:bodyPr>
          <a:lstStyle/>
          <a:p>
            <a:pPr algn="l">
              <a:lnSpc>
                <a:spcPts val="1374"/>
              </a:lnSpc>
            </a:pPr>
            <a:r>
              <a:rPr lang="en-US" sz="1124">
                <a:solidFill>
                  <a:srgbClr val="D6E5EF"/>
                </a:solidFill>
                <a:latin typeface="Source Sans 3"/>
                <a:ea typeface="Source Sans 3"/>
                <a:cs typeface="Source Sans 3"/>
                <a:sym typeface="Source Sans 3"/>
              </a:rPr>
              <a:t>Event classified as low, medium, or high risk based on total risk value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A2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252833"/>
            </a:solidFill>
          </p:spPr>
        </p:sp>
      </p:grpSp>
      <p:grpSp>
        <p:nvGrpSpPr>
          <p:cNvPr id="6" name="Group 6"/>
          <p:cNvGrpSpPr/>
          <p:nvPr/>
        </p:nvGrpSpPr>
        <p:grpSpPr>
          <a:xfrm>
            <a:off x="16049015" y="9686925"/>
            <a:ext cx="2153260" cy="514350"/>
            <a:chOff x="0" y="0"/>
            <a:chExt cx="2871013" cy="685800"/>
          </a:xfrm>
        </p:grpSpPr>
        <p:sp>
          <p:nvSpPr>
            <p:cNvPr id="7" name="Freeform 7" descr="preencoded.png">
              <a:hlinkClick r:id="rId3"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4"/>
              <a:stretch>
                <a:fillRect r="-1"/>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5"/>
              <a:stretch>
                <a:fillRect/>
              </a:stretch>
            </a:blipFill>
          </p:spPr>
        </p:sp>
      </p:grpSp>
      <p:sp>
        <p:nvSpPr>
          <p:cNvPr id="10" name="TextBox 10"/>
          <p:cNvSpPr txBox="1"/>
          <p:nvPr/>
        </p:nvSpPr>
        <p:spPr>
          <a:xfrm>
            <a:off x="607666" y="2558948"/>
            <a:ext cx="4085777" cy="520151"/>
          </a:xfrm>
          <a:prstGeom prst="rect">
            <a:avLst/>
          </a:prstGeom>
        </p:spPr>
        <p:txBody>
          <a:bodyPr lIns="0" tIns="0" rIns="0" bIns="0" rtlCol="0" anchor="t">
            <a:spAutoFit/>
          </a:bodyPr>
          <a:lstStyle/>
          <a:p>
            <a:pPr algn="l">
              <a:lnSpc>
                <a:spcPts val="3999"/>
              </a:lnSpc>
            </a:pPr>
            <a:r>
              <a:rPr lang="en-US" sz="3187">
                <a:solidFill>
                  <a:srgbClr val="F98AC7"/>
                </a:solidFill>
                <a:latin typeface="Lora"/>
                <a:ea typeface="Lora"/>
                <a:cs typeface="Lora"/>
                <a:sym typeface="Lora"/>
              </a:rPr>
              <a:t>Conclusion</a:t>
            </a:r>
          </a:p>
        </p:txBody>
      </p:sp>
      <p:sp>
        <p:nvSpPr>
          <p:cNvPr id="11" name="TextBox 11"/>
          <p:cNvSpPr txBox="1"/>
          <p:nvPr/>
        </p:nvSpPr>
        <p:spPr>
          <a:xfrm>
            <a:off x="607666" y="3311871"/>
            <a:ext cx="2042817" cy="274434"/>
          </a:xfrm>
          <a:prstGeom prst="rect">
            <a:avLst/>
          </a:prstGeom>
        </p:spPr>
        <p:txBody>
          <a:bodyPr lIns="0" tIns="0" rIns="0" bIns="0" rtlCol="0" anchor="t">
            <a:spAutoFit/>
          </a:bodyPr>
          <a:lstStyle/>
          <a:p>
            <a:pPr algn="l">
              <a:lnSpc>
                <a:spcPts val="2000"/>
              </a:lnSpc>
            </a:pPr>
            <a:r>
              <a:rPr lang="en-US" sz="1562">
                <a:solidFill>
                  <a:srgbClr val="F98AC7"/>
                </a:solidFill>
                <a:latin typeface="Lora"/>
                <a:ea typeface="Lora"/>
                <a:cs typeface="Lora"/>
                <a:sym typeface="Lora"/>
              </a:rPr>
              <a:t>Key Achievements</a:t>
            </a:r>
          </a:p>
        </p:txBody>
      </p:sp>
      <p:grpSp>
        <p:nvGrpSpPr>
          <p:cNvPr id="12" name="Group 12"/>
          <p:cNvGrpSpPr/>
          <p:nvPr/>
        </p:nvGrpSpPr>
        <p:grpSpPr>
          <a:xfrm>
            <a:off x="607666" y="3791769"/>
            <a:ext cx="86763" cy="86763"/>
            <a:chOff x="0" y="0"/>
            <a:chExt cx="115684" cy="115684"/>
          </a:xfrm>
        </p:grpSpPr>
        <p:sp>
          <p:nvSpPr>
            <p:cNvPr id="13" name="Freeform 13" descr="preencoded.png"/>
            <p:cNvSpPr/>
            <p:nvPr/>
          </p:nvSpPr>
          <p:spPr>
            <a:xfrm>
              <a:off x="0" y="0"/>
              <a:ext cx="115697" cy="115697"/>
            </a:xfrm>
            <a:custGeom>
              <a:avLst/>
              <a:gdLst/>
              <a:ahLst/>
              <a:cxnLst/>
              <a:rect l="l" t="t" r="r" b="b"/>
              <a:pathLst>
                <a:path w="115697" h="115697">
                  <a:moveTo>
                    <a:pt x="0" y="0"/>
                  </a:moveTo>
                  <a:lnTo>
                    <a:pt x="115697" y="0"/>
                  </a:lnTo>
                  <a:lnTo>
                    <a:pt x="115697" y="115697"/>
                  </a:lnTo>
                  <a:lnTo>
                    <a:pt x="0" y="115697"/>
                  </a:lnTo>
                  <a:lnTo>
                    <a:pt x="0" y="0"/>
                  </a:lnTo>
                  <a:close/>
                </a:path>
              </a:pathLst>
            </a:custGeom>
            <a:blipFill>
              <a:blip r:embed="rId6"/>
              <a:stretch>
                <a:fillRect r="10" b="10"/>
              </a:stretch>
            </a:blipFill>
          </p:spPr>
        </p:sp>
      </p:grpSp>
      <p:sp>
        <p:nvSpPr>
          <p:cNvPr id="14" name="TextBox 14"/>
          <p:cNvSpPr txBox="1"/>
          <p:nvPr/>
        </p:nvSpPr>
        <p:spPr>
          <a:xfrm>
            <a:off x="795185" y="3680517"/>
            <a:ext cx="2042817" cy="274434"/>
          </a:xfrm>
          <a:prstGeom prst="rect">
            <a:avLst/>
          </a:prstGeom>
        </p:spPr>
        <p:txBody>
          <a:bodyPr lIns="0" tIns="0" rIns="0" bIns="0" rtlCol="0" anchor="t">
            <a:spAutoFit/>
          </a:bodyPr>
          <a:lstStyle/>
          <a:p>
            <a:pPr algn="l">
              <a:lnSpc>
                <a:spcPts val="2000"/>
              </a:lnSpc>
            </a:pPr>
            <a:r>
              <a:rPr lang="en-US" sz="1562">
                <a:solidFill>
                  <a:srgbClr val="D6E5EF"/>
                </a:solidFill>
                <a:latin typeface="Lora"/>
                <a:ea typeface="Lora"/>
                <a:cs typeface="Lora"/>
                <a:sym typeface="Lora"/>
              </a:rPr>
              <a:t>Centralized Platform</a:t>
            </a:r>
          </a:p>
        </p:txBody>
      </p:sp>
      <p:sp>
        <p:nvSpPr>
          <p:cNvPr id="15" name="TextBox 15"/>
          <p:cNvSpPr txBox="1"/>
          <p:nvPr/>
        </p:nvSpPr>
        <p:spPr>
          <a:xfrm>
            <a:off x="795185" y="4055716"/>
            <a:ext cx="4708027" cy="439045"/>
          </a:xfrm>
          <a:prstGeom prst="rect">
            <a:avLst/>
          </a:prstGeom>
        </p:spPr>
        <p:txBody>
          <a:bodyPr lIns="0" tIns="0" rIns="0" bIns="0" rtlCol="0" anchor="t">
            <a:spAutoFit/>
          </a:bodyPr>
          <a:lstStyle/>
          <a:p>
            <a:pPr algn="l">
              <a:lnSpc>
                <a:spcPts val="1687"/>
              </a:lnSpc>
            </a:pPr>
            <a:r>
              <a:rPr lang="en-US" sz="1312">
                <a:solidFill>
                  <a:srgbClr val="D6E5EF"/>
                </a:solidFill>
                <a:latin typeface="Source Sans 3"/>
                <a:ea typeface="Source Sans 3"/>
                <a:cs typeface="Source Sans 3"/>
                <a:sym typeface="Source Sans 3"/>
              </a:rPr>
              <a:t>Digitized the entire event insurance lifecycle with structured workflows</a:t>
            </a:r>
          </a:p>
        </p:txBody>
      </p:sp>
      <p:grpSp>
        <p:nvGrpSpPr>
          <p:cNvPr id="16" name="Group 16"/>
          <p:cNvGrpSpPr/>
          <p:nvPr/>
        </p:nvGrpSpPr>
        <p:grpSpPr>
          <a:xfrm>
            <a:off x="607666" y="4788475"/>
            <a:ext cx="86763" cy="86763"/>
            <a:chOff x="0" y="0"/>
            <a:chExt cx="115684" cy="115684"/>
          </a:xfrm>
        </p:grpSpPr>
        <p:sp>
          <p:nvSpPr>
            <p:cNvPr id="17" name="Freeform 17" descr="preencoded.png"/>
            <p:cNvSpPr/>
            <p:nvPr/>
          </p:nvSpPr>
          <p:spPr>
            <a:xfrm>
              <a:off x="0" y="0"/>
              <a:ext cx="115697" cy="115697"/>
            </a:xfrm>
            <a:custGeom>
              <a:avLst/>
              <a:gdLst/>
              <a:ahLst/>
              <a:cxnLst/>
              <a:rect l="l" t="t" r="r" b="b"/>
              <a:pathLst>
                <a:path w="115697" h="115697">
                  <a:moveTo>
                    <a:pt x="0" y="0"/>
                  </a:moveTo>
                  <a:lnTo>
                    <a:pt x="115697" y="0"/>
                  </a:lnTo>
                  <a:lnTo>
                    <a:pt x="115697" y="115697"/>
                  </a:lnTo>
                  <a:lnTo>
                    <a:pt x="0" y="115697"/>
                  </a:lnTo>
                  <a:lnTo>
                    <a:pt x="0" y="0"/>
                  </a:lnTo>
                  <a:close/>
                </a:path>
              </a:pathLst>
            </a:custGeom>
            <a:blipFill>
              <a:blip r:embed="rId6"/>
              <a:stretch>
                <a:fillRect r="10" b="10"/>
              </a:stretch>
            </a:blipFill>
          </p:spPr>
        </p:sp>
      </p:grpSp>
      <p:sp>
        <p:nvSpPr>
          <p:cNvPr id="18" name="TextBox 18"/>
          <p:cNvSpPr txBox="1"/>
          <p:nvPr/>
        </p:nvSpPr>
        <p:spPr>
          <a:xfrm>
            <a:off x="795185" y="4677223"/>
            <a:ext cx="2308622" cy="274434"/>
          </a:xfrm>
          <a:prstGeom prst="rect">
            <a:avLst/>
          </a:prstGeom>
        </p:spPr>
        <p:txBody>
          <a:bodyPr lIns="0" tIns="0" rIns="0" bIns="0" rtlCol="0" anchor="t">
            <a:spAutoFit/>
          </a:bodyPr>
          <a:lstStyle/>
          <a:p>
            <a:pPr algn="l">
              <a:lnSpc>
                <a:spcPts val="2000"/>
              </a:lnSpc>
            </a:pPr>
            <a:r>
              <a:rPr lang="en-US" sz="1562">
                <a:solidFill>
                  <a:srgbClr val="D6E5EF"/>
                </a:solidFill>
                <a:latin typeface="Lora"/>
                <a:ea typeface="Lora"/>
                <a:cs typeface="Lora"/>
                <a:sym typeface="Lora"/>
              </a:rPr>
              <a:t>Automated Risk Analysis</a:t>
            </a:r>
          </a:p>
        </p:txBody>
      </p:sp>
      <p:sp>
        <p:nvSpPr>
          <p:cNvPr id="19" name="TextBox 19"/>
          <p:cNvSpPr txBox="1"/>
          <p:nvPr/>
        </p:nvSpPr>
        <p:spPr>
          <a:xfrm>
            <a:off x="795185" y="5052422"/>
            <a:ext cx="4708027" cy="219523"/>
          </a:xfrm>
          <a:prstGeom prst="rect">
            <a:avLst/>
          </a:prstGeom>
        </p:spPr>
        <p:txBody>
          <a:bodyPr lIns="0" tIns="0" rIns="0" bIns="0" rtlCol="0" anchor="t">
            <a:spAutoFit/>
          </a:bodyPr>
          <a:lstStyle/>
          <a:p>
            <a:pPr algn="l">
              <a:lnSpc>
                <a:spcPts val="1687"/>
              </a:lnSpc>
            </a:pPr>
            <a:r>
              <a:rPr lang="en-US" sz="1312">
                <a:solidFill>
                  <a:srgbClr val="D6E5EF"/>
                </a:solidFill>
                <a:latin typeface="Source Sans 3"/>
                <a:ea typeface="Source Sans 3"/>
                <a:cs typeface="Source Sans 3"/>
                <a:sym typeface="Source Sans 3"/>
              </a:rPr>
              <a:t>Rule-based logic ensures consistent premium calculations</a:t>
            </a:r>
          </a:p>
        </p:txBody>
      </p:sp>
      <p:grpSp>
        <p:nvGrpSpPr>
          <p:cNvPr id="20" name="Group 20"/>
          <p:cNvGrpSpPr/>
          <p:nvPr/>
        </p:nvGrpSpPr>
        <p:grpSpPr>
          <a:xfrm>
            <a:off x="607666" y="5565648"/>
            <a:ext cx="86763" cy="86763"/>
            <a:chOff x="0" y="0"/>
            <a:chExt cx="115684" cy="115684"/>
          </a:xfrm>
        </p:grpSpPr>
        <p:sp>
          <p:nvSpPr>
            <p:cNvPr id="21" name="Freeform 21" descr="preencoded.png"/>
            <p:cNvSpPr/>
            <p:nvPr/>
          </p:nvSpPr>
          <p:spPr>
            <a:xfrm>
              <a:off x="0" y="0"/>
              <a:ext cx="115697" cy="115697"/>
            </a:xfrm>
            <a:custGeom>
              <a:avLst/>
              <a:gdLst/>
              <a:ahLst/>
              <a:cxnLst/>
              <a:rect l="l" t="t" r="r" b="b"/>
              <a:pathLst>
                <a:path w="115697" h="115697">
                  <a:moveTo>
                    <a:pt x="0" y="0"/>
                  </a:moveTo>
                  <a:lnTo>
                    <a:pt x="115697" y="0"/>
                  </a:lnTo>
                  <a:lnTo>
                    <a:pt x="115697" y="115697"/>
                  </a:lnTo>
                  <a:lnTo>
                    <a:pt x="0" y="115697"/>
                  </a:lnTo>
                  <a:lnTo>
                    <a:pt x="0" y="0"/>
                  </a:lnTo>
                  <a:close/>
                </a:path>
              </a:pathLst>
            </a:custGeom>
            <a:blipFill>
              <a:blip r:embed="rId6"/>
              <a:stretch>
                <a:fillRect r="10" b="10"/>
              </a:stretch>
            </a:blipFill>
          </p:spPr>
        </p:sp>
      </p:grpSp>
      <p:sp>
        <p:nvSpPr>
          <p:cNvPr id="22" name="TextBox 22"/>
          <p:cNvSpPr txBox="1"/>
          <p:nvPr/>
        </p:nvSpPr>
        <p:spPr>
          <a:xfrm>
            <a:off x="795185" y="5454406"/>
            <a:ext cx="2266950" cy="274434"/>
          </a:xfrm>
          <a:prstGeom prst="rect">
            <a:avLst/>
          </a:prstGeom>
        </p:spPr>
        <p:txBody>
          <a:bodyPr lIns="0" tIns="0" rIns="0" bIns="0" rtlCol="0" anchor="t">
            <a:spAutoFit/>
          </a:bodyPr>
          <a:lstStyle/>
          <a:p>
            <a:pPr algn="l">
              <a:lnSpc>
                <a:spcPts val="2000"/>
              </a:lnSpc>
            </a:pPr>
            <a:r>
              <a:rPr lang="en-US" sz="1562">
                <a:solidFill>
                  <a:srgbClr val="D6E5EF"/>
                </a:solidFill>
                <a:latin typeface="Lora"/>
                <a:ea typeface="Lora"/>
                <a:cs typeface="Lora"/>
                <a:sym typeface="Lora"/>
              </a:rPr>
              <a:t>Improved Transparency</a:t>
            </a:r>
          </a:p>
        </p:txBody>
      </p:sp>
      <p:sp>
        <p:nvSpPr>
          <p:cNvPr id="23" name="TextBox 23"/>
          <p:cNvSpPr txBox="1"/>
          <p:nvPr/>
        </p:nvSpPr>
        <p:spPr>
          <a:xfrm>
            <a:off x="795185" y="5829595"/>
            <a:ext cx="4708027" cy="219523"/>
          </a:xfrm>
          <a:prstGeom prst="rect">
            <a:avLst/>
          </a:prstGeom>
        </p:spPr>
        <p:txBody>
          <a:bodyPr lIns="0" tIns="0" rIns="0" bIns="0" rtlCol="0" anchor="t">
            <a:spAutoFit/>
          </a:bodyPr>
          <a:lstStyle/>
          <a:p>
            <a:pPr algn="l">
              <a:lnSpc>
                <a:spcPts val="1687"/>
              </a:lnSpc>
            </a:pPr>
            <a:r>
              <a:rPr lang="en-US" sz="1312">
                <a:solidFill>
                  <a:srgbClr val="D6E5EF"/>
                </a:solidFill>
                <a:latin typeface="Source Sans 3"/>
                <a:ea typeface="Source Sans 3"/>
                <a:cs typeface="Source Sans 3"/>
                <a:sym typeface="Source Sans 3"/>
              </a:rPr>
              <a:t>Clear visibility into policy status and approval progress</a:t>
            </a:r>
          </a:p>
        </p:txBody>
      </p:sp>
      <p:grpSp>
        <p:nvGrpSpPr>
          <p:cNvPr id="24" name="Group 24"/>
          <p:cNvGrpSpPr/>
          <p:nvPr/>
        </p:nvGrpSpPr>
        <p:grpSpPr>
          <a:xfrm>
            <a:off x="607666" y="6342831"/>
            <a:ext cx="86763" cy="86763"/>
            <a:chOff x="0" y="0"/>
            <a:chExt cx="115684" cy="115684"/>
          </a:xfrm>
        </p:grpSpPr>
        <p:sp>
          <p:nvSpPr>
            <p:cNvPr id="25" name="Freeform 25" descr="preencoded.png"/>
            <p:cNvSpPr/>
            <p:nvPr/>
          </p:nvSpPr>
          <p:spPr>
            <a:xfrm>
              <a:off x="0" y="0"/>
              <a:ext cx="115697" cy="115697"/>
            </a:xfrm>
            <a:custGeom>
              <a:avLst/>
              <a:gdLst/>
              <a:ahLst/>
              <a:cxnLst/>
              <a:rect l="l" t="t" r="r" b="b"/>
              <a:pathLst>
                <a:path w="115697" h="115697">
                  <a:moveTo>
                    <a:pt x="0" y="0"/>
                  </a:moveTo>
                  <a:lnTo>
                    <a:pt x="115697" y="0"/>
                  </a:lnTo>
                  <a:lnTo>
                    <a:pt x="115697" y="115697"/>
                  </a:lnTo>
                  <a:lnTo>
                    <a:pt x="0" y="115697"/>
                  </a:lnTo>
                  <a:lnTo>
                    <a:pt x="0" y="0"/>
                  </a:lnTo>
                  <a:close/>
                </a:path>
              </a:pathLst>
            </a:custGeom>
            <a:blipFill>
              <a:blip r:embed="rId6"/>
              <a:stretch>
                <a:fillRect r="10" b="10"/>
              </a:stretch>
            </a:blipFill>
          </p:spPr>
        </p:sp>
      </p:grpSp>
      <p:sp>
        <p:nvSpPr>
          <p:cNvPr id="26" name="TextBox 26"/>
          <p:cNvSpPr txBox="1"/>
          <p:nvPr/>
        </p:nvSpPr>
        <p:spPr>
          <a:xfrm>
            <a:off x="795185" y="6231579"/>
            <a:ext cx="2042817" cy="274434"/>
          </a:xfrm>
          <a:prstGeom prst="rect">
            <a:avLst/>
          </a:prstGeom>
        </p:spPr>
        <p:txBody>
          <a:bodyPr lIns="0" tIns="0" rIns="0" bIns="0" rtlCol="0" anchor="t">
            <a:spAutoFit/>
          </a:bodyPr>
          <a:lstStyle/>
          <a:p>
            <a:pPr algn="l">
              <a:lnSpc>
                <a:spcPts val="2000"/>
              </a:lnSpc>
            </a:pPr>
            <a:r>
              <a:rPr lang="en-US" sz="1562">
                <a:solidFill>
                  <a:srgbClr val="D6E5EF"/>
                </a:solidFill>
                <a:latin typeface="Lora"/>
                <a:ea typeface="Lora"/>
                <a:cs typeface="Lora"/>
                <a:sym typeface="Lora"/>
              </a:rPr>
              <a:t>Efficient Processing</a:t>
            </a:r>
          </a:p>
        </p:txBody>
      </p:sp>
      <p:sp>
        <p:nvSpPr>
          <p:cNvPr id="27" name="TextBox 27"/>
          <p:cNvSpPr txBox="1"/>
          <p:nvPr/>
        </p:nvSpPr>
        <p:spPr>
          <a:xfrm>
            <a:off x="795185" y="6606778"/>
            <a:ext cx="4708027" cy="219523"/>
          </a:xfrm>
          <a:prstGeom prst="rect">
            <a:avLst/>
          </a:prstGeom>
        </p:spPr>
        <p:txBody>
          <a:bodyPr lIns="0" tIns="0" rIns="0" bIns="0" rtlCol="0" anchor="t">
            <a:spAutoFit/>
          </a:bodyPr>
          <a:lstStyle/>
          <a:p>
            <a:pPr algn="l">
              <a:lnSpc>
                <a:spcPts val="1687"/>
              </a:lnSpc>
            </a:pPr>
            <a:r>
              <a:rPr lang="en-US" sz="1312">
                <a:solidFill>
                  <a:srgbClr val="D6E5EF"/>
                </a:solidFill>
                <a:latin typeface="Source Sans 3"/>
                <a:ea typeface="Source Sans 3"/>
                <a:cs typeface="Source Sans 3"/>
                <a:sym typeface="Source Sans 3"/>
              </a:rPr>
              <a:t>Faster policy approvals and streamlined claim management</a:t>
            </a:r>
          </a:p>
        </p:txBody>
      </p:sp>
      <p:sp>
        <p:nvSpPr>
          <p:cNvPr id="28" name="TextBox 28"/>
          <p:cNvSpPr txBox="1"/>
          <p:nvPr/>
        </p:nvSpPr>
        <p:spPr>
          <a:xfrm>
            <a:off x="5936304" y="3311871"/>
            <a:ext cx="2093862" cy="274434"/>
          </a:xfrm>
          <a:prstGeom prst="rect">
            <a:avLst/>
          </a:prstGeom>
        </p:spPr>
        <p:txBody>
          <a:bodyPr lIns="0" tIns="0" rIns="0" bIns="0" rtlCol="0" anchor="t">
            <a:spAutoFit/>
          </a:bodyPr>
          <a:lstStyle/>
          <a:p>
            <a:pPr algn="l">
              <a:lnSpc>
                <a:spcPts val="2000"/>
              </a:lnSpc>
            </a:pPr>
            <a:r>
              <a:rPr lang="en-US" sz="1562">
                <a:solidFill>
                  <a:srgbClr val="F98AC7"/>
                </a:solidFill>
                <a:latin typeface="Lora"/>
                <a:ea typeface="Lora"/>
                <a:cs typeface="Lora"/>
                <a:sym typeface="Lora"/>
              </a:rPr>
              <a:t>Future Enhancements</a:t>
            </a:r>
          </a:p>
        </p:txBody>
      </p:sp>
      <p:grpSp>
        <p:nvGrpSpPr>
          <p:cNvPr id="29" name="Group 29"/>
          <p:cNvGrpSpPr/>
          <p:nvPr/>
        </p:nvGrpSpPr>
        <p:grpSpPr>
          <a:xfrm>
            <a:off x="5936304" y="3791769"/>
            <a:ext cx="86763" cy="86763"/>
            <a:chOff x="0" y="0"/>
            <a:chExt cx="115684" cy="115684"/>
          </a:xfrm>
        </p:grpSpPr>
        <p:sp>
          <p:nvSpPr>
            <p:cNvPr id="30" name="Freeform 30" descr="preencoded.png"/>
            <p:cNvSpPr/>
            <p:nvPr/>
          </p:nvSpPr>
          <p:spPr>
            <a:xfrm>
              <a:off x="0" y="0"/>
              <a:ext cx="115697" cy="115697"/>
            </a:xfrm>
            <a:custGeom>
              <a:avLst/>
              <a:gdLst/>
              <a:ahLst/>
              <a:cxnLst/>
              <a:rect l="l" t="t" r="r" b="b"/>
              <a:pathLst>
                <a:path w="115697" h="115697">
                  <a:moveTo>
                    <a:pt x="0" y="0"/>
                  </a:moveTo>
                  <a:lnTo>
                    <a:pt x="115697" y="0"/>
                  </a:lnTo>
                  <a:lnTo>
                    <a:pt x="115697" y="115697"/>
                  </a:lnTo>
                  <a:lnTo>
                    <a:pt x="0" y="115697"/>
                  </a:lnTo>
                  <a:lnTo>
                    <a:pt x="0" y="0"/>
                  </a:lnTo>
                  <a:close/>
                </a:path>
              </a:pathLst>
            </a:custGeom>
            <a:blipFill>
              <a:blip r:embed="rId6"/>
              <a:stretch>
                <a:fillRect r="10" b="10"/>
              </a:stretch>
            </a:blipFill>
          </p:spPr>
        </p:sp>
      </p:grpSp>
      <p:sp>
        <p:nvSpPr>
          <p:cNvPr id="31" name="TextBox 31"/>
          <p:cNvSpPr txBox="1"/>
          <p:nvPr/>
        </p:nvSpPr>
        <p:spPr>
          <a:xfrm>
            <a:off x="6123832" y="3680517"/>
            <a:ext cx="2825648" cy="274434"/>
          </a:xfrm>
          <a:prstGeom prst="rect">
            <a:avLst/>
          </a:prstGeom>
        </p:spPr>
        <p:txBody>
          <a:bodyPr lIns="0" tIns="0" rIns="0" bIns="0" rtlCol="0" anchor="t">
            <a:spAutoFit/>
          </a:bodyPr>
          <a:lstStyle/>
          <a:p>
            <a:pPr algn="l">
              <a:lnSpc>
                <a:spcPts val="2000"/>
              </a:lnSpc>
            </a:pPr>
            <a:r>
              <a:rPr lang="en-US" sz="1562">
                <a:solidFill>
                  <a:srgbClr val="D6E5EF"/>
                </a:solidFill>
                <a:latin typeface="Lora"/>
                <a:ea typeface="Lora"/>
                <a:cs typeface="Lora"/>
                <a:sym typeface="Lora"/>
              </a:rPr>
              <a:t>Machine Learning Integration</a:t>
            </a:r>
          </a:p>
        </p:txBody>
      </p:sp>
      <p:sp>
        <p:nvSpPr>
          <p:cNvPr id="32" name="TextBox 32"/>
          <p:cNvSpPr txBox="1"/>
          <p:nvPr/>
        </p:nvSpPr>
        <p:spPr>
          <a:xfrm>
            <a:off x="6123832" y="4055716"/>
            <a:ext cx="4708027" cy="219523"/>
          </a:xfrm>
          <a:prstGeom prst="rect">
            <a:avLst/>
          </a:prstGeom>
        </p:spPr>
        <p:txBody>
          <a:bodyPr lIns="0" tIns="0" rIns="0" bIns="0" rtlCol="0" anchor="t">
            <a:spAutoFit/>
          </a:bodyPr>
          <a:lstStyle/>
          <a:p>
            <a:pPr algn="l">
              <a:lnSpc>
                <a:spcPts val="1687"/>
              </a:lnSpc>
            </a:pPr>
            <a:r>
              <a:rPr lang="en-US" sz="1312">
                <a:solidFill>
                  <a:srgbClr val="D6E5EF"/>
                </a:solidFill>
                <a:latin typeface="Source Sans 3"/>
                <a:ea typeface="Source Sans 3"/>
                <a:cs typeface="Source Sans 3"/>
                <a:sym typeface="Source Sans 3"/>
              </a:rPr>
              <a:t>Predictive analytics for more accurate risk assessment</a:t>
            </a:r>
          </a:p>
        </p:txBody>
      </p:sp>
      <p:grpSp>
        <p:nvGrpSpPr>
          <p:cNvPr id="33" name="Group 33"/>
          <p:cNvGrpSpPr/>
          <p:nvPr/>
        </p:nvGrpSpPr>
        <p:grpSpPr>
          <a:xfrm>
            <a:off x="5936304" y="4568952"/>
            <a:ext cx="86763" cy="86763"/>
            <a:chOff x="0" y="0"/>
            <a:chExt cx="115684" cy="115684"/>
          </a:xfrm>
        </p:grpSpPr>
        <p:sp>
          <p:nvSpPr>
            <p:cNvPr id="34" name="Freeform 34" descr="preencoded.png"/>
            <p:cNvSpPr/>
            <p:nvPr/>
          </p:nvSpPr>
          <p:spPr>
            <a:xfrm>
              <a:off x="0" y="0"/>
              <a:ext cx="115697" cy="115697"/>
            </a:xfrm>
            <a:custGeom>
              <a:avLst/>
              <a:gdLst/>
              <a:ahLst/>
              <a:cxnLst/>
              <a:rect l="l" t="t" r="r" b="b"/>
              <a:pathLst>
                <a:path w="115697" h="115697">
                  <a:moveTo>
                    <a:pt x="0" y="0"/>
                  </a:moveTo>
                  <a:lnTo>
                    <a:pt x="115697" y="0"/>
                  </a:lnTo>
                  <a:lnTo>
                    <a:pt x="115697" y="115697"/>
                  </a:lnTo>
                  <a:lnTo>
                    <a:pt x="0" y="115697"/>
                  </a:lnTo>
                  <a:lnTo>
                    <a:pt x="0" y="0"/>
                  </a:lnTo>
                  <a:close/>
                </a:path>
              </a:pathLst>
            </a:custGeom>
            <a:blipFill>
              <a:blip r:embed="rId6"/>
              <a:stretch>
                <a:fillRect r="10" b="10"/>
              </a:stretch>
            </a:blipFill>
          </p:spPr>
        </p:sp>
      </p:grpSp>
      <p:sp>
        <p:nvSpPr>
          <p:cNvPr id="35" name="TextBox 35"/>
          <p:cNvSpPr txBox="1"/>
          <p:nvPr/>
        </p:nvSpPr>
        <p:spPr>
          <a:xfrm>
            <a:off x="6123832" y="4457700"/>
            <a:ext cx="2042817" cy="274434"/>
          </a:xfrm>
          <a:prstGeom prst="rect">
            <a:avLst/>
          </a:prstGeom>
        </p:spPr>
        <p:txBody>
          <a:bodyPr lIns="0" tIns="0" rIns="0" bIns="0" rtlCol="0" anchor="t">
            <a:spAutoFit/>
          </a:bodyPr>
          <a:lstStyle/>
          <a:p>
            <a:pPr algn="l">
              <a:lnSpc>
                <a:spcPts val="2000"/>
              </a:lnSpc>
            </a:pPr>
            <a:r>
              <a:rPr lang="en-US" sz="1562">
                <a:solidFill>
                  <a:srgbClr val="D6E5EF"/>
                </a:solidFill>
                <a:latin typeface="Lora"/>
                <a:ea typeface="Lora"/>
                <a:cs typeface="Lora"/>
                <a:sym typeface="Lora"/>
              </a:rPr>
              <a:t>Mobile Application</a:t>
            </a:r>
          </a:p>
        </p:txBody>
      </p:sp>
      <p:sp>
        <p:nvSpPr>
          <p:cNvPr id="36" name="TextBox 36"/>
          <p:cNvSpPr txBox="1"/>
          <p:nvPr/>
        </p:nvSpPr>
        <p:spPr>
          <a:xfrm>
            <a:off x="6123832" y="4832899"/>
            <a:ext cx="4708027" cy="219523"/>
          </a:xfrm>
          <a:prstGeom prst="rect">
            <a:avLst/>
          </a:prstGeom>
        </p:spPr>
        <p:txBody>
          <a:bodyPr lIns="0" tIns="0" rIns="0" bIns="0" rtlCol="0" anchor="t">
            <a:spAutoFit/>
          </a:bodyPr>
          <a:lstStyle/>
          <a:p>
            <a:pPr algn="l">
              <a:lnSpc>
                <a:spcPts val="1687"/>
              </a:lnSpc>
            </a:pPr>
            <a:r>
              <a:rPr lang="en-US" sz="1312">
                <a:solidFill>
                  <a:srgbClr val="D6E5EF"/>
                </a:solidFill>
                <a:latin typeface="Source Sans 3"/>
                <a:ea typeface="Source Sans 3"/>
                <a:cs typeface="Source Sans 3"/>
                <a:sym typeface="Source Sans 3"/>
              </a:rPr>
              <a:t>On-the-go access for event organizers and claims officers</a:t>
            </a:r>
          </a:p>
        </p:txBody>
      </p:sp>
      <p:grpSp>
        <p:nvGrpSpPr>
          <p:cNvPr id="37" name="Group 37"/>
          <p:cNvGrpSpPr/>
          <p:nvPr/>
        </p:nvGrpSpPr>
        <p:grpSpPr>
          <a:xfrm>
            <a:off x="5936304" y="5346125"/>
            <a:ext cx="86763" cy="86763"/>
            <a:chOff x="0" y="0"/>
            <a:chExt cx="115684" cy="115684"/>
          </a:xfrm>
        </p:grpSpPr>
        <p:sp>
          <p:nvSpPr>
            <p:cNvPr id="38" name="Freeform 38" descr="preencoded.png"/>
            <p:cNvSpPr/>
            <p:nvPr/>
          </p:nvSpPr>
          <p:spPr>
            <a:xfrm>
              <a:off x="0" y="0"/>
              <a:ext cx="115697" cy="115697"/>
            </a:xfrm>
            <a:custGeom>
              <a:avLst/>
              <a:gdLst/>
              <a:ahLst/>
              <a:cxnLst/>
              <a:rect l="l" t="t" r="r" b="b"/>
              <a:pathLst>
                <a:path w="115697" h="115697">
                  <a:moveTo>
                    <a:pt x="0" y="0"/>
                  </a:moveTo>
                  <a:lnTo>
                    <a:pt x="115697" y="0"/>
                  </a:lnTo>
                  <a:lnTo>
                    <a:pt x="115697" y="115697"/>
                  </a:lnTo>
                  <a:lnTo>
                    <a:pt x="0" y="115697"/>
                  </a:lnTo>
                  <a:lnTo>
                    <a:pt x="0" y="0"/>
                  </a:lnTo>
                  <a:close/>
                </a:path>
              </a:pathLst>
            </a:custGeom>
            <a:blipFill>
              <a:blip r:embed="rId6"/>
              <a:stretch>
                <a:fillRect r="10" b="10"/>
              </a:stretch>
            </a:blipFill>
          </p:spPr>
        </p:sp>
      </p:grpSp>
      <p:sp>
        <p:nvSpPr>
          <p:cNvPr id="39" name="TextBox 39"/>
          <p:cNvSpPr txBox="1"/>
          <p:nvPr/>
        </p:nvSpPr>
        <p:spPr>
          <a:xfrm>
            <a:off x="6123832" y="5234883"/>
            <a:ext cx="2150564" cy="274434"/>
          </a:xfrm>
          <a:prstGeom prst="rect">
            <a:avLst/>
          </a:prstGeom>
        </p:spPr>
        <p:txBody>
          <a:bodyPr lIns="0" tIns="0" rIns="0" bIns="0" rtlCol="0" anchor="t">
            <a:spAutoFit/>
          </a:bodyPr>
          <a:lstStyle/>
          <a:p>
            <a:pPr algn="l">
              <a:lnSpc>
                <a:spcPts val="2000"/>
              </a:lnSpc>
            </a:pPr>
            <a:r>
              <a:rPr lang="en-US" sz="1562">
                <a:solidFill>
                  <a:srgbClr val="D6E5EF"/>
                </a:solidFill>
                <a:latin typeface="Lora"/>
                <a:ea typeface="Lora"/>
                <a:cs typeface="Lora"/>
                <a:sym typeface="Lora"/>
              </a:rPr>
              <a:t>Blockchain Integration</a:t>
            </a:r>
          </a:p>
        </p:txBody>
      </p:sp>
      <p:sp>
        <p:nvSpPr>
          <p:cNvPr id="40" name="TextBox 40"/>
          <p:cNvSpPr txBox="1"/>
          <p:nvPr/>
        </p:nvSpPr>
        <p:spPr>
          <a:xfrm>
            <a:off x="6123832" y="5610073"/>
            <a:ext cx="4708027" cy="219523"/>
          </a:xfrm>
          <a:prstGeom prst="rect">
            <a:avLst/>
          </a:prstGeom>
        </p:spPr>
        <p:txBody>
          <a:bodyPr lIns="0" tIns="0" rIns="0" bIns="0" rtlCol="0" anchor="t">
            <a:spAutoFit/>
          </a:bodyPr>
          <a:lstStyle/>
          <a:p>
            <a:pPr algn="l">
              <a:lnSpc>
                <a:spcPts val="1687"/>
              </a:lnSpc>
            </a:pPr>
            <a:r>
              <a:rPr lang="en-US" sz="1312">
                <a:solidFill>
                  <a:srgbClr val="D6E5EF"/>
                </a:solidFill>
                <a:latin typeface="Source Sans 3"/>
                <a:ea typeface="Source Sans 3"/>
                <a:cs typeface="Source Sans 3"/>
                <a:sym typeface="Source Sans 3"/>
              </a:rPr>
              <a:t>Secure, immutable record-keeping for all transactions</a:t>
            </a:r>
          </a:p>
        </p:txBody>
      </p:sp>
      <p:grpSp>
        <p:nvGrpSpPr>
          <p:cNvPr id="41" name="Group 41"/>
          <p:cNvGrpSpPr/>
          <p:nvPr/>
        </p:nvGrpSpPr>
        <p:grpSpPr>
          <a:xfrm>
            <a:off x="5936304" y="6123308"/>
            <a:ext cx="86763" cy="86763"/>
            <a:chOff x="0" y="0"/>
            <a:chExt cx="115684" cy="115684"/>
          </a:xfrm>
        </p:grpSpPr>
        <p:sp>
          <p:nvSpPr>
            <p:cNvPr id="42" name="Freeform 42" descr="preencoded.png"/>
            <p:cNvSpPr/>
            <p:nvPr/>
          </p:nvSpPr>
          <p:spPr>
            <a:xfrm>
              <a:off x="0" y="0"/>
              <a:ext cx="115697" cy="115697"/>
            </a:xfrm>
            <a:custGeom>
              <a:avLst/>
              <a:gdLst/>
              <a:ahLst/>
              <a:cxnLst/>
              <a:rect l="l" t="t" r="r" b="b"/>
              <a:pathLst>
                <a:path w="115697" h="115697">
                  <a:moveTo>
                    <a:pt x="0" y="0"/>
                  </a:moveTo>
                  <a:lnTo>
                    <a:pt x="115697" y="0"/>
                  </a:lnTo>
                  <a:lnTo>
                    <a:pt x="115697" y="115697"/>
                  </a:lnTo>
                  <a:lnTo>
                    <a:pt x="0" y="115697"/>
                  </a:lnTo>
                  <a:lnTo>
                    <a:pt x="0" y="0"/>
                  </a:lnTo>
                  <a:close/>
                </a:path>
              </a:pathLst>
            </a:custGeom>
            <a:blipFill>
              <a:blip r:embed="rId6"/>
              <a:stretch>
                <a:fillRect r="10" b="10"/>
              </a:stretch>
            </a:blipFill>
          </p:spPr>
        </p:sp>
      </p:grpSp>
      <p:sp>
        <p:nvSpPr>
          <p:cNvPr id="43" name="TextBox 43"/>
          <p:cNvSpPr txBox="1"/>
          <p:nvPr/>
        </p:nvSpPr>
        <p:spPr>
          <a:xfrm>
            <a:off x="6123832" y="6012066"/>
            <a:ext cx="2042817" cy="274434"/>
          </a:xfrm>
          <a:prstGeom prst="rect">
            <a:avLst/>
          </a:prstGeom>
        </p:spPr>
        <p:txBody>
          <a:bodyPr lIns="0" tIns="0" rIns="0" bIns="0" rtlCol="0" anchor="t">
            <a:spAutoFit/>
          </a:bodyPr>
          <a:lstStyle/>
          <a:p>
            <a:pPr algn="l">
              <a:lnSpc>
                <a:spcPts val="2000"/>
              </a:lnSpc>
            </a:pPr>
            <a:r>
              <a:rPr lang="en-US" sz="1562">
                <a:solidFill>
                  <a:srgbClr val="D6E5EF"/>
                </a:solidFill>
                <a:latin typeface="Lora"/>
                <a:ea typeface="Lora"/>
                <a:cs typeface="Lora"/>
                <a:sym typeface="Lora"/>
              </a:rPr>
              <a:t>Expanded Coverage</a:t>
            </a:r>
          </a:p>
        </p:txBody>
      </p:sp>
      <p:sp>
        <p:nvSpPr>
          <p:cNvPr id="44" name="TextBox 44"/>
          <p:cNvSpPr txBox="1"/>
          <p:nvPr/>
        </p:nvSpPr>
        <p:spPr>
          <a:xfrm>
            <a:off x="6123832" y="6387255"/>
            <a:ext cx="4708027" cy="219523"/>
          </a:xfrm>
          <a:prstGeom prst="rect">
            <a:avLst/>
          </a:prstGeom>
        </p:spPr>
        <p:txBody>
          <a:bodyPr lIns="0" tIns="0" rIns="0" bIns="0" rtlCol="0" anchor="t">
            <a:spAutoFit/>
          </a:bodyPr>
          <a:lstStyle/>
          <a:p>
            <a:pPr algn="l">
              <a:lnSpc>
                <a:spcPts val="1687"/>
              </a:lnSpc>
            </a:pPr>
            <a:r>
              <a:rPr lang="en-US" sz="1312">
                <a:solidFill>
                  <a:srgbClr val="D6E5EF"/>
                </a:solidFill>
                <a:latin typeface="Source Sans 3"/>
                <a:ea typeface="Source Sans 3"/>
                <a:cs typeface="Source Sans 3"/>
                <a:sym typeface="Source Sans 3"/>
              </a:rPr>
              <a:t>Additional insurance products for specialized event types</a:t>
            </a:r>
          </a:p>
        </p:txBody>
      </p:sp>
      <p:sp>
        <p:nvSpPr>
          <p:cNvPr id="45" name="TextBox 45"/>
          <p:cNvSpPr txBox="1"/>
          <p:nvPr/>
        </p:nvSpPr>
        <p:spPr>
          <a:xfrm>
            <a:off x="868118" y="7166077"/>
            <a:ext cx="9954216" cy="439045"/>
          </a:xfrm>
          <a:prstGeom prst="rect">
            <a:avLst/>
          </a:prstGeom>
        </p:spPr>
        <p:txBody>
          <a:bodyPr lIns="0" tIns="0" rIns="0" bIns="0" rtlCol="0" anchor="t">
            <a:spAutoFit/>
          </a:bodyPr>
          <a:lstStyle/>
          <a:p>
            <a:pPr algn="l">
              <a:lnSpc>
                <a:spcPts val="1687"/>
              </a:lnSpc>
            </a:pPr>
            <a:r>
              <a:rPr lang="en-US" sz="1312" i="1">
                <a:solidFill>
                  <a:srgbClr val="D6E5EF"/>
                </a:solidFill>
                <a:latin typeface="Source Sans 3 Italics"/>
                <a:ea typeface="Source Sans 3 Italics"/>
                <a:cs typeface="Source Sans 3 Italics"/>
                <a:sym typeface="Source Sans 3 Italics"/>
              </a:rPr>
              <a:t>"EventGuard represents a significant step forward in event insurance management, combining automation, transparency, and efficiency to serve the evolving needs of modern event organizers."</a:t>
            </a:r>
          </a:p>
        </p:txBody>
      </p:sp>
      <p:grpSp>
        <p:nvGrpSpPr>
          <p:cNvPr id="46" name="Group 46"/>
          <p:cNvGrpSpPr/>
          <p:nvPr/>
        </p:nvGrpSpPr>
        <p:grpSpPr>
          <a:xfrm>
            <a:off x="607666" y="7052815"/>
            <a:ext cx="19050" cy="665559"/>
            <a:chOff x="0" y="0"/>
            <a:chExt cx="25400" cy="887412"/>
          </a:xfrm>
        </p:grpSpPr>
        <p:sp>
          <p:nvSpPr>
            <p:cNvPr id="47" name="Freeform 47"/>
            <p:cNvSpPr/>
            <p:nvPr/>
          </p:nvSpPr>
          <p:spPr>
            <a:xfrm>
              <a:off x="0" y="0"/>
              <a:ext cx="25400" cy="887476"/>
            </a:xfrm>
            <a:custGeom>
              <a:avLst/>
              <a:gdLst/>
              <a:ahLst/>
              <a:cxnLst/>
              <a:rect l="l" t="t" r="r" b="b"/>
              <a:pathLst>
                <a:path w="25400" h="887476">
                  <a:moveTo>
                    <a:pt x="0" y="0"/>
                  </a:moveTo>
                  <a:lnTo>
                    <a:pt x="25400" y="0"/>
                  </a:lnTo>
                  <a:lnTo>
                    <a:pt x="25400" y="887476"/>
                  </a:lnTo>
                  <a:lnTo>
                    <a:pt x="0" y="887476"/>
                  </a:lnTo>
                  <a:close/>
                </a:path>
              </a:pathLst>
            </a:custGeom>
            <a:solidFill>
              <a:srgbClr val="F98AC7"/>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1154</Words>
  <Application>Microsoft Macintosh PowerPoint</Application>
  <PresentationFormat>Custom</PresentationFormat>
  <Paragraphs>182</Paragraphs>
  <Slides>11</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Source Sans 3 Bold</vt:lpstr>
      <vt:lpstr>Arial</vt:lpstr>
      <vt:lpstr>Consolas</vt:lpstr>
      <vt:lpstr>Calibri</vt:lpstr>
      <vt:lpstr>Source Sans 3</vt:lpstr>
      <vt:lpstr>Lora Bold</vt:lpstr>
      <vt:lpstr>Lora</vt:lpstr>
      <vt:lpstr>Source Sans 3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EventGuard latest ppt.pptx</dc:title>
  <cp:lastModifiedBy>rikki.katta1510@outlook.com</cp:lastModifiedBy>
  <cp:revision>3</cp:revision>
  <dcterms:created xsi:type="dcterms:W3CDTF">2006-08-16T00:00:00Z</dcterms:created>
  <dcterms:modified xsi:type="dcterms:W3CDTF">2026-03-18T10:06:45Z</dcterms:modified>
  <dc:identifier>DAHEIP8Hh14</dc:identifier>
</cp:coreProperties>
</file>